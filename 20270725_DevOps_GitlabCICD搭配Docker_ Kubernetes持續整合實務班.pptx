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0"/>
  </p:notesMasterIdLst>
  <p:sldIdLst>
    <p:sldId id="483" r:id="rId2"/>
    <p:sldId id="672" r:id="rId3"/>
    <p:sldId id="267" r:id="rId4"/>
    <p:sldId id="268" r:id="rId5"/>
    <p:sldId id="269" r:id="rId6"/>
    <p:sldId id="271" r:id="rId7"/>
    <p:sldId id="272" r:id="rId8"/>
    <p:sldId id="275" r:id="rId9"/>
    <p:sldId id="277" r:id="rId10"/>
    <p:sldId id="687" r:id="rId11"/>
    <p:sldId id="280" r:id="rId12"/>
    <p:sldId id="289" r:id="rId13"/>
    <p:sldId id="298" r:id="rId14"/>
    <p:sldId id="299" r:id="rId15"/>
    <p:sldId id="302" r:id="rId16"/>
    <p:sldId id="303" r:id="rId17"/>
    <p:sldId id="304" r:id="rId18"/>
    <p:sldId id="383" r:id="rId19"/>
    <p:sldId id="306" r:id="rId20"/>
    <p:sldId id="313" r:id="rId21"/>
    <p:sldId id="314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31" r:id="rId30"/>
    <p:sldId id="332" r:id="rId31"/>
    <p:sldId id="333" r:id="rId32"/>
    <p:sldId id="337" r:id="rId33"/>
    <p:sldId id="338" r:id="rId34"/>
    <p:sldId id="339" r:id="rId35"/>
    <p:sldId id="340" r:id="rId36"/>
    <p:sldId id="675" r:id="rId37"/>
    <p:sldId id="676" r:id="rId38"/>
    <p:sldId id="341" r:id="rId39"/>
    <p:sldId id="342" r:id="rId40"/>
    <p:sldId id="343" r:id="rId41"/>
    <p:sldId id="709" r:id="rId42"/>
    <p:sldId id="710" r:id="rId43"/>
    <p:sldId id="711" r:id="rId44"/>
    <p:sldId id="833" r:id="rId45"/>
    <p:sldId id="850" r:id="rId46"/>
    <p:sldId id="838" r:id="rId47"/>
    <p:sldId id="835" r:id="rId48"/>
    <p:sldId id="836" r:id="rId49"/>
    <p:sldId id="837" r:id="rId50"/>
    <p:sldId id="834" r:id="rId51"/>
    <p:sldId id="336" r:id="rId52"/>
    <p:sldId id="353" r:id="rId53"/>
    <p:sldId id="354" r:id="rId54"/>
    <p:sldId id="355" r:id="rId55"/>
    <p:sldId id="357" r:id="rId56"/>
    <p:sldId id="361" r:id="rId57"/>
    <p:sldId id="674" r:id="rId58"/>
    <p:sldId id="358" r:id="rId59"/>
    <p:sldId id="359" r:id="rId60"/>
    <p:sldId id="360" r:id="rId61"/>
    <p:sldId id="362" r:id="rId62"/>
    <p:sldId id="363" r:id="rId63"/>
    <p:sldId id="364" r:id="rId64"/>
    <p:sldId id="365" r:id="rId65"/>
    <p:sldId id="369" r:id="rId66"/>
    <p:sldId id="370" r:id="rId67"/>
    <p:sldId id="371" r:id="rId68"/>
    <p:sldId id="677" r:id="rId69"/>
    <p:sldId id="678" r:id="rId70"/>
    <p:sldId id="679" r:id="rId71"/>
    <p:sldId id="680" r:id="rId72"/>
    <p:sldId id="584" r:id="rId73"/>
    <p:sldId id="681" r:id="rId74"/>
    <p:sldId id="396" r:id="rId75"/>
    <p:sldId id="397" r:id="rId76"/>
    <p:sldId id="398" r:id="rId77"/>
    <p:sldId id="403" r:id="rId78"/>
    <p:sldId id="404" r:id="rId79"/>
    <p:sldId id="405" r:id="rId80"/>
    <p:sldId id="406" r:id="rId81"/>
    <p:sldId id="407" r:id="rId82"/>
    <p:sldId id="408" r:id="rId83"/>
    <p:sldId id="484" r:id="rId84"/>
    <p:sldId id="409" r:id="rId85"/>
    <p:sldId id="485" r:id="rId86"/>
    <p:sldId id="487" r:id="rId87"/>
    <p:sldId id="495" r:id="rId88"/>
    <p:sldId id="496" r:id="rId89"/>
    <p:sldId id="498" r:id="rId90"/>
    <p:sldId id="499" r:id="rId91"/>
    <p:sldId id="500" r:id="rId92"/>
    <p:sldId id="501" r:id="rId93"/>
    <p:sldId id="464" r:id="rId94"/>
    <p:sldId id="257" r:id="rId95"/>
    <p:sldId id="465" r:id="rId96"/>
    <p:sldId id="466" r:id="rId97"/>
    <p:sldId id="467" r:id="rId98"/>
    <p:sldId id="694" r:id="rId99"/>
    <p:sldId id="468" r:id="rId100"/>
    <p:sldId id="469" r:id="rId101"/>
    <p:sldId id="695" r:id="rId102"/>
    <p:sldId id="696" r:id="rId103"/>
    <p:sldId id="470" r:id="rId104"/>
    <p:sldId id="471" r:id="rId105"/>
    <p:sldId id="472" r:id="rId106"/>
    <p:sldId id="473" r:id="rId107"/>
    <p:sldId id="682" r:id="rId108"/>
    <p:sldId id="683" r:id="rId109"/>
    <p:sldId id="507" r:id="rId110"/>
    <p:sldId id="508" r:id="rId111"/>
    <p:sldId id="513" r:id="rId112"/>
    <p:sldId id="623" r:id="rId113"/>
    <p:sldId id="624" r:id="rId114"/>
    <p:sldId id="510" r:id="rId115"/>
    <p:sldId id="512" r:id="rId116"/>
    <p:sldId id="511" r:id="rId117"/>
    <p:sldId id="841" r:id="rId118"/>
    <p:sldId id="842" r:id="rId119"/>
    <p:sldId id="843" r:id="rId120"/>
    <p:sldId id="840" r:id="rId121"/>
    <p:sldId id="844" r:id="rId122"/>
    <p:sldId id="845" r:id="rId123"/>
    <p:sldId id="619" r:id="rId124"/>
    <p:sldId id="515" r:id="rId125"/>
    <p:sldId id="620" r:id="rId126"/>
    <p:sldId id="514" r:id="rId127"/>
    <p:sldId id="621" r:id="rId128"/>
    <p:sldId id="617" r:id="rId129"/>
    <p:sldId id="618" r:id="rId130"/>
    <p:sldId id="626" r:id="rId131"/>
    <p:sldId id="622" r:id="rId132"/>
    <p:sldId id="475" r:id="rId133"/>
    <p:sldId id="476" r:id="rId134"/>
    <p:sldId id="477" r:id="rId135"/>
    <p:sldId id="482" r:id="rId136"/>
    <p:sldId id="478" r:id="rId137"/>
    <p:sldId id="479" r:id="rId138"/>
    <p:sldId id="480" r:id="rId139"/>
    <p:sldId id="691" r:id="rId140"/>
    <p:sldId id="481" r:id="rId141"/>
    <p:sldId id="673" r:id="rId142"/>
    <p:sldId id="643" r:id="rId143"/>
    <p:sldId id="641" r:id="rId144"/>
    <p:sldId id="642" r:id="rId145"/>
    <p:sldId id="628" r:id="rId146"/>
    <p:sldId id="629" r:id="rId147"/>
    <p:sldId id="631" r:id="rId148"/>
    <p:sldId id="634" r:id="rId149"/>
    <p:sldId id="630" r:id="rId150"/>
    <p:sldId id="636" r:id="rId151"/>
    <p:sldId id="632" r:id="rId152"/>
    <p:sldId id="846" r:id="rId153"/>
    <p:sldId id="847" r:id="rId154"/>
    <p:sldId id="848" r:id="rId155"/>
    <p:sldId id="849" r:id="rId156"/>
    <p:sldId id="633" r:id="rId157"/>
    <p:sldId id="637" r:id="rId158"/>
    <p:sldId id="635" r:id="rId159"/>
    <p:sldId id="639" r:id="rId160"/>
    <p:sldId id="638" r:id="rId161"/>
    <p:sldId id="640" r:id="rId162"/>
    <p:sldId id="644" r:id="rId163"/>
    <p:sldId id="645" r:id="rId164"/>
    <p:sldId id="692" r:id="rId165"/>
    <p:sldId id="646" r:id="rId166"/>
    <p:sldId id="647" r:id="rId167"/>
    <p:sldId id="648" r:id="rId168"/>
    <p:sldId id="649" r:id="rId169"/>
    <p:sldId id="654" r:id="rId170"/>
    <p:sldId id="697" r:id="rId171"/>
    <p:sldId id="655" r:id="rId172"/>
    <p:sldId id="656" r:id="rId173"/>
    <p:sldId id="657" r:id="rId174"/>
    <p:sldId id="658" r:id="rId175"/>
    <p:sldId id="659" r:id="rId176"/>
    <p:sldId id="698" r:id="rId177"/>
    <p:sldId id="660" r:id="rId178"/>
    <p:sldId id="661" r:id="rId179"/>
    <p:sldId id="662" r:id="rId180"/>
    <p:sldId id="664" r:id="rId181"/>
    <p:sldId id="699" r:id="rId182"/>
    <p:sldId id="663" r:id="rId183"/>
    <p:sldId id="700" r:id="rId184"/>
    <p:sldId id="665" r:id="rId185"/>
    <p:sldId id="701" r:id="rId186"/>
    <p:sldId id="666" r:id="rId187"/>
    <p:sldId id="702" r:id="rId188"/>
    <p:sldId id="703" r:id="rId189"/>
    <p:sldId id="705" r:id="rId190"/>
    <p:sldId id="704" r:id="rId191"/>
    <p:sldId id="668" r:id="rId192"/>
    <p:sldId id="669" r:id="rId193"/>
    <p:sldId id="667" r:id="rId194"/>
    <p:sldId id="706" r:id="rId195"/>
    <p:sldId id="707" r:id="rId196"/>
    <p:sldId id="670" r:id="rId197"/>
    <p:sldId id="693" r:id="rId198"/>
    <p:sldId id="708" r:id="rId199"/>
    <p:sldId id="671" r:id="rId200"/>
    <p:sldId id="653" r:id="rId201"/>
    <p:sldId id="627" r:id="rId202"/>
    <p:sldId id="686" r:id="rId203"/>
    <p:sldId id="502" r:id="rId204"/>
    <p:sldId id="503" r:id="rId205"/>
    <p:sldId id="504" r:id="rId206"/>
    <p:sldId id="505" r:id="rId207"/>
    <p:sldId id="506" r:id="rId208"/>
    <p:sldId id="684" r:id="rId209"/>
    <p:sldId id="281" r:id="rId210"/>
    <p:sldId id="282" r:id="rId211"/>
    <p:sldId id="283" r:id="rId212"/>
    <p:sldId id="284" r:id="rId213"/>
    <p:sldId id="285" r:id="rId214"/>
    <p:sldId id="286" r:id="rId215"/>
    <p:sldId id="287" r:id="rId216"/>
    <p:sldId id="288" r:id="rId217"/>
    <p:sldId id="685" r:id="rId218"/>
    <p:sldId id="292" r:id="rId219"/>
    <p:sldId id="293" r:id="rId220"/>
    <p:sldId id="294" r:id="rId221"/>
    <p:sldId id="295" r:id="rId222"/>
    <p:sldId id="296" r:id="rId223"/>
    <p:sldId id="516" r:id="rId224"/>
    <p:sldId id="517" r:id="rId225"/>
    <p:sldId id="593" r:id="rId226"/>
    <p:sldId id="604" r:id="rId227"/>
    <p:sldId id="616" r:id="rId228"/>
    <p:sldId id="607" r:id="rId229"/>
    <p:sldId id="608" r:id="rId230"/>
    <p:sldId id="605" r:id="rId231"/>
    <p:sldId id="606" r:id="rId232"/>
    <p:sldId id="609" r:id="rId233"/>
    <p:sldId id="611" r:id="rId234"/>
    <p:sldId id="613" r:id="rId235"/>
    <p:sldId id="612" r:id="rId236"/>
    <p:sldId id="614" r:id="rId237"/>
    <p:sldId id="615" r:id="rId238"/>
    <p:sldId id="625" r:id="rId2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39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notesMaster" Target="notesMasters/notesMaster1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viewProps" Target="view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tableStyles" Target="tableStyle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F9E-2C52-4A6B-9505-C8F649FFF1BC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8490F-DBA6-42F2-82A8-38CF4AC1DA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33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32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122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65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25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828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513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E13B-DEAC-054A-8130-8E0036F6E4E3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8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25F7-AC24-E945-B7A7-8CC2D9084ECD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D11B-6F12-CC47-B80C-C5747FB8050A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4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43F2-58DA-254F-AF77-D26061A42152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2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E4E74-A11E-6C43-A4C9-E711979101D9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6FD6-77EE-DD49-B964-FD028CA3B7E2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0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D18E-CBDA-324A-A70B-9298E8D10ABC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35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8FC1-8DD1-8748-8B13-C95FF8DF58D8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5E43-8159-9844-AAE4-1003901C1A0D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4772-946D-FD4B-9BD5-2731E73D6614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45C-38F6-C44D-B24B-188342396C08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7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19-B8F2-8740-B0A2-1C977FBE1EAE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30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qck1q" TargetMode="External"/><Relationship Id="rId2" Type="http://schemas.openxmlformats.org/officeDocument/2006/relationships/hyperlink" Target="https://github.com/demoyuw/docker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62bNx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35.188.47.40:10443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charts.gitla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://10.128.0.10/" TargetMode="Externa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hyperlink" Target="https://artifacthub.io/" TargetMode="Externa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hyperlink" Target="https://charts.bitnami.com/bitna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DevOps</a:t>
            </a:r>
            <a:r>
              <a:rPr lang="zh-TW" altLang="en" b="1" i="0" dirty="0">
                <a:solidFill>
                  <a:srgbClr val="393939"/>
                </a:solidFill>
                <a:effectLst/>
                <a:latin typeface="Noto Sans JP"/>
              </a:rPr>
              <a:t>：</a:t>
            </a:r>
            <a:r>
              <a:rPr lang="en" altLang="zh-TW" b="1" i="0" dirty="0" err="1">
                <a:solidFill>
                  <a:srgbClr val="393939"/>
                </a:solidFill>
                <a:effectLst/>
                <a:latin typeface="Noto Sans JP"/>
              </a:rPr>
              <a:t>GitlabCI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/CD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搭配 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Docker, Kubernetes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持續整合實務班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講師</a:t>
            </a:r>
            <a:r>
              <a:rPr lang="en-US" altLang="zh-TW" dirty="0"/>
              <a:t>: </a:t>
            </a:r>
            <a:r>
              <a:rPr lang="zh-TW" altLang="en-US" dirty="0"/>
              <a:t>周育緯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C0D22F-1BFA-CAE8-5F21-1DF2980A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4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82D91-D711-3550-1FBD-938EEEB6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E1527-7DAC-38EB-16E3-FAC15B17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&amp; Kubernetes</a:t>
            </a:r>
          </a:p>
          <a:p>
            <a:r>
              <a:rPr kumimoji="1" lang="en-US" altLang="zh-TW" dirty="0"/>
              <a:t>GitLab CI/CD</a:t>
            </a:r>
          </a:p>
          <a:p>
            <a:pPr lvl="1"/>
            <a:r>
              <a:rPr kumimoji="1" lang="zh-TW" altLang="en-US" dirty="0"/>
              <a:t>環境部署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image build and push</a:t>
            </a:r>
          </a:p>
          <a:p>
            <a:pPr lvl="1"/>
            <a:r>
              <a:rPr kumimoji="1" lang="zh-TW" altLang="en-US" dirty="0"/>
              <a:t>單元測試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SonarQube</a:t>
            </a:r>
          </a:p>
          <a:p>
            <a:pPr lvl="1"/>
            <a:r>
              <a:rPr kumimoji="1" lang="zh-TW" altLang="en-US" dirty="0"/>
              <a:t>部署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1C3B0-17FA-758D-55F2-F2EBC07F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52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課程資源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9" name="內容版面配置區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Source code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https://github.com/demoyuw/docker-devops</a:t>
            </a:r>
          </a:p>
          <a:p>
            <a:pPr>
              <a:defRPr sz="3600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latin typeface="+mj-lt"/>
                <a:ea typeface="+mj-ea"/>
                <a:cs typeface="+mj-cs"/>
                <a:sym typeface="Helvetica"/>
                <a:hlinkClick r:id="rId3"/>
              </a:rPr>
              <a:t>虛擬機資源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4"/>
              </a:rPr>
              <a:t>https://reurl.cc/62bNxb</a:t>
            </a:r>
          </a:p>
          <a:p>
            <a:pPr marL="742950" lvl="1" indent="-285750"/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選擇編號，後面註記使用人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982AA-DF2D-0A27-40A3-7C1EFB8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79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ssh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4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Linux 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/>
              <a:t>mv k8s.key ~/.</a:t>
            </a:r>
            <a:r>
              <a:rPr dirty="0" err="1"/>
              <a:t>ssh</a:t>
            </a:r>
            <a:r>
              <a:rPr dirty="0"/>
              <a:t>/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chmod</a:t>
            </a:r>
            <a:r>
              <a:rPr dirty="0"/>
              <a:t> 600 ~/.</a:t>
            </a:r>
            <a:r>
              <a:rPr dirty="0" err="1"/>
              <a:t>ssh</a:t>
            </a:r>
            <a:r>
              <a:rPr dirty="0"/>
              <a:t>/k8s.key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</a:t>
            </a: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</a:t>
            </a: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demoyuw@140.92.174.32</a:t>
            </a:r>
            <a:endParaRPr sz="2178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Windows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參考附檔</a:t>
            </a:r>
            <a:r>
              <a:rPr dirty="0"/>
              <a:t> 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demoyuw@140.92.174.32</a:t>
            </a:r>
          </a:p>
        </p:txBody>
      </p:sp>
      <p:sp>
        <p:nvSpPr>
          <p:cNvPr id="28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082456-2430-428D-8057-DB35828C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633D8-0EB8-9E8D-E13F-FC283D4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3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作業系統層級虛擬化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TW" altLang="en-US" sz="3200" dirty="0"/>
              <a:t>共用 </a:t>
            </a:r>
            <a:r>
              <a:rPr kumimoji="1" lang="en-US" altLang="zh-CN" sz="3200" dirty="0"/>
              <a:t>Host OS </a:t>
            </a:r>
            <a:r>
              <a:rPr kumimoji="1" lang="zh-TW" altLang="en-US" sz="3200" dirty="0"/>
              <a:t>的 </a:t>
            </a:r>
            <a:r>
              <a:rPr kumimoji="1" lang="en-US" altLang="zh-CN" sz="3200" dirty="0"/>
              <a:t>Linux Kernel</a:t>
            </a:r>
          </a:p>
          <a:p>
            <a:r>
              <a:rPr kumimoji="1" lang="zh-CN" altLang="en-US" sz="3200" dirty="0"/>
              <a:t>透過 </a:t>
            </a:r>
            <a:r>
              <a:rPr kumimoji="1" lang="en" altLang="zh-CN" sz="3200" dirty="0"/>
              <a:t>Linux Kernel </a:t>
            </a:r>
            <a:r>
              <a:rPr kumimoji="1" lang="zh-CN" altLang="en-US" sz="3200" dirty="0"/>
              <a:t>的 </a:t>
            </a:r>
            <a:r>
              <a:rPr kumimoji="1" lang="en" altLang="zh-CN" sz="3200" dirty="0"/>
              <a:t>Namespaces </a:t>
            </a:r>
            <a:r>
              <a:rPr kumimoji="1" lang="zh-CN" altLang="en-US" sz="3200" dirty="0"/>
              <a:t>與 </a:t>
            </a:r>
            <a:r>
              <a:rPr kumimoji="1" lang="en" altLang="zh-CN" sz="3200" dirty="0" err="1"/>
              <a:t>Cgroups</a:t>
            </a:r>
            <a:r>
              <a:rPr kumimoji="1" lang="en" altLang="zh-CN" sz="3200" dirty="0"/>
              <a:t> </a:t>
            </a:r>
            <a:r>
              <a:rPr kumimoji="1" lang="zh-CN" altLang="en-US" sz="3200" dirty="0"/>
              <a:t>提供隔離與資源管理</a:t>
            </a:r>
            <a:endParaRPr kumimoji="1" lang="en-US" altLang="zh-CN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73B3BD-C414-B17C-5DCF-39C44F7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5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99F6B7-9CA9-9346-C9C5-985105DD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5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08522B-3998-3CDA-61E6-8B5FAC0A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00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8BFB62-F4E6-E653-70E0-87EAFCA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clone project</a:t>
            </a:r>
          </a:p>
          <a:p>
            <a:pPr lvl="1"/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zh-TW" altLang="en-US" dirty="0"/>
              <a:t>更改資料夾內的檔案與資料夾權限</a:t>
            </a:r>
            <a:endParaRPr kumimoji="1" lang="en-US" altLang="zh-TW" dirty="0"/>
          </a:p>
          <a:p>
            <a:pPr lvl="1"/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pt" altLang="zh-TW" dirty="0" err="1"/>
              <a:t>Run</a:t>
            </a:r>
            <a:r>
              <a:rPr kumimoji="1" lang="pt" altLang="zh-TW" dirty="0"/>
              <a:t> script </a:t>
            </a:r>
            <a:r>
              <a:rPr kumimoji="1" lang="zh-TW" altLang="en-US" dirty="0"/>
              <a:t>安裝</a:t>
            </a:r>
            <a:r>
              <a:rPr kumimoji="1" lang="en-US" altLang="zh-TW" dirty="0"/>
              <a:t>docker</a:t>
            </a:r>
            <a:endParaRPr kumimoji="1" lang="pt" altLang="zh-TW" dirty="0"/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切換到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群組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6052"/>
            <a:ext cx="8176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</a:t>
            </a:r>
            <a:r>
              <a:rPr kumimoji="1" lang="en-US" altLang="zh-TW" dirty="0" err="1"/>
              <a:t>requirements.txt</a:t>
            </a:r>
            <a:r>
              <a:rPr kumimoji="1" lang="en-US" altLang="zh-TW" dirty="0"/>
              <a:t>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F7D-5707-9A15-09AB-918BAB5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3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/nginx</a:t>
            </a:r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container</a:t>
            </a:r>
            <a:r>
              <a:rPr kumimoji="1" lang="zh-TW" altLang="en-US" dirty="0"/>
              <a:t> 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Run 1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Ex: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flask</a:t>
            </a:r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60E43-10E5-AB2C-0246-71A3B5A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7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4C867-4908-900B-E7B0-2575A4A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15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D52D2-19A7-14BD-1BBE-90A53ED9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769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/>
              <a:t>process - 3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內執行</a:t>
            </a:r>
            <a:r>
              <a:rPr kumimoji="1" lang="en-US" altLang="zh-CN" dirty="0"/>
              <a:t>(</a:t>
            </a:r>
            <a:r>
              <a:rPr kumimoji="1" lang="zh-CN" altLang="en-US" dirty="0"/>
              <a:t>類似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ssh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到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‘ls /’</a:t>
            </a:r>
            <a:r>
              <a:rPr kumimoji="1" lang="zh-CN" altLang="en-US" dirty="0"/>
              <a:t>，並回傳結果</a:t>
            </a:r>
            <a:endParaRPr kumimoji="1" lang="en-US" altLang="zh-TW" dirty="0"/>
          </a:p>
          <a:p>
            <a:r>
              <a:rPr kumimoji="1" lang="en-US" altLang="zh-TW" dirty="0"/>
              <a:t>Container detail(container</a:t>
            </a:r>
            <a:r>
              <a:rPr kumimoji="1" lang="zh-TW" altLang="en-US" dirty="0"/>
              <a:t> </a:t>
            </a:r>
            <a:r>
              <a:rPr kumimoji="1" lang="zh-CN" altLang="en-US" dirty="0"/>
              <a:t>設定檔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, 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</a:t>
            </a:r>
            <a:r>
              <a:rPr kumimoji="1" lang="en-US" altLang="zh-TW"/>
              <a:t>ocker </a:t>
            </a:r>
            <a:r>
              <a:rPr kumimoji="1" lang="en-US" altLang="zh-TW" dirty="0"/>
              <a:t>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E0ED0-12FD-6153-6809-42964D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5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B5AA1B-E821-DD6E-2450-CEF24A94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620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CD8D76-95A6-E277-C3D9-F76822A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645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D2C570-920E-7263-2E0B-232DC262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132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9D089D-FCAB-3942-9A46-0529F67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868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key=value </a:t>
            </a:r>
            <a:r>
              <a:rPr kumimoji="1" lang="zh-CN" altLang="en-US" dirty="0"/>
              <a:t>標籤，用以選擇元件及供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DA3AAF-8E5B-BA90-9326-A1C36F4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78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A42549-CF5A-2A9B-B37E-7A87FA3C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995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E14746-73C6-1AC4-56CD-48A01A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731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D465378-A4DF-CA4F-87ED-698F4F57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29" y="1206719"/>
            <a:ext cx="5190697" cy="49702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044E18-D9BA-0445-4917-0AB60701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370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D2FB05-BEA9-B897-1F1D-E99663C0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8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7FACBF-5B6E-FF2F-DE27-28F7ACE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53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DAE7923-8E96-E4B7-A172-9C25ADE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9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6F9B70-C975-897C-AD94-759CD507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93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EA4DAB-1AB3-B84A-7FC7-9C8084E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50F4A-DA53-A8F2-4171-7A6FFA8C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FAB138-7AE4-F69A-E646-16A01CB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18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FE5353-F2CF-33A5-8BDC-DF40F1E639A6}"/>
              </a:ext>
            </a:extLst>
          </p:cNvPr>
          <p:cNvSpPr txBox="1"/>
          <p:nvPr/>
        </p:nvSpPr>
        <p:spPr>
          <a:xfrm>
            <a:off x="1028700" y="1787244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這邊特別把</a:t>
            </a:r>
            <a:r>
              <a:rPr kumimoji="1" lang="en-US" altLang="zh-TW" dirty="0"/>
              <a:t>Rancher</a:t>
            </a:r>
            <a:r>
              <a:rPr kumimoji="1" lang="zh-TW" altLang="en-US" dirty="0"/>
              <a:t>網頁服務用的</a:t>
            </a:r>
            <a:r>
              <a:rPr kumimoji="1" lang="en-US" altLang="zh-TW" dirty="0"/>
              <a:t>port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</a:t>
            </a:r>
            <a:r>
              <a:rPr kumimoji="1" lang="zh-TW" altLang="en-US" dirty="0"/>
              <a:t>從</a:t>
            </a:r>
            <a:r>
              <a:rPr kumimoji="1" lang="en-US" altLang="zh-TW" dirty="0"/>
              <a:t>80 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10080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從</a:t>
            </a:r>
            <a:r>
              <a:rPr kumimoji="1" lang="en-US" altLang="zh-TW" dirty="0"/>
              <a:t>443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10443</a:t>
            </a:r>
            <a:r>
              <a:rPr kumimoji="1" lang="zh-TW" altLang="en-US" dirty="0"/>
              <a:t>。目的是為了留</a:t>
            </a:r>
            <a:r>
              <a:rPr kumimoji="1" lang="en-US" altLang="zh-TW" dirty="0"/>
              <a:t>80, 443 ports </a:t>
            </a:r>
            <a:r>
              <a:rPr kumimoji="1" lang="zh-TW" altLang="en-US" dirty="0"/>
              <a:t>給</a:t>
            </a:r>
            <a:r>
              <a:rPr kumimoji="1" lang="en-US" altLang="zh-TW" dirty="0"/>
              <a:t>GitLab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。</a:t>
            </a: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933CD925-19C3-53CA-C072-3CA6BBBBF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45" y="3229769"/>
            <a:ext cx="9118600" cy="15875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593AA8-3407-E870-F424-04F5D9D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864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https://{VM1_IP}:10443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https://35.188.47.40:10443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5292FC-4F2F-5F15-E94B-FAD85132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897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69CC9C-E81F-42BA-B0D4-884CA57F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65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3E99DC-8506-7F9B-E237-D863DAC9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488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Custom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F12966A-F79A-BD4A-9E63-8EDD89C3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48F0C9D-7010-C44D-85CB-82A97C4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41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278A368-AA4F-50DD-2479-962312E2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323" y="1825625"/>
            <a:ext cx="8937354" cy="4351338"/>
          </a:xfrm>
        </p:spPr>
      </p:pic>
    </p:spTree>
    <p:extLst>
      <p:ext uri="{BB962C8B-B14F-4D97-AF65-F5344CB8AC3E}">
        <p14:creationId xmlns:p14="http://schemas.microsoft.com/office/powerpoint/2010/main" val="1760290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95133B2-0129-494F-9B49-84EDD87E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5DF8BD3-7306-E840-AEB5-6F72B656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42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A3A9282-C976-4A64-AA32-E0BBF517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44" y="1825625"/>
            <a:ext cx="8674111" cy="4351338"/>
          </a:xfrm>
        </p:spPr>
      </p:pic>
    </p:spTree>
    <p:extLst>
      <p:ext uri="{BB962C8B-B14F-4D97-AF65-F5344CB8AC3E}">
        <p14:creationId xmlns:p14="http://schemas.microsoft.com/office/powerpoint/2010/main" val="1845304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command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B6EFFB4F-2BEB-4A48-B1DE-1EFE144F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483ACBB-B839-A143-BA6A-1CC454C8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43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C641313-A113-3DC1-E147-C5BF32A2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98" y="1825625"/>
            <a:ext cx="7830403" cy="4351338"/>
          </a:xfrm>
        </p:spPr>
      </p:pic>
    </p:spTree>
    <p:extLst>
      <p:ext uri="{BB962C8B-B14F-4D97-AF65-F5344CB8AC3E}">
        <p14:creationId xmlns:p14="http://schemas.microsoft.com/office/powerpoint/2010/main" val="444022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2D2-1CB2-2300-25E6-AA08FC3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VM2</a:t>
            </a:r>
            <a:r>
              <a:rPr kumimoji="1" lang="zh-TW" altLang="en-US" dirty="0"/>
              <a:t>上執行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A988FD-C692-F3EA-7DCC-53BB3CAA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653"/>
            <a:ext cx="10515600" cy="411528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DB5FC-1749-4B7C-6F01-E6D38BEA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02504-5EE8-1631-4186-3D58C0DA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3898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0E14-6FDD-E443-EBDA-31DFD6B7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F6C70-D5AF-21E3-1950-FEB4D0D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檢查</a:t>
            </a:r>
            <a:r>
              <a:rPr lang="en-US" altLang="zh-TW" dirty="0" err="1"/>
              <a:t>agenet</a:t>
            </a:r>
            <a:r>
              <a:rPr lang="en-US" altLang="zh-TW" dirty="0"/>
              <a:t> service </a:t>
            </a:r>
            <a:r>
              <a:rPr lang="zh-TW" altLang="en-US" dirty="0"/>
              <a:t>運作有正常啟動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systemctl</a:t>
            </a:r>
            <a:r>
              <a:rPr lang="en" altLang="zh-TW" dirty="0">
                <a:effectLst/>
              </a:rPr>
              <a:t> status rancher-system-agent</a:t>
            </a:r>
          </a:p>
          <a:p>
            <a:pPr lvl="1"/>
            <a:endParaRPr lang="en" altLang="zh-TW" dirty="0">
              <a:effectLst/>
            </a:endParaRPr>
          </a:p>
          <a:p>
            <a:pPr lvl="1"/>
            <a:endParaRPr lang="en" altLang="zh-TW" dirty="0">
              <a:effectLst/>
            </a:endParaRPr>
          </a:p>
          <a:p>
            <a:pPr marL="0" indent="0">
              <a:buNone/>
            </a:pPr>
            <a:endParaRPr lang="en" altLang="zh-TW" dirty="0"/>
          </a:p>
          <a:p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agent log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journalctl</a:t>
            </a:r>
            <a:r>
              <a:rPr lang="en" altLang="zh-TW" dirty="0">
                <a:effectLst/>
              </a:rPr>
              <a:t> -u rancher-system-agent -f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FDDE1-CAEF-EBE3-EEC6-0917E84B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68FF2F-E98F-4AD2-9200-BFD45579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2" y="2628182"/>
            <a:ext cx="5129676" cy="14415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8170B7-AB99-8274-001A-56A4EFF4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30" y="5044690"/>
            <a:ext cx="7772400" cy="13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1D56-45D8-42E7-7221-BF933933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agent </a:t>
            </a:r>
            <a:r>
              <a:rPr kumimoji="1" lang="zh-TW" altLang="en-US" dirty="0"/>
              <a:t>運行流程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CC760D-EA71-5FC4-392E-81CFAEC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9CD0428-EB11-74DA-B91B-9C8350DAD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50" y="2337594"/>
            <a:ext cx="9309100" cy="3327400"/>
          </a:xfrm>
        </p:spPr>
      </p:pic>
    </p:spTree>
    <p:extLst>
      <p:ext uri="{BB962C8B-B14F-4D97-AF65-F5344CB8AC3E}">
        <p14:creationId xmlns:p14="http://schemas.microsoft.com/office/powerpoint/2010/main" val="1660552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B8AA87-312F-C942-9334-1A3D52AE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6F2379-05A0-F14A-82DA-14AD8A36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47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ABCFB2C-D970-5A48-8F64-D87ECB4B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2704"/>
            <a:ext cx="10515600" cy="30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8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824DC0-2006-E54A-85C2-B9CE2E8A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A72F5DA-7693-7748-B953-62E667C2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48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870BAFE-8029-DA46-AC9F-0307F584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047"/>
            <a:ext cx="10515600" cy="4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0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F39B4-0228-4C4C-B5E4-C57BAFA1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CE738-5E7B-CD44-A97B-DC5878C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49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25625"/>
            <a:ext cx="8172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4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0A6C-28CF-EB2D-8BB8-4E7C400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部署完成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BD610A0-6B77-F314-AE76-DC8D43DB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680707"/>
            <a:ext cx="8564310" cy="286441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BC828-EB5A-46DC-63F6-681408C1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10E4B-D363-7D49-5857-9B9D7C9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1519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安裝方式可參照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CF24F-00B4-2C2C-0272-6B6DEB8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31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B5D8918-CFBC-6055-295A-CA3F7C58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639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2EAE5-CE5D-9823-176F-4D9B827F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165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45" y="1152983"/>
            <a:ext cx="6987255" cy="334471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E4C2DE-F136-8CBB-4EE5-0B70365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82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zh-TW" altLang="en-US" sz="2800" dirty="0"/>
              <a:t>此</a:t>
            </a:r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對外服務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pod/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CBB71-3DA7-1CD6-412F-5691BC93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docker-</a:t>
            </a:r>
            <a:r>
              <a:rPr lang="en-US" altLang="zh-TW" dirty="0" err="1"/>
              <a:t>devops</a:t>
            </a:r>
            <a:r>
              <a:rPr lang="en-US" altLang="zh-TW" dirty="0"/>
              <a:t>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t>kubectl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nginx-deploy.yaml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Deployment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7118D2-26E6-3803-54A1-734FF02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420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spec.selector.matchLabels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D01FB-9167-5195-4D2E-DBB3B25C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35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1DC03E-4A49-33EC-C308-3084818D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8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217094-BD06-8475-38E8-DDC10C17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53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1656" y="1322916"/>
            <a:ext cx="8089900" cy="1282700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78351" y="1964266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Deployment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58E34A-3B93-BE57-8415-5211BE6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183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Deployment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6434E-915D-AA4C-2677-FCF43B7A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0741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DEDF53-31E2-F001-48D4-9AE7896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179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8C4CB-7894-37AA-478F-C390EE3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302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CN" altLang="en-US" dirty="0"/>
              <a:t>訊息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209B91B-C7AC-3E66-7D27-AAD3D03E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501" y="1272528"/>
            <a:ext cx="3657600" cy="5416953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6774305" y="843240"/>
            <a:ext cx="406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/service/nginx-service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D17C82-0952-2CA9-361C-89D8F0DA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30000~32767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E3FCD-D202-4958-0B61-0A783BA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569F6-E25C-E8D7-B3B1-B2D8980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30000~32767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F1FD0-400B-3977-B806-44A8B711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877361-88A6-FD64-7A4E-10BF68A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8EEB3-C766-CCED-4723-73DEDFA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8823E-27A3-CA2F-FB5B-F536D2C5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671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ns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ns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DC2647-804C-B8B4-C295-98DFF57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74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t>kubectl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FA737-9255-3DE1-5A65-D686D15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478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2135DD-7938-A142-45F1-DFD737433F71}"/>
              </a:ext>
            </a:extLst>
          </p:cNvPr>
          <p:cNvSpPr txBox="1"/>
          <p:nvPr/>
        </p:nvSpPr>
        <p:spPr>
          <a:xfrm>
            <a:off x="838200" y="3148553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/pods/nginx-</a:t>
            </a:r>
            <a:r>
              <a:rPr kumimoji="1" lang="en-US" altLang="zh-TW" dirty="0" err="1"/>
              <a:t>hostpath.yaml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18F96-1E30-FD30-6E0F-5F29E6E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702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4F85D3-6D6F-8D80-B21C-A50065E7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146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310C52-FE25-8AF4-31FD-464772AC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6917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/>
              <a:t>-common</a:t>
            </a:r>
            <a:endParaRPr kumimoji="1" lang="en-US" altLang="zh-TW" dirty="0"/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DDDD9-04E4-EE54-C8B7-9EC51526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718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887981-8D92-3039-01DC-3941E938FD43}"/>
              </a:ext>
            </a:extLst>
          </p:cNvPr>
          <p:cNvSpPr txBox="1"/>
          <p:nvPr/>
        </p:nvSpPr>
        <p:spPr>
          <a:xfrm>
            <a:off x="7967389" y="3429000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/pods/nginx-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B767EF-616F-AD44-0D53-1B55CF8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3936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4E9E7-690D-F498-1477-9944123E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477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B96470-4F31-12DD-FCF4-0D32B61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6103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3594-1CF8-6685-F52E-9BAB487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9923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DevOps</a:t>
            </a:r>
          </a:p>
        </p:txBody>
      </p:sp>
      <p:sp>
        <p:nvSpPr>
          <p:cNvPr id="28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一種文化，開發團隊</a:t>
            </a:r>
            <a:r>
              <a:rPr dirty="0"/>
              <a:t>(Dev)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與維運團隊</a:t>
            </a:r>
            <a:r>
              <a:rPr dirty="0"/>
              <a:t>(Ops)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相互合作模式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自動化軟體交付、架構變更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提高軟體</a:t>
            </a:r>
            <a:r>
              <a:rPr dirty="0" err="1"/>
              <a:t>release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速度、穩定性及可維護性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避免開發出難維護、穩定性差的產品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  <p:sp>
        <p:nvSpPr>
          <p:cNvPr id="29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A99D5B-9048-D6C9-0603-3859E0E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962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模式</a:t>
            </a:r>
            <a:r>
              <a:rPr dirty="0"/>
              <a:t> Dev + Ops</a:t>
            </a:r>
          </a:p>
        </p:txBody>
      </p:sp>
      <p:sp>
        <p:nvSpPr>
          <p:cNvPr id="2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0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9" y="1689278"/>
            <a:ext cx="722363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文字方塊 5"/>
          <p:cNvSpPr txBox="1"/>
          <p:nvPr/>
        </p:nvSpPr>
        <p:spPr>
          <a:xfrm>
            <a:off x="1186697" y="5721069"/>
            <a:ext cx="1014498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兩個團隊互相合作，而中間的交集即為</a:t>
            </a:r>
            <a:r>
              <a:t>DevOps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人員，暨了解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且同時了解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，當作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間溝通的橋樑。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871AD5-4533-FC33-63A4-92E50B1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6598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Agile vs Waterfall</a:t>
            </a:r>
          </a:p>
        </p:txBody>
      </p:sp>
      <p:pic>
        <p:nvPicPr>
          <p:cNvPr id="347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1" y="1493520"/>
            <a:ext cx="9413191" cy="5076777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50" name="文字方塊 7"/>
          <p:cNvSpPr txBox="1"/>
          <p:nvPr/>
        </p:nvSpPr>
        <p:spPr>
          <a:xfrm>
            <a:off x="916577" y="6545943"/>
            <a:ext cx="9676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Ref: https://www.linkedin.com/pulse/transforming-from-waterfall-agile-iqbal-ismailwala-/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860C25-0522-A493-C616-1361A116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144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</a:t>
            </a:r>
          </a:p>
        </p:txBody>
      </p:sp>
      <p:sp>
        <p:nvSpPr>
          <p:cNvPr id="3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持續整合、持續交付、持續部署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</a:t>
            </a:r>
            <a:r>
              <a:t> =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自動化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自動編譯、自動釋出版本、自動部署</a:t>
            </a:r>
          </a:p>
        </p:txBody>
      </p:sp>
      <p:sp>
        <p:nvSpPr>
          <p:cNvPr id="3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A80ABE-732E-FB62-AA36-8DF7E9E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6687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步驟</a:t>
            </a:r>
          </a:p>
        </p:txBody>
      </p:sp>
      <p:pic>
        <p:nvPicPr>
          <p:cNvPr id="364" name="內容版面配置區 8" descr="內容版面配置區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4" y="1737049"/>
            <a:ext cx="5824256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67" name="文字方塊 9"/>
          <p:cNvSpPr txBox="1"/>
          <p:nvPr/>
        </p:nvSpPr>
        <p:spPr>
          <a:xfrm>
            <a:off x="2208112" y="6220616"/>
            <a:ext cx="71410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https://techblog.rakuten.co.jp/2018/02/06/cd-the-best-practice/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8C166-A56F-DF78-D128-EF694F06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77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開發流程圖</a:t>
            </a:r>
          </a:p>
        </p:txBody>
      </p:sp>
      <p:pic>
        <p:nvPicPr>
          <p:cNvPr id="37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80" y="1493520"/>
            <a:ext cx="3740313" cy="4956727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73" name="文字方塊 2"/>
          <p:cNvSpPr txBox="1"/>
          <p:nvPr/>
        </p:nvSpPr>
        <p:spPr>
          <a:xfrm>
            <a:off x="4116568" y="6280922"/>
            <a:ext cx="7028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資料來源：nvie.com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3E7120-CAC1-09F4-D39F-395A891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3902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分支定義</a:t>
            </a:r>
          </a:p>
        </p:txBody>
      </p:sp>
      <p:sp>
        <p:nvSpPr>
          <p:cNvPr id="37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長期存在分支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master: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核心分支，不開放工程師直接</a:t>
            </a:r>
            <a:r>
              <a:t>Commit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develop: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</a:t>
            </a:r>
          </a:p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短期存在分支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Hotfixes: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處理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產品的重大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Release branch: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在出版前，進行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前測試。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Feature: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功能開發分支。</a:t>
            </a:r>
          </a:p>
        </p:txBody>
      </p:sp>
      <p:sp>
        <p:nvSpPr>
          <p:cNvPr id="37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3D6372-307F-1991-D9B8-4EECBCE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450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</a:t>
            </a:r>
          </a:p>
        </p:txBody>
      </p:sp>
      <p:sp>
        <p:nvSpPr>
          <p:cNvPr id="38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除了</a:t>
            </a:r>
            <a:r>
              <a:t>master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develop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，其他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建議勿長期存在，特別是</a:t>
            </a:r>
            <a:r>
              <a:t>feature</a:t>
            </a:r>
          </a:p>
          <a:p>
            <a:r>
              <a:t>Release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Hotfix 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只能修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，不能增加新功能。</a:t>
            </a:r>
          </a:p>
        </p:txBody>
      </p:sp>
      <p:sp>
        <p:nvSpPr>
          <p:cNvPr id="38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0B45CD-0B58-EA00-C359-4066782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2178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t>Gitlab</a:t>
            </a:r>
          </a:p>
        </p:txBody>
      </p:sp>
      <p:sp>
        <p:nvSpPr>
          <p:cNvPr id="65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F74C4F-1066-D8B3-71F2-731731E8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87E3A73-DFCE-9486-A451-49320AAEE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50" y="2420144"/>
            <a:ext cx="8216900" cy="3162300"/>
          </a:xfrm>
        </p:spPr>
      </p:pic>
    </p:spTree>
    <p:extLst>
      <p:ext uri="{BB962C8B-B14F-4D97-AF65-F5344CB8AC3E}">
        <p14:creationId xmlns:p14="http://schemas.microsoft.com/office/powerpoint/2010/main" val="11439361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Deploy GitLab server on VM1 docker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~/docker-</a:t>
            </a:r>
            <a:r>
              <a:rPr lang="en-US" altLang="zh-TW" dirty="0" err="1"/>
              <a:t>devops</a:t>
            </a:r>
            <a:r>
              <a:rPr lang="en-US" altLang="zh-TW" dirty="0"/>
              <a:t>/script/</a:t>
            </a:r>
            <a:r>
              <a:rPr lang="en-US" altLang="zh-TW" dirty="0" err="1"/>
              <a:t>deploy_gitlab.sh</a:t>
            </a:r>
            <a:endParaRPr lang="en-US" altLang="zh-TW" dirty="0"/>
          </a:p>
          <a:p>
            <a:r>
              <a:rPr lang="zh-TW" altLang="en-US" dirty="0"/>
              <a:t>執行後依提示輸入 VM1 外部 IP 位址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30A8C8-C117-98BD-8825-C6B222A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25777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-1</a:t>
            </a:r>
          </a:p>
        </p:txBody>
      </p:sp>
      <p:sp>
        <p:nvSpPr>
          <p:cNvPr id="66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ENV (-e)</a:t>
            </a:r>
          </a:p>
          <a:p>
            <a:pPr marL="742950" lvl="1" indent="-285750">
              <a:defRPr sz="2800"/>
            </a:pPr>
            <a:r>
              <a:rPr dirty="0" err="1"/>
              <a:t>external_url</a:t>
            </a:r>
            <a:r>
              <a:rPr dirty="0"/>
              <a:t> </a:t>
            </a:r>
          </a:p>
          <a:p>
            <a:pPr marL="1143000" lvl="2" indent="-228600">
              <a:defRPr sz="2400"/>
            </a:pPr>
            <a:r>
              <a:rPr dirty="0"/>
              <a:t>'http://{vm1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外部</a:t>
            </a:r>
            <a:r>
              <a:rPr dirty="0"/>
              <a:t>ip}';</a:t>
            </a:r>
          </a:p>
          <a:p>
            <a:pPr lvl="1">
              <a:defRPr sz="2400"/>
            </a:pPr>
            <a:r>
              <a:rPr dirty="0" err="1"/>
              <a:t>prometheus_monitoring</a:t>
            </a:r>
            <a:r>
              <a:rPr dirty="0"/>
              <a:t>['enable'] = false;</a:t>
            </a:r>
            <a:endParaRPr lang="en-US" dirty="0"/>
          </a:p>
          <a:p>
            <a:pPr lvl="2">
              <a:defRPr sz="2400"/>
            </a:pPr>
            <a:r>
              <a:rPr lang="zh-TW" altLang="en-US" dirty="0"/>
              <a:t>監控不啟用</a:t>
            </a:r>
            <a:r>
              <a:rPr lang="en-US" altLang="zh-TW" dirty="0"/>
              <a:t>(</a:t>
            </a:r>
            <a:r>
              <a:rPr lang="zh-TW" altLang="en-US" dirty="0"/>
              <a:t>資源使用較高</a:t>
            </a:r>
            <a:r>
              <a:rPr lang="en-US" altLang="zh-TW" dirty="0"/>
              <a:t>)</a:t>
            </a:r>
            <a:endParaRPr lang="en-US" dirty="0"/>
          </a:p>
          <a:p>
            <a:pPr lvl="1">
              <a:defRPr sz="2400"/>
            </a:pPr>
            <a:r>
              <a:rPr lang="en-US" altLang="zh-TW" dirty="0" err="1"/>
              <a:t>gitlab_kas</a:t>
            </a:r>
            <a:r>
              <a:rPr lang="en-US" altLang="zh-TW" dirty="0"/>
              <a:t>['enable'] = true;</a:t>
            </a:r>
          </a:p>
          <a:p>
            <a:pPr lvl="2">
              <a:defRPr sz="2400"/>
            </a:pPr>
            <a:r>
              <a:rPr lang="zh-TW" altLang="en-US" dirty="0"/>
              <a:t>啟用</a:t>
            </a:r>
            <a:r>
              <a:rPr lang="en-US" altLang="zh-TW" dirty="0"/>
              <a:t>Agent server for </a:t>
            </a:r>
            <a:r>
              <a:rPr lang="en-US" altLang="zh-TW" dirty="0" err="1"/>
              <a:t>kubernetes</a:t>
            </a:r>
            <a:endParaRPr dirty="0"/>
          </a:p>
          <a:p>
            <a:r>
              <a:rPr dirty="0"/>
              <a:t>Detach (-d)</a:t>
            </a:r>
          </a:p>
          <a:p>
            <a:pPr marL="742950" lvl="1" indent="-285750">
              <a:defRPr sz="28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背景執行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1591C8-B405-A123-E73E-9869978F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283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-2</a:t>
            </a:r>
          </a:p>
        </p:txBody>
      </p:sp>
      <p:sp>
        <p:nvSpPr>
          <p:cNvPr id="66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Port (-p)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80:80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443:443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10022:22</a:t>
            </a:r>
          </a:p>
          <a:p>
            <a:pPr>
              <a:lnSpc>
                <a:spcPct val="90000"/>
              </a:lnSpc>
              <a:defRPr sz="2900"/>
            </a:pPr>
            <a:r>
              <a:rPr dirty="0"/>
              <a:t>--restart always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永遠啟動此</a:t>
            </a:r>
            <a:r>
              <a:rPr dirty="0" err="1"/>
              <a:t>Container</a:t>
            </a:r>
            <a:endParaRPr dirty="0"/>
          </a:p>
          <a:p>
            <a:pPr>
              <a:lnSpc>
                <a:spcPct val="90000"/>
              </a:lnSpc>
              <a:defRPr sz="2900"/>
            </a:pPr>
            <a:r>
              <a:rPr dirty="0"/>
              <a:t>--name </a:t>
            </a:r>
            <a:r>
              <a:rPr dirty="0" err="1"/>
              <a:t>gitlab</a:t>
            </a:r>
            <a:endParaRPr dirty="0"/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/>
              <a:t>containe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名稱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8E8A6E-8969-2BFC-04D1-056938D8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5660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-3</a:t>
            </a:r>
          </a:p>
        </p:txBody>
      </p:sp>
      <p:sp>
        <p:nvSpPr>
          <p:cNvPr id="67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-v (volume)</a:t>
            </a: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/config:/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/logs:/var/log/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/>
              <a:t>log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/data:/var/opt/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資料儲存位置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7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720D62-FD9A-4E09-AE0E-E71C931C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8565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EC3-3617-5483-2BBA-C166DBC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ready 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E02231F-C8C9-3F06-84ED-2E2E259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4355"/>
            <a:ext cx="8264703" cy="160150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E1D30-B088-4E3F-ACCC-E82F6A5F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252"/>
            <a:ext cx="8367863" cy="121735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0F60C64-58E8-739B-FFC1-149A7708CF29}"/>
              </a:ext>
            </a:extLst>
          </p:cNvPr>
          <p:cNvSpPr txBox="1"/>
          <p:nvPr/>
        </p:nvSpPr>
        <p:spPr>
          <a:xfrm>
            <a:off x="2506894" y="4695290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Ready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1B88BF-5800-01F1-CCB9-B44AAEBDD7F7}"/>
              </a:ext>
            </a:extLst>
          </p:cNvPr>
          <p:cNvSpPr txBox="1"/>
          <p:nvPr/>
        </p:nvSpPr>
        <p:spPr>
          <a:xfrm>
            <a:off x="2363057" y="1772855"/>
            <a:ext cx="1218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 progress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9C863C-7C18-7C15-01CE-135B594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48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password</a:t>
            </a:r>
          </a:p>
        </p:txBody>
      </p:sp>
      <p:sp>
        <p:nvSpPr>
          <p:cNvPr id="67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717F83-C145-94DA-DB46-64FF57123667}"/>
              </a:ext>
            </a:extLst>
          </p:cNvPr>
          <p:cNvSpPr txBox="1"/>
          <p:nvPr/>
        </p:nvSpPr>
        <p:spPr>
          <a:xfrm>
            <a:off x="719191" y="2044557"/>
            <a:ext cx="1034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cat ~/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/config/</a:t>
            </a:r>
            <a:r>
              <a:rPr kumimoji="1" lang="en" altLang="zh-TW" dirty="0" err="1"/>
              <a:t>initial_root_password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70A3CE-6ACE-7F29-262E-5630E4E54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1" y="2808582"/>
            <a:ext cx="11471902" cy="29346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52BF45-265E-6A96-E507-76F057C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0447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login</a:t>
            </a:r>
            <a:r>
              <a:rPr lang="en-US" dirty="0"/>
              <a:t>, username: root</a:t>
            </a:r>
            <a:endParaRPr dirty="0"/>
          </a:p>
        </p:txBody>
      </p:sp>
      <p:sp>
        <p:nvSpPr>
          <p:cNvPr id="68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7F42CC-03E7-D27F-8EDF-398A665CE804}"/>
              </a:ext>
            </a:extLst>
          </p:cNvPr>
          <p:cNvSpPr txBox="1"/>
          <p:nvPr/>
        </p:nvSpPr>
        <p:spPr>
          <a:xfrm>
            <a:off x="2167847" y="169068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 err="1"/>
              <a:t>ip</a:t>
            </a:r>
            <a:r>
              <a:rPr kumimoji="1" lang="en" altLang="zh-TW" dirty="0"/>
              <a:t>}/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AA4AA7-D6B0-5314-0E38-183D442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41" y="2245639"/>
            <a:ext cx="7137400" cy="38862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3FEBCE-86CB-E984-A09D-9A695E7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69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1662E-C8F6-F0E7-F526-DB0BD672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啟用</a:t>
            </a:r>
            <a:r>
              <a:rPr kumimoji="1" lang="en-US" altLang="zh-TW" dirty="0"/>
              <a:t> import project </a:t>
            </a:r>
            <a:r>
              <a:rPr kumimoji="1" lang="zh-TW" altLang="en-US" dirty="0"/>
              <a:t>功能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F07244-5CE3-ECE3-6756-0C9E1B2C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107"/>
            <a:ext cx="2007742" cy="51239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08622EB-ECDE-4D3D-7D9A-DCFCEBB27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65" y="1318153"/>
            <a:ext cx="5360470" cy="50381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DBD4186-6E23-54FE-DDDE-F834C6DE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068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1BAA2-0C61-7C74-65B7-C2877210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勾選</a:t>
            </a:r>
            <a:r>
              <a:rPr kumimoji="1" lang="en" altLang="zh-TW" dirty="0"/>
              <a:t>Repository by URL</a:t>
            </a:r>
            <a:r>
              <a:rPr kumimoji="1" lang="zh-TW" altLang="en-US" dirty="0"/>
              <a:t>，並</a:t>
            </a:r>
            <a:r>
              <a:rPr kumimoji="1" lang="en-US" altLang="zh-TW" dirty="0"/>
              <a:t>Save changes</a:t>
            </a:r>
            <a:r>
              <a:rPr kumimoji="1" lang="zh-TW" altLang="en-US" dirty="0"/>
              <a:t>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CCD57-AFF0-F4AC-5D73-7EDFB89D8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92" y="2346726"/>
            <a:ext cx="4876800" cy="3124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F08BB62-E911-ED12-40F8-F9949528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2" y="1823538"/>
            <a:ext cx="3635054" cy="466933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F13169-0D84-3348-E85A-444B973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127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UI </a:t>
            </a:r>
          </a:p>
        </p:txBody>
      </p:sp>
      <p:sp>
        <p:nvSpPr>
          <p:cNvPr id="68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73AFDD-3345-6923-8780-A00C158A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86" y="1791404"/>
            <a:ext cx="9629553" cy="386295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509DA4-99B9-BA09-6363-0053652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855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– </a:t>
            </a:r>
            <a:r>
              <a:rPr lang="en-US" dirty="0">
                <a:sym typeface="Helvetica"/>
              </a:rPr>
              <a:t>Import </a:t>
            </a:r>
            <a:r>
              <a:rPr lang="en-US" dirty="0" err="1">
                <a:sym typeface="Helvetica"/>
              </a:rPr>
              <a:t>Porject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rPr lang="en-US" dirty="0" err="1">
                <a:sym typeface="Helvetica"/>
              </a:rPr>
              <a:t>選擇Repo</a:t>
            </a:r>
            <a:r>
              <a:rPr lang="en-US" dirty="0">
                <a:sym typeface="Helvetica"/>
              </a:rPr>
              <a:t> by</a:t>
            </a:r>
            <a:r>
              <a:rPr dirty="0"/>
              <a:t> URL</a:t>
            </a:r>
          </a:p>
        </p:txBody>
      </p:sp>
      <p:sp>
        <p:nvSpPr>
          <p:cNvPr id="69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3F86A-FC72-5450-359D-55AE63DC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9" y="1383803"/>
            <a:ext cx="6385260" cy="26397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25B09E-6BEC-1007-62F5-3EE539EB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9" y="4166097"/>
            <a:ext cx="7213600" cy="26162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C5D8FB-4593-90E2-5863-7C2F06D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296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這邊用課程docker-devops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作為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import repo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79B126-42BC-909B-4991-793C6BFFFB82}"/>
              </a:ext>
            </a:extLst>
          </p:cNvPr>
          <p:cNvSpPr txBox="1"/>
          <p:nvPr/>
        </p:nvSpPr>
        <p:spPr>
          <a:xfrm>
            <a:off x="246580" y="1493520"/>
            <a:ext cx="1101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Git repository URL: https://github.com/demoyuw/docker-devops.git</a:t>
            </a:r>
            <a:endParaRPr kumimoji="1" lang="en" altLang="zh-TW" dirty="0"/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5C1B9-E2EC-0EE3-184C-8A9B8AE0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83" y="2054831"/>
            <a:ext cx="7519435" cy="44380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D1568-94CA-9235-BB91-7BCD845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185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選擇建立專案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9B322-3FB2-03C3-56B3-C2FB7B9F8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36" y="1943100"/>
            <a:ext cx="5892800" cy="43561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7A8915-5C7F-514D-F988-69B6AA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8499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1732C-1E60-6AA5-B860-063D061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專案建立後，準備設定</a:t>
            </a:r>
            <a:r>
              <a:rPr kumimoji="1" lang="en-US" altLang="zh-TW" dirty="0"/>
              <a:t>Runner </a:t>
            </a:r>
            <a:br>
              <a:rPr kumimoji="1" lang="en-US" altLang="zh-TW" dirty="0"/>
            </a:br>
            <a:r>
              <a:rPr kumimoji="1" lang="zh-TW" altLang="en-US" dirty="0"/>
              <a:t>到</a:t>
            </a:r>
            <a:r>
              <a:rPr kumimoji="1" lang="en-US" altLang="zh-TW" dirty="0"/>
              <a:t>Settings -&gt; CI/CD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8AD71A0-A79B-E7A0-7195-DB3FD16D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160" y="1774254"/>
            <a:ext cx="3121801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BDE55-CBD6-C47F-CD82-50245F1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0971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1972D-E66A-B4E2-AAB9-C99CFC8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點擊</a:t>
            </a:r>
            <a:r>
              <a:rPr kumimoji="1" lang="en-US" altLang="zh-TW" dirty="0"/>
              <a:t>Runners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保存下來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4DD94FC-40B2-D8FD-FA45-FD64821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0CCE3-B74F-79B2-C6F0-398F6BBB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993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949A88-19DF-E3C2-FA8C-BF054601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Gitlab CI/CD Docker and Kubernetes Runner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18DDA46-59FD-4DC9-8F8C-5793A6B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109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7AC67951-264A-75B1-DFE5-231027394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0" y="2274094"/>
            <a:ext cx="82931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098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40A0FCF-03EB-3F36-455D-4828EDCD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k8s Runner </a:t>
            </a:r>
            <a:r>
              <a:rPr lang="zh-TW" altLang="en-US" dirty="0"/>
              <a:t>前準備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341A6F-F06F-1889-9146-27C5D228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helm repo add 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https://charts.gitlab.io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create ns </a:t>
            </a:r>
            <a:r>
              <a:rPr lang="en-US" altLang="zh-TW" dirty="0" err="1"/>
              <a:t>gitlab</a:t>
            </a:r>
            <a:r>
              <a:rPr lang="en-US" altLang="zh-TW" dirty="0"/>
              <a:t>-runner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644571-2841-2C55-339D-DAE9E9E2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35" y="2246968"/>
            <a:ext cx="87757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6E6CB9-E4B3-91E3-926A-845C3CBC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4433"/>
            <a:ext cx="12192000" cy="10720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B12C0A-B755-298C-2788-EBCFD261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5491163"/>
            <a:ext cx="8331200" cy="685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1D71D5-DA10-F27E-F63B-210BB7E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37970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795DF-BE9D-A028-C8B2-135DF9A1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/>
              <a:t>runner </a:t>
            </a:r>
            <a:r>
              <a:rPr kumimoji="1"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20F10-B960-9D9E-875A-54B11F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repo -l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67EEC4-0DE5-7911-A8B8-CEFBBD1A0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9" y="2483920"/>
            <a:ext cx="8513510" cy="38724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5FDD4-2B1C-EBBD-C1F9-23727CA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13188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docker-devops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 err="1"/>
              <a:t>gitlabUrl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http://10.128.0.10/</a:t>
            </a:r>
            <a:endParaRPr lang="en-US" altLang="zh-TW" dirty="0"/>
          </a:p>
          <a:p>
            <a:pPr lvl="2"/>
            <a:r>
              <a:rPr lang="en-US" altLang="zh-TW" dirty="0" err="1"/>
              <a:t>GitLab</a:t>
            </a:r>
            <a:r>
              <a:rPr lang="en-US" altLang="zh-TW" dirty="0"/>
              <a:t> server </a:t>
            </a:r>
            <a:r>
              <a:rPr lang="zh-TW" altLang="en-US" dirty="0"/>
              <a:t>所在位置</a:t>
            </a:r>
            <a:endParaRPr lang="en-US" altLang="zh-TW" dirty="0"/>
          </a:p>
          <a:p>
            <a:pPr lvl="1"/>
            <a:r>
              <a:rPr lang="en-US" altLang="zh-TW" dirty="0" err="1"/>
              <a:t>runnerRegistrationToken</a:t>
            </a:r>
            <a:r>
              <a:rPr lang="en-US" altLang="zh-TW" dirty="0"/>
              <a:t>: "GR1348941x2KCqWDm-Brpep587ZfC"</a:t>
            </a:r>
          </a:p>
          <a:p>
            <a:pPr lvl="2"/>
            <a:r>
              <a:rPr lang="en-US" altLang="zh-TW" dirty="0"/>
              <a:t>Runner token</a:t>
            </a:r>
          </a:p>
          <a:p>
            <a:pPr lvl="1"/>
            <a:r>
              <a:rPr lang="en-US" altLang="zh-TW" dirty="0" err="1"/>
              <a:t>rbac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create: true</a:t>
            </a:r>
          </a:p>
          <a:p>
            <a:pPr lvl="3"/>
            <a:r>
              <a:rPr lang="zh-TW" altLang="en-US" dirty="0"/>
              <a:t>啟用</a:t>
            </a:r>
            <a:r>
              <a:rPr lang="en-US" altLang="zh-TW" dirty="0" err="1"/>
              <a:t>rbac</a:t>
            </a:r>
            <a:endParaRPr lang="en-US" altLang="zh-TW" dirty="0"/>
          </a:p>
          <a:p>
            <a:pPr lvl="2"/>
            <a:r>
              <a:rPr lang="en-US" altLang="zh-TW" dirty="0" err="1"/>
              <a:t>clusterWideAccess</a:t>
            </a:r>
            <a:r>
              <a:rPr lang="en-US" altLang="zh-TW" dirty="0"/>
              <a:t>: true</a:t>
            </a:r>
          </a:p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58E24F-6110-B84F-49B5-DA5CF5B2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9025"/>
            <a:ext cx="2660900" cy="286385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A01A71-0F94-2283-750B-DDE428B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593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/>
              <a:t>runners:</a:t>
            </a:r>
          </a:p>
          <a:p>
            <a:pPr lvl="2"/>
            <a:r>
              <a:rPr lang="en-US" altLang="zh-TW" dirty="0" err="1"/>
              <a:t>config</a:t>
            </a:r>
            <a:r>
              <a:rPr lang="en-US" altLang="zh-TW" dirty="0"/>
              <a:t>: </a:t>
            </a:r>
          </a:p>
          <a:p>
            <a:pPr lvl="3"/>
            <a:r>
              <a:rPr lang="en-US" altLang="zh-TW" dirty="0"/>
              <a:t>[[</a:t>
            </a:r>
            <a:r>
              <a:rPr lang="en-US" altLang="zh-TW" dirty="0" err="1"/>
              <a:t>runners.kubernetes.volumes.host_path</a:t>
            </a:r>
            <a:r>
              <a:rPr lang="en-US" altLang="zh-TW" dirty="0"/>
              <a:t>]]</a:t>
            </a:r>
          </a:p>
          <a:p>
            <a:pPr lvl="3"/>
            <a:r>
              <a:rPr lang="en-US" altLang="zh-TW" dirty="0"/>
              <a:t>  name = "</a:t>
            </a:r>
            <a:r>
              <a:rPr lang="en-US" altLang="zh-TW" dirty="0" err="1"/>
              <a:t>docker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mount_path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read_only</a:t>
            </a:r>
            <a:r>
              <a:rPr lang="en-US" altLang="zh-TW" dirty="0"/>
              <a:t> = true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host_path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4"/>
            <a:r>
              <a:rPr lang="zh-TW" altLang="en-US" dirty="0"/>
              <a:t>讓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paththrouh</a:t>
            </a:r>
            <a:r>
              <a:rPr lang="en-US" altLang="zh-TW" dirty="0"/>
              <a:t> </a:t>
            </a:r>
            <a:r>
              <a:rPr lang="zh-TW" altLang="en-US" dirty="0"/>
              <a:t>到底下</a:t>
            </a:r>
            <a:r>
              <a:rPr lang="en-US" altLang="zh-TW" dirty="0"/>
              <a:t>VM2</a:t>
            </a:r>
            <a:r>
              <a:rPr lang="zh-TW" altLang="en-US" dirty="0"/>
              <a:t>執行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2"/>
            <a:r>
              <a:rPr lang="en-US" altLang="zh-TW" dirty="0"/>
              <a:t>tags: "vm2-k8s“</a:t>
            </a:r>
          </a:p>
          <a:p>
            <a:pPr lvl="3"/>
            <a:r>
              <a:rPr lang="zh-TW" altLang="en-US" dirty="0"/>
              <a:t>幫此</a:t>
            </a:r>
            <a:r>
              <a:rPr lang="en-US" altLang="zh-TW" dirty="0"/>
              <a:t>runner </a:t>
            </a:r>
            <a:r>
              <a:rPr lang="zh-TW" altLang="en-US" dirty="0"/>
              <a:t>加</a:t>
            </a:r>
            <a:r>
              <a:rPr lang="en-US" altLang="zh-TW" dirty="0"/>
              <a:t>tags</a:t>
            </a:r>
            <a:r>
              <a:rPr lang="zh-TW" altLang="en-US" dirty="0"/>
              <a:t>好選擇不同環境</a:t>
            </a:r>
            <a:endParaRPr lang="en-US" altLang="zh-TW" dirty="0"/>
          </a:p>
          <a:p>
            <a:pPr lvl="2"/>
            <a:r>
              <a:rPr lang="en-US" altLang="zh-TW" dirty="0"/>
              <a:t>privileged: true</a:t>
            </a:r>
          </a:p>
          <a:p>
            <a:pPr lvl="3"/>
            <a:r>
              <a:rPr lang="zh-TW" altLang="en-US" dirty="0"/>
              <a:t>開啟特權，用來執行</a:t>
            </a:r>
            <a:r>
              <a:rPr lang="en-US" altLang="zh-TW" dirty="0" err="1"/>
              <a:t>docker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3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312865-CDFC-BDE8-996A-55760F12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62640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176A-4F2A-7DA0-91BD-215BD18D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 on k8s by 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59903-2E1B-D401-F744-F624BD92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install ci-cd-runner --namespace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-f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--version 0.75.1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2CA690-D394-2D59-D998-08DF35B0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4543"/>
            <a:ext cx="9669231" cy="36669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9E4D9-DF2C-F355-0E9E-5A2D40E4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383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03801-7D92-30FC-F7B9-617FF3E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確認</a:t>
            </a:r>
            <a:r>
              <a:rPr kumimoji="1" lang="en-US" altLang="zh-TW" dirty="0" err="1"/>
              <a:t>kubernetes</a:t>
            </a:r>
            <a:r>
              <a:rPr kumimoji="1" lang="en-US" altLang="zh-TW" dirty="0"/>
              <a:t> runner </a:t>
            </a:r>
            <a:r>
              <a:rPr kumimoji="1" lang="zh-TW" altLang="en-US" dirty="0"/>
              <a:t>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59F51-FBD1-6903-4E4B-6A02C316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 --all-namespaces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368D599-2F3B-8AE7-FCB5-1AC99F04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2345060"/>
            <a:ext cx="7772400" cy="14535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A720A55-25E0-D034-01A3-EDF71382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4613216"/>
            <a:ext cx="7772400" cy="145355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CE29BB-DAA1-54BF-130C-A4C1D3A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093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0AF08-C134-9960-5BFF-3349ED17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Runner </a:t>
            </a:r>
            <a:r>
              <a:rPr kumimoji="1" lang="zh-TW" altLang="en-US" dirty="0"/>
              <a:t>準備完成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9FD16BD-89DF-E83B-6DEC-711D9A25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415" y="1825625"/>
            <a:ext cx="525316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ADB769-1539-387F-3D97-5CD6197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99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0A0B90-1C4D-5BDA-7A09-54679DA8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docker runner </a:t>
            </a:r>
            <a:r>
              <a:rPr kumimoji="1" lang="zh-TW" altLang="en-US" dirty="0"/>
              <a:t>要用的</a:t>
            </a:r>
            <a:r>
              <a:rPr kumimoji="1" lang="en-US" altLang="zh-TW" dirty="0"/>
              <a:t>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B68EE2A-2B6D-FE34-BD77-5384B0F0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797" y="1825625"/>
            <a:ext cx="8502405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E7894-CEF3-657D-6E5B-6E286B46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65615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577A9-118D-8BF3-21F3-BD106BB1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Tags</a:t>
            </a:r>
            <a:r>
              <a:rPr kumimoji="1" lang="zh-TW" altLang="en-US" dirty="0"/>
              <a:t>名稱為</a:t>
            </a:r>
            <a:r>
              <a:rPr kumimoji="1" lang="en-US" altLang="zh-TW" dirty="0"/>
              <a:t>docker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5DBD7-A598-2ECB-1CC4-6397F05D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118</a:t>
            </a:fld>
            <a:endParaRPr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3F35D2D-7C18-D761-0437-4AC065F66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32" y="1825625"/>
            <a:ext cx="3067336" cy="4351338"/>
          </a:xfrm>
        </p:spPr>
      </p:pic>
    </p:spTree>
    <p:extLst>
      <p:ext uri="{BB962C8B-B14F-4D97-AF65-F5344CB8AC3E}">
        <p14:creationId xmlns:p14="http://schemas.microsoft.com/office/powerpoint/2010/main" val="207257198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1AF27-FDDA-F0AA-18D1-56D55256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紀錄下這個</a:t>
            </a:r>
            <a:r>
              <a:rPr kumimoji="1" lang="en-US" altLang="zh-TW" dirty="0"/>
              <a:t>runner token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28BB33E-1E50-FB71-817B-8A0877508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950" y="1825625"/>
            <a:ext cx="553009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5AA9B3-FCA4-932C-05FC-E32A8445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5091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5DBC8-200F-1969-5850-1BED9775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 </a:t>
            </a:r>
            <a:r>
              <a:rPr kumimoji="1" lang="en-US" altLang="zh-TW" dirty="0" err="1"/>
              <a:t>dokcer</a:t>
            </a:r>
            <a:r>
              <a:rPr kumimoji="1" lang="en-US" altLang="zh-TW" dirty="0"/>
              <a:t> runner</a:t>
            </a:r>
            <a:r>
              <a:rPr kumimoji="1" lang="zh-TW" altLang="en-US" dirty="0"/>
              <a:t>，更改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跟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6F81E-80BA-A900-0A04-6CABE0FC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-runner-docker/</a:t>
            </a:r>
            <a:r>
              <a:rPr lang="en-US" altLang="zh-TW" dirty="0" err="1"/>
              <a:t>config.toml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7871D-B42C-EEF3-EFF7-63E7150A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F50AE3-DF12-B95D-94C6-C443CDB2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67" y="2386545"/>
            <a:ext cx="7772400" cy="392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282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E3DBE-E026-320A-D4CB-18DF73AC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vm1</a:t>
            </a:r>
            <a:r>
              <a:rPr kumimoji="1" lang="zh-TW" altLang="en-US" dirty="0"/>
              <a:t>運行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docker runner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12D54A-2DFB-E375-6F65-98422A696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docker run -d --name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--restart always   -v 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:/var/run/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   -v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-runner-docker:/</a:t>
            </a:r>
            <a:r>
              <a:rPr kumimoji="1" lang="en" altLang="zh-TW" dirty="0" err="1"/>
              <a:t>etc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 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/gitlab-runner:ubuntu-v17.10.1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E3C9C2-2337-84D9-845E-10B06515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4899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14577-6328-9B1D-9ACE-282F75C1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確保兩個</a:t>
            </a:r>
            <a:r>
              <a:rPr kumimoji="1" lang="en-US" altLang="zh-TW" dirty="0"/>
              <a:t>Runner</a:t>
            </a:r>
            <a:r>
              <a:rPr kumimoji="1" lang="zh-TW" altLang="en-US" dirty="0"/>
              <a:t>都是綠燈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E831BD8-8DF3-D389-DBE6-6141A75C2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31" y="1825625"/>
            <a:ext cx="481553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172AF-50FD-3D1F-6392-DB18043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14330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2. </a:t>
            </a:r>
            <a:r>
              <a:rPr lang="zh-TW" altLang="en-US" dirty="0"/>
              <a:t>匯入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GitLab repo variables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GitLab server</a:t>
            </a:r>
            <a:r>
              <a:rPr lang="zh-TW" altLang="en-US" dirty="0">
                <a:solidFill>
                  <a:schemeClr val="tx1"/>
                </a:solidFill>
              </a:rPr>
              <a:t>在我們有推上新的</a:t>
            </a:r>
            <a:r>
              <a:rPr lang="en-US" altLang="zh-TW" dirty="0">
                <a:solidFill>
                  <a:schemeClr val="tx1"/>
                </a:solidFill>
              </a:rPr>
              <a:t>commit</a:t>
            </a:r>
            <a:r>
              <a:rPr lang="zh-TW" altLang="en-US" dirty="0">
                <a:solidFill>
                  <a:schemeClr val="tx1"/>
                </a:solidFill>
              </a:rPr>
              <a:t>後，要代替我們在</a:t>
            </a:r>
            <a:r>
              <a:rPr lang="en-US" altLang="zh-TW" dirty="0">
                <a:solidFill>
                  <a:schemeClr val="tx1"/>
                </a:solidFill>
              </a:rPr>
              <a:t>k8s</a:t>
            </a:r>
            <a:r>
              <a:rPr lang="zh-TW" altLang="en-US" dirty="0">
                <a:solidFill>
                  <a:schemeClr val="tx1"/>
                </a:solidFill>
              </a:rPr>
              <a:t>上進行部署，所以我們需要提供</a:t>
            </a:r>
            <a:r>
              <a:rPr lang="en-US" altLang="zh-TW" dirty="0" err="1">
                <a:solidFill>
                  <a:schemeClr val="tx1"/>
                </a:solidFill>
              </a:rPr>
              <a:t>kubeconfig</a:t>
            </a:r>
            <a:r>
              <a:rPr lang="zh-TW" altLang="en-US" dirty="0">
                <a:solidFill>
                  <a:schemeClr val="tx1"/>
                </a:solidFill>
              </a:rPr>
              <a:t>給</a:t>
            </a:r>
            <a:r>
              <a:rPr lang="en-US" altLang="zh-TW" dirty="0">
                <a:solidFill>
                  <a:schemeClr val="tx1"/>
                </a:solidFill>
              </a:rPr>
              <a:t>GitLab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F97933-A57E-F52A-2DA0-F4B5D5A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262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80263-A3A9-046D-A567-65D517EF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Kubeconfig</a:t>
            </a:r>
            <a:r>
              <a:rPr kumimoji="1" lang="en-US" altLang="zh-TW" dirty="0"/>
              <a:t> file </a:t>
            </a:r>
            <a:r>
              <a:rPr kumimoji="1" lang="zh-TW" altLang="en-US" dirty="0"/>
              <a:t>轉成</a:t>
            </a:r>
            <a:r>
              <a:rPr kumimoji="1" lang="en-US" altLang="zh-TW" dirty="0"/>
              <a:t>base64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57BE24-EEF2-51F6-0289-4E4B6E86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echo $(cat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 | base64) | tr -d " "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AE83DC-EF3C-3103-AA77-C433A70C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844800"/>
            <a:ext cx="12026900" cy="4013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0AD195-AC2F-559D-10AF-224C0E9E70A7}"/>
              </a:ext>
            </a:extLst>
          </p:cNvPr>
          <p:cNvSpPr txBox="1"/>
          <p:nvPr/>
        </p:nvSpPr>
        <p:spPr>
          <a:xfrm>
            <a:off x="8310520" y="812602"/>
            <a:ext cx="315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是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格式，用縮排來代表不同階層，為了避免複製貼上後縮排亂掉，所以先轉成</a:t>
            </a:r>
            <a:r>
              <a:rPr kumimoji="1" lang="en-US" altLang="zh-TW" dirty="0"/>
              <a:t>base64</a:t>
            </a:r>
            <a:r>
              <a:rPr kumimoji="1" lang="zh-TW" altLang="en-US" dirty="0"/>
              <a:t>，要使用時在</a:t>
            </a:r>
            <a:r>
              <a:rPr kumimoji="1" lang="en-US" altLang="zh-TW" dirty="0"/>
              <a:t>decode</a:t>
            </a:r>
            <a:r>
              <a:rPr kumimoji="1" lang="zh-TW" altLang="en-US" dirty="0"/>
              <a:t>回來。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A8D5F0-914C-1A1A-A938-22E209E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9694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設定變數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6820C-48E8-3BC4-3982-D9890E4305CD}"/>
              </a:ext>
            </a:extLst>
          </p:cNvPr>
          <p:cNvSpPr txBox="1"/>
          <p:nvPr/>
        </p:nvSpPr>
        <p:spPr>
          <a:xfrm>
            <a:off x="1432291" y="1563093"/>
            <a:ext cx="1049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權限有關的設定</a:t>
            </a:r>
            <a:r>
              <a:rPr kumimoji="1" lang="en-US" altLang="zh-TW" dirty="0"/>
              <a:t>(</a:t>
            </a:r>
            <a:r>
              <a:rPr kumimoji="1" lang="zh-TW" altLang="en-US" dirty="0"/>
              <a:t>密碼</a:t>
            </a:r>
            <a:r>
              <a:rPr kumimoji="1" lang="en-US" altLang="zh-TW" dirty="0"/>
              <a:t>, token, auth file)</a:t>
            </a:r>
            <a:r>
              <a:rPr kumimoji="1" lang="zh-TW" altLang="en-US" dirty="0"/>
              <a:t>，建議把</a:t>
            </a:r>
            <a:r>
              <a:rPr kumimoji="1" lang="en-US" altLang="zh-TW" dirty="0"/>
              <a:t>key/value</a:t>
            </a:r>
            <a:r>
              <a:rPr kumimoji="1" lang="zh-TW" altLang="en-US" dirty="0"/>
              <a:t>值定義在</a:t>
            </a:r>
            <a:r>
              <a:rPr kumimoji="1" lang="en-US" altLang="zh-TW" dirty="0"/>
              <a:t>Variables</a:t>
            </a:r>
            <a:r>
              <a:rPr kumimoji="1" lang="zh-TW" altLang="en-US" dirty="0"/>
              <a:t>，不應該直接設定在</a:t>
            </a:r>
            <a:r>
              <a:rPr kumimoji="1" lang="en-US" altLang="zh-TW" dirty="0"/>
              <a:t>ci </a:t>
            </a:r>
            <a:r>
              <a:rPr kumimoji="1" lang="en-US" altLang="zh-TW" dirty="0" err="1"/>
              <a:t>yaml</a:t>
            </a:r>
            <a:endParaRPr kumimoji="1" lang="en-US" altLang="zh-TW" dirty="0"/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repo code</a:t>
            </a:r>
            <a:r>
              <a:rPr kumimoji="1" lang="zh-TW" altLang="en-US" dirty="0"/>
              <a:t>裡面。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3339151-7218-A88D-EC36-51ADA0AE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313" y="2209424"/>
            <a:ext cx="8569374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837F8E-7C73-01DE-7A26-CFD4A543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8347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CC732-B975-DF64-D7B9-972604B0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變數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651815A-FA80-2E45-A28C-4B73FC5F2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6525"/>
            <a:ext cx="2599944" cy="6268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D84274-CA0A-B3BB-4B03-9055B84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57803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變數設定完成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0469822-5D1C-9DF6-860B-20CEF9E0B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0" y="2134394"/>
            <a:ext cx="8178800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D026D1-20AB-4AAD-38E6-10353EF2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11491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 </a:t>
            </a:r>
            <a:r>
              <a:rPr lang="zh-TW" altLang="en-US" dirty="0"/>
              <a:t>取用 </a:t>
            </a:r>
            <a:r>
              <a:rPr lang="en-US" altLang="zh-TW" dirty="0" err="1"/>
              <a:t>kubeconfig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 $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用</a:t>
            </a:r>
            <a:r>
              <a:rPr lang="en-US" altLang="zh-TW" dirty="0"/>
              <a:t>base64 decode </a:t>
            </a:r>
            <a:r>
              <a:rPr lang="zh-TW" altLang="en-US" dirty="0"/>
              <a:t>並寫入到 </a:t>
            </a:r>
            <a:r>
              <a:rPr lang="en-US" altLang="zh-TW" dirty="0"/>
              <a:t>~/.</a:t>
            </a:r>
            <a:r>
              <a:rPr lang="en-US" altLang="zh-TW" dirty="0" err="1"/>
              <a:t>kube</a:t>
            </a:r>
            <a:r>
              <a:rPr lang="en-US" altLang="zh-TW" dirty="0"/>
              <a:t>/</a:t>
            </a:r>
            <a:r>
              <a:rPr lang="en-US" altLang="zh-TW" dirty="0" err="1"/>
              <a:t>config</a:t>
            </a:r>
            <a:endParaRPr lang="en-US" altLang="zh-TW" dirty="0"/>
          </a:p>
          <a:p>
            <a:r>
              <a:rPr lang="en-US" altLang="zh-TW" dirty="0"/>
              <a:t> </a:t>
            </a:r>
            <a:r>
              <a:rPr lang="en-US" altLang="zh-TW" dirty="0" err="1"/>
              <a:t>mkdir</a:t>
            </a:r>
            <a:r>
              <a:rPr lang="en-US" altLang="zh-TW" dirty="0"/>
              <a:t> .</a:t>
            </a:r>
            <a:r>
              <a:rPr lang="en-US" altLang="zh-TW" dirty="0" err="1"/>
              <a:t>kube</a:t>
            </a:r>
            <a:endParaRPr lang="en-US" altLang="zh-TW" dirty="0"/>
          </a:p>
          <a:p>
            <a:r>
              <a:rPr lang="en-US" altLang="zh-TW" dirty="0"/>
              <a:t> echo $</a:t>
            </a:r>
            <a:r>
              <a:rPr lang="en-US" altLang="zh-TW" dirty="0" err="1"/>
              <a:t>kubeconfig</a:t>
            </a:r>
            <a:r>
              <a:rPr lang="en-US" altLang="zh-TW" dirty="0"/>
              <a:t> |base64 -d &gt; ~/.</a:t>
            </a:r>
            <a:r>
              <a:rPr lang="en-US" altLang="zh-TW" dirty="0" err="1"/>
              <a:t>kube</a:t>
            </a:r>
            <a:r>
              <a:rPr lang="en-US" altLang="zh-TW" dirty="0"/>
              <a:t>/config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8" y="3574636"/>
            <a:ext cx="6809224" cy="29182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2E80D2-111D-4D57-D809-262697D41C63}"/>
              </a:ext>
            </a:extLst>
          </p:cNvPr>
          <p:cNvSpPr txBox="1"/>
          <p:nvPr/>
        </p:nvSpPr>
        <p:spPr>
          <a:xfrm>
            <a:off x="7411948" y="4369070"/>
            <a:ext cx="3941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</a:t>
            </a:r>
            <a:r>
              <a:rPr lang="en-US" altLang="zh-TW" dirty="0" err="1"/>
              <a:t>github.com</a:t>
            </a:r>
            <a:r>
              <a:rPr lang="en-US" altLang="zh-TW" dirty="0"/>
              <a:t>/</a:t>
            </a:r>
            <a:r>
              <a:rPr lang="en-US" altLang="zh-TW" dirty="0" err="1"/>
              <a:t>demoyuw</a:t>
            </a:r>
            <a:r>
              <a:rPr lang="en-US" altLang="zh-TW" dirty="0"/>
              <a:t>/docker-</a:t>
            </a:r>
            <a:r>
              <a:rPr lang="en-US" altLang="zh-TW" dirty="0" err="1"/>
              <a:t>devops</a:t>
            </a:r>
            <a:r>
              <a:rPr lang="en-US" altLang="zh-TW" dirty="0"/>
              <a:t>/blob/master/.gitlab-ci.yml#L55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7C514-8E33-4FEB-3CA3-790E37F1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633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查看</a:t>
            </a:r>
            <a:r>
              <a:rPr lang="en-US" altLang="zh-TW" dirty="0"/>
              <a:t>CI</a:t>
            </a:r>
            <a:r>
              <a:rPr lang="zh-TW" altLang="en-US" dirty="0"/>
              <a:t>執行結果結果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80" y="1825625"/>
            <a:ext cx="9133639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F75EEE-C8DB-CE42-E608-3FFC3DF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9018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957374-34D6-B6C3-44E7-041A9165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dockerhub</a:t>
            </a:r>
            <a:r>
              <a:rPr lang="en-US" altLang="zh-TW" dirty="0"/>
              <a:t> username and password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2ADA38F-AA2A-D6D8-E017-523C978A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6151"/>
            <a:ext cx="10123296" cy="3485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6351662-9711-2788-D3CE-9724C620912A}"/>
              </a:ext>
            </a:extLst>
          </p:cNvPr>
          <p:cNvSpPr txBox="1"/>
          <p:nvPr/>
        </p:nvSpPr>
        <p:spPr>
          <a:xfrm>
            <a:off x="2373330" y="1538250"/>
            <a:ext cx="6186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REGISTRY_USERNAME,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帳號名稱</a:t>
            </a:r>
            <a:r>
              <a:rPr kumimoji="1" lang="en-US" altLang="zh-TW" dirty="0"/>
              <a:t>}</a:t>
            </a:r>
          </a:p>
          <a:p>
            <a:r>
              <a:rPr kumimoji="1" lang="en-US" altLang="zh-TW" dirty="0"/>
              <a:t>Key: REGISTRY_PASSWORD,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帳號密碼</a:t>
            </a:r>
            <a:r>
              <a:rPr kumimoji="1"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171B3-6E59-F9F9-D01A-3B27D76C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9467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CI YAML </a:t>
            </a:r>
            <a:r>
              <a:rPr lang="zh-TW" altLang="en-US" dirty="0"/>
              <a:t>說明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AB9698-C79C-374B-5AFA-6498E50D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1430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sample</a:t>
            </a:r>
          </a:p>
        </p:txBody>
      </p:sp>
      <p:pic>
        <p:nvPicPr>
          <p:cNvPr id="103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16" y="1565607"/>
            <a:ext cx="2934210" cy="4680066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E4B1B-4D83-24C1-84B3-CC1A0CE3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8668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</a:t>
            </a:r>
            <a:r>
              <a:rPr lang="en-US" dirty="0"/>
              <a:t>Global (</a:t>
            </a:r>
            <a:r>
              <a:rPr lang="en-US" dirty="0" err="1"/>
              <a:t>全域</a:t>
            </a:r>
            <a:r>
              <a:rPr lang="en-US" dirty="0"/>
              <a:t>) </a:t>
            </a:r>
            <a:r>
              <a:rPr dirty="0"/>
              <a:t>keyword -</a:t>
            </a:r>
            <a:r>
              <a:rPr lang="en-US" dirty="0"/>
              <a:t> stages</a:t>
            </a:r>
            <a:endParaRPr dirty="0"/>
          </a:p>
        </p:txBody>
      </p:sp>
      <p:sp>
        <p:nvSpPr>
          <p:cNvPr id="103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stages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決定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pipeline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執行順序</a:t>
            </a:r>
            <a:endParaRPr lang="en-US" altLang="zh-TW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自行定義每個stage的名稱</a:t>
            </a:r>
            <a:endParaRPr lang="en-US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一個stage成功後，再執行下一個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endParaRPr dirty="0"/>
          </a:p>
        </p:txBody>
      </p:sp>
      <p:sp>
        <p:nvSpPr>
          <p:cNvPr id="103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A71F392-4D4F-2DF8-4AC7-C40F5569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479" y="2189765"/>
            <a:ext cx="1823839" cy="16033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9BEE33-8686-E937-2DF8-9D3961DA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97" y="4525471"/>
            <a:ext cx="6536705" cy="120369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862903-438A-EB59-D06F-2F199FDB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4488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lang="en-US" dirty="0"/>
              <a:t> global</a:t>
            </a:r>
            <a:r>
              <a:rPr dirty="0"/>
              <a:t> keyword -2</a:t>
            </a:r>
          </a:p>
        </p:txBody>
      </p:sp>
      <p:sp>
        <p:nvSpPr>
          <p:cNvPr id="104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variables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自定義環境變數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for all jobs in pipeline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4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E4E3A-C7DD-6D76-CA4A-700ACCA1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3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Ci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68" name="內容版面配置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000" dirty="0"/>
              <a:t>CI_JOB_ID="50"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CI_COMMIT_SHA="1ecfd275763eff1d6b4844ea3168962458c9f27a"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sz="2000" dirty="0"/>
              <a:t>CI_COMMIT_SHORT_SHA="1ecfd275"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CI_COMMIT_REF_NAME="master" </a:t>
            </a:r>
          </a:p>
          <a:p>
            <a:pPr>
              <a:lnSpc>
                <a:spcPct val="90000"/>
              </a:lnSpc>
            </a:pPr>
            <a:r>
              <a:rPr sz="2000" dirty="0"/>
              <a:t>CI_REPOSITORY_URL="https://</a:t>
            </a:r>
            <a:r>
              <a:rPr sz="2000" dirty="0" err="1"/>
              <a:t>gitlab</a:t>
            </a:r>
            <a:r>
              <a:rPr sz="2000" dirty="0"/>
              <a:t>-ci-token:[masked]@</a:t>
            </a:r>
            <a:r>
              <a:rPr sz="2000" dirty="0" err="1"/>
              <a:t>example.com</a:t>
            </a:r>
            <a:r>
              <a:rPr sz="2000" dirty="0"/>
              <a:t>/</a:t>
            </a:r>
            <a:r>
              <a:rPr sz="2000" dirty="0" err="1"/>
              <a:t>gitlab</a:t>
            </a:r>
            <a:r>
              <a:rPr sz="2000" dirty="0"/>
              <a:t>-org/</a:t>
            </a:r>
            <a:r>
              <a:rPr sz="2000" dirty="0" err="1"/>
              <a:t>gitlab-foss.git</a:t>
            </a:r>
            <a:r>
              <a:rPr sz="2000" dirty="0"/>
              <a:t>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CI_COMMIT_TAG="1.0.0" </a:t>
            </a:r>
          </a:p>
          <a:p>
            <a:pPr>
              <a:lnSpc>
                <a:spcPct val="90000"/>
              </a:lnSpc>
            </a:pPr>
            <a:r>
              <a:rPr sz="2000" dirty="0"/>
              <a:t>CI_JOB_NAME="</a:t>
            </a:r>
            <a:r>
              <a:rPr sz="2000" dirty="0" err="1"/>
              <a:t>spec:other</a:t>
            </a:r>
            <a:r>
              <a:rPr sz="2000" dirty="0"/>
              <a:t>" 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完整預設變數</a:t>
            </a:r>
            <a:r>
              <a:rPr lang="en-US" sz="2000" dirty="0"/>
              <a:t>: https://</a:t>
            </a:r>
            <a:r>
              <a:rPr lang="en-US" sz="2000" dirty="0" err="1"/>
              <a:t>docs.gitlab.com</a:t>
            </a:r>
            <a:r>
              <a:rPr lang="en-US" sz="2000" dirty="0"/>
              <a:t>/</a:t>
            </a:r>
            <a:r>
              <a:rPr lang="en-US" sz="2000" dirty="0" err="1"/>
              <a:t>ee</a:t>
            </a:r>
            <a:r>
              <a:rPr lang="en-US" sz="2000" dirty="0"/>
              <a:t>/ci/variables/</a:t>
            </a:r>
          </a:p>
        </p:txBody>
      </p:sp>
      <p:sp>
        <p:nvSpPr>
          <p:cNvPr id="1069" name="內容版面配置區 5"/>
          <p:cNvSpPr txBox="1"/>
          <p:nvPr/>
        </p:nvSpPr>
        <p:spPr>
          <a:xfrm>
            <a:off x="5370699" y="1027906"/>
            <a:ext cx="4304902" cy="420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Char char=""/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07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72" name="文字方塊 6"/>
          <p:cNvSpPr txBox="1"/>
          <p:nvPr/>
        </p:nvSpPr>
        <p:spPr>
          <a:xfrm>
            <a:off x="2240280" y="6405281"/>
            <a:ext cx="640689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Ref: https://</a:t>
            </a:r>
            <a:r>
              <a:rPr dirty="0" err="1"/>
              <a:t>docs.gitlab.com</a:t>
            </a:r>
            <a:r>
              <a:rPr dirty="0"/>
              <a:t>/</a:t>
            </a:r>
            <a:r>
              <a:rPr dirty="0" err="1"/>
              <a:t>ee</a:t>
            </a:r>
            <a:r>
              <a:rPr dirty="0"/>
              <a:t>/ci/variables/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3C6DA7-F7B1-54AC-4144-82B6F17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96998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</a:t>
            </a:r>
            <a:r>
              <a:rPr lang="en-US" dirty="0"/>
              <a:t>s</a:t>
            </a:r>
            <a:r>
              <a:rPr dirty="0"/>
              <a:t> keyword -1</a:t>
            </a:r>
          </a:p>
        </p:txBody>
      </p:sp>
      <p:sp>
        <p:nvSpPr>
          <p:cNvPr id="104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呼應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所設定，執行此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</a:p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指定此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使用何種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90000"/>
              </a:lnSpc>
              <a:defRPr sz="2900"/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script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執行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command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，每個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內必須要有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。</a:t>
            </a:r>
          </a:p>
        </p:txBody>
      </p:sp>
      <p:sp>
        <p:nvSpPr>
          <p:cNvPr id="104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84BC18F-E4CA-BEDA-7069-E96849E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39" y="2120792"/>
            <a:ext cx="5558861" cy="161166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BA19FE-3B4C-0598-9E9A-7B6EC2AF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-2</a:t>
            </a:r>
          </a:p>
        </p:txBody>
      </p:sp>
      <p:sp>
        <p:nvSpPr>
          <p:cNvPr id="10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lang="en-US" altLang="zh-TW" dirty="0"/>
              <a:t>v</a:t>
            </a:r>
            <a:r>
              <a:rPr dirty="0"/>
              <a:t>ariables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定義</a:t>
            </a:r>
            <a:r>
              <a:rPr dirty="0" err="1"/>
              <a:t>job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內的環境變數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only &amp; except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設定執行或不執行當</a:t>
            </a:r>
            <a:r>
              <a:rPr dirty="0" err="1"/>
              <a:t>branch</a:t>
            </a:r>
            <a:r>
              <a:rPr dirty="0"/>
              <a:t> name</a:t>
            </a: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tags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選擇使用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哪個</a:t>
            </a:r>
            <a:r>
              <a:rPr dirty="0" err="1"/>
              <a:t>Gitlab</a:t>
            </a:r>
            <a:r>
              <a:rPr dirty="0"/>
              <a:t> runner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EA1B79-0733-544B-3875-815BB096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49" y="2432050"/>
            <a:ext cx="3136900" cy="1993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67DB52-4233-C18A-4A4D-E2BE05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1382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-3</a:t>
            </a:r>
          </a:p>
        </p:txBody>
      </p:sp>
      <p:sp>
        <p:nvSpPr>
          <p:cNvPr id="10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a</a:t>
            </a:r>
            <a:r>
              <a:rPr dirty="0" err="1"/>
              <a:t>llow_failure</a:t>
            </a:r>
            <a:endParaRPr dirty="0"/>
          </a:p>
          <a:p>
            <a:pPr marL="742950" lvl="1" indent="-285750">
              <a:defRPr sz="2800"/>
            </a:pPr>
            <a:r>
              <a:t>允許該job failed。該job failed也不影響後續job的執行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cache</a:t>
            </a:r>
          </a:p>
          <a:p>
            <a:pPr marL="742950" lvl="1" indent="-285750">
              <a:defRPr sz="2800"/>
            </a:pP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Folder and files cache, between jobs or pipeline.</a:t>
            </a:r>
          </a:p>
        </p:txBody>
      </p:sp>
      <p:sp>
        <p:nvSpPr>
          <p:cNvPr id="10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8D4A3A-614F-890A-7090-786B2A55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87" y="2725680"/>
            <a:ext cx="3327400" cy="1866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0F7507D-7588-7A19-44E0-ED0CC69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70" y="4592580"/>
            <a:ext cx="3335886" cy="218794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13F023-D793-55F0-CB09-1D50D55E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4674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C7F1A-81A2-53B0-5F05-A3435E53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.</a:t>
            </a:r>
            <a:r>
              <a:rPr lang="en" altLang="zh-TW" dirty="0" err="1"/>
              <a:t>gitlab-ci.yml</a:t>
            </a:r>
            <a:r>
              <a:rPr lang="en" altLang="zh-TW" dirty="0"/>
              <a:t> Jobs keyword -</a:t>
            </a:r>
            <a:r>
              <a:rPr lang="en-US" altLang="zh-TW" dirty="0"/>
              <a:t>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074ED-B7D8-6E9A-6140-1562FFF9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 err="1"/>
              <a:t>before_script</a:t>
            </a:r>
            <a:r>
              <a:rPr lang="en" altLang="zh-TW" dirty="0"/>
              <a:t> and </a:t>
            </a:r>
            <a:r>
              <a:rPr lang="en" altLang="zh-TW" dirty="0" err="1"/>
              <a:t>after_script</a:t>
            </a:r>
            <a:endParaRPr lang="en" altLang="zh-TW" dirty="0"/>
          </a:p>
          <a:p>
            <a:pPr marL="742950" lvl="1" indent="-285750">
              <a:defRPr sz="2800"/>
            </a:pPr>
            <a:r>
              <a:rPr lang="en" altLang="zh-TW" dirty="0"/>
              <a:t>Job 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執行前或執行後執行。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4C6AA-957A-A555-CD21-22C4762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28" y="3075686"/>
            <a:ext cx="7772400" cy="16129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016FA-CA6F-6D65-35F4-0CA2E4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85437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project pipeline status</a:t>
            </a:r>
          </a:p>
        </p:txBody>
      </p:sp>
      <p:pic>
        <p:nvPicPr>
          <p:cNvPr id="106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1" y="2052638"/>
            <a:ext cx="7993434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D0EFAA3-5DBF-9EB2-FE97-3094A668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8002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5C1679-AE45-304D-E12D-AC6B13CF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</a:t>
            </a:r>
            <a:r>
              <a:rPr lang="en-US" altLang="zh-TW" dirty="0"/>
              <a:t> .</a:t>
            </a:r>
            <a:r>
              <a:rPr lang="en-US" altLang="zh-TW" dirty="0" err="1"/>
              <a:t>gitlab-ci.yml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78DE3-079A-2DDD-ADF2-6FCF39D9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881928-67A5-9D54-BD7D-6569023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46823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F8BD3-EC6C-4CFE-5EC6-FEDE649E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撰寫</a:t>
            </a:r>
            <a:r>
              <a:rPr kumimoji="1" lang="en-US" altLang="zh-TW" dirty="0" err="1"/>
              <a:t>gitlab-ci.yml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BE45F02-2DB5-5A20-A769-7954C772D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883" y="1825625"/>
            <a:ext cx="4260233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2599DA-C4CF-E605-FD63-D70F527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6988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158F-A6AC-C9E5-7080-A929F0E8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執行單元測試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6962A5-2247-0A8E-EDD8-9BAFB921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python:3 image</a:t>
            </a:r>
          </a:p>
          <a:p>
            <a:r>
              <a:rPr kumimoji="1" lang="zh-TW" altLang="en-US" dirty="0"/>
              <a:t>安裝所需套件</a:t>
            </a:r>
            <a:endParaRPr kumimoji="1" lang="en-US" altLang="zh-TW" dirty="0"/>
          </a:p>
          <a:p>
            <a:r>
              <a:rPr kumimoji="1" lang="zh-TW" altLang="en-US" dirty="0"/>
              <a:t>執行單元測試入口</a:t>
            </a:r>
            <a:r>
              <a:rPr kumimoji="1" lang="en-US" altLang="zh-TW" dirty="0" err="1"/>
              <a:t>test.py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67D80F-922C-69F8-8636-6F8C1AE5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1" y="3611352"/>
            <a:ext cx="7747000" cy="2273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44C94-138B-08BB-C7BC-80C29483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7537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62C9-1C98-7A48-BD2B-3020F508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查看單元測試執行結果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20E73A-3FC5-B7AC-E790-B71B99A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629" y="1690688"/>
            <a:ext cx="8137916" cy="483711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BDA1C0-D6D5-D6A2-B266-7B4C9F1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153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837C-755C-70BC-79E4-1DC2136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pipeline </a:t>
            </a:r>
            <a:r>
              <a:rPr kumimoji="1" lang="zh-TW" altLang="en-US" dirty="0"/>
              <a:t>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23DA3-F891-4CA0-BABD-4E85B99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1" y="1371074"/>
            <a:ext cx="6059373" cy="540062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06748-9565-D04C-9C19-A9289041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35386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A864C-F0FD-0A45-31B0-F406B6C0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Docker hub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image </a:t>
            </a:r>
            <a:r>
              <a:rPr kumimoji="1" lang="zh-TW" altLang="en-US" dirty="0"/>
              <a:t>上傳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F72F6-2A4A-61ED-9DA1-85056729F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42" y="1825625"/>
            <a:ext cx="7184316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496A-671C-E235-8ABB-9B71AE1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7736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1325F-9AAE-9CF2-2719-53B11D1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設定全域變數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8433B-75B0-8FA7-B411-CB468B0F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variables:</a:t>
            </a:r>
          </a:p>
          <a:p>
            <a:pPr lvl="1"/>
            <a:r>
              <a:rPr lang="en-US" altLang="zh-TW" dirty="0"/>
              <a:t>FLASKNAME: flask-$CI_COMMIT_REF_NAME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C618B-5708-77DA-199E-BD4806FF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97" y="3095429"/>
            <a:ext cx="5270500" cy="8128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397BA5-1967-CA39-0453-0DFE1C47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1408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2D376-1D36-3361-E330-D53B425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 k8s namespace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F35F174-E663-0C92-2A01-1604048C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0" y="2286794"/>
            <a:ext cx="71755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B92CE5-747E-6348-A3A8-41E0BB9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5769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38882-7DA3-9F12-ED53-CD79C17F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077E75-CF85-060F-4764-74805FBA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kubectl create namespace 動態建立</a:t>
            </a:r>
            <a:endParaRPr lang="en-US" altLang="zh-TW" dirty="0"/>
          </a:p>
          <a:p>
            <a:pPr lvl="1"/>
            <a:r>
              <a:t>kubectl create namespace $FLASKNAME --dry-run=client -o yaml | kubectl apply -f -</a:t>
            </a:r>
          </a:p>
          <a:p>
            <a:r>
              <a:t>檢查建立成果</a:t>
            </a:r>
            <a:endParaRPr lang="en-US" altLang="zh-TW" dirty="0"/>
          </a:p>
          <a:p>
            <a:pPr lvl="1"/>
            <a:r>
              <a:rPr kumimoji="1" lang="zh-TW" altLang="en-US" dirty="0"/>
              <a:t>kubectl get ns $FLASKNAME</a:t>
            </a:r>
            <a:endParaRPr kumimoji="1"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4976F-046B-EE0B-2105-68DB625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8115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2CDB-7FE5-9DE3-5138-47D50C3C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AAE54-5FC7-1454-4E45-7D07DD0F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ns 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6BAF14-F18C-7841-FA12-76AE75D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1" y="2374900"/>
            <a:ext cx="6654800" cy="4483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EE8E7-E5A8-12B6-BF7E-94E8555D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36179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03539-99D7-4B26-D490-144F969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平行並行</a:t>
            </a:r>
            <a:r>
              <a:rPr kumimoji="1" lang="en-US" altLang="zh-TW" dirty="0"/>
              <a:t>: 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k8s 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2F03-42E6-EDB6-7A63-EE8D533F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Stage </a:t>
            </a:r>
            <a:r>
              <a:rPr kumimoji="1" lang="zh-TW" altLang="en-US" dirty="0"/>
              <a:t>皆設為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：無相依性，可同時並行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1F69E-DACC-3B1F-59EA-84278752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09" y="2491023"/>
            <a:ext cx="7773945" cy="16896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950C3-AE26-C563-EEDF-61740FB4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1015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你有遇到過多環境部署的問題嗎</a:t>
            </a:r>
            <a:r>
              <a:rPr dirty="0"/>
              <a:t>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一個</a:t>
            </a:r>
            <a:r>
              <a:rPr lang="en" dirty="0"/>
              <a:t>App deployment </a:t>
            </a:r>
            <a:r>
              <a:rPr lang="en" dirty="0" err="1"/>
              <a:t>yaml</a:t>
            </a:r>
            <a:r>
              <a:rPr lang="zh-TW" altLang="en-US" dirty="0"/>
              <a:t>檔該如何部署出多套環境給不同情境 </a:t>
            </a:r>
            <a:r>
              <a:rPr lang="en-US" altLang="zh-TW" dirty="0"/>
              <a:t>(</a:t>
            </a:r>
            <a:r>
              <a:rPr lang="en" dirty="0"/>
              <a:t>e.g. dev, staging, testing, pre-prod, prod)？</a:t>
            </a:r>
          </a:p>
          <a:p>
            <a:pPr marL="0" indent="0">
              <a:buNone/>
            </a:pPr>
            <a:r>
              <a:rPr lang="zh-TW" altLang="en-US" dirty="0"/>
              <a:t>如果各個環境有需要設定不同的參數呢？</a:t>
            </a:r>
          </a:p>
          <a:p>
            <a:pPr marL="0" indent="0">
              <a:buNone/>
            </a:pPr>
            <a:r>
              <a:rPr lang="en" dirty="0"/>
              <a:t>e.g. deployment</a:t>
            </a:r>
            <a:r>
              <a:rPr lang="zh-TW" altLang="en-US" dirty="0"/>
              <a:t>名稱不同 </a:t>
            </a:r>
            <a:r>
              <a:rPr lang="en-US" altLang="zh-TW" dirty="0"/>
              <a:t>(</a:t>
            </a:r>
            <a:r>
              <a:rPr lang="en" dirty="0"/>
              <a:t>dev-</a:t>
            </a:r>
            <a:r>
              <a:rPr lang="en" dirty="0" err="1"/>
              <a:t>api</a:t>
            </a:r>
            <a:r>
              <a:rPr lang="en" dirty="0"/>
              <a:t>, staging-</a:t>
            </a:r>
            <a:r>
              <a:rPr lang="en" dirty="0" err="1"/>
              <a:t>api</a:t>
            </a:r>
            <a:r>
              <a:rPr lang="en" dirty="0"/>
              <a:t>, prod-</a:t>
            </a:r>
            <a:r>
              <a:rPr lang="en" dirty="0" err="1"/>
              <a:t>api</a:t>
            </a:r>
            <a:r>
              <a:rPr lang="en" dirty="0"/>
              <a:t>)</a:t>
            </a:r>
          </a:p>
          <a:p>
            <a:pPr marL="0" indent="0">
              <a:buNone/>
            </a:pPr>
            <a:r>
              <a:rPr lang="en" dirty="0"/>
              <a:t>image tag </a:t>
            </a:r>
            <a:r>
              <a:rPr lang="zh-TW" altLang="en-US" dirty="0"/>
              <a:t>版本不同</a:t>
            </a:r>
          </a:p>
        </p:txBody>
      </p:sp>
    </p:spTree>
    <p:extLst>
      <p:ext uri="{BB962C8B-B14F-4D97-AF65-F5344CB8AC3E}">
        <p14:creationId xmlns:p14="http://schemas.microsoft.com/office/powerpoint/2010/main" val="104958036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傳統解決辦法與痛點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寫多份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？</a:t>
            </a:r>
            <a:endParaRPr lang="en-US" dirty="0"/>
          </a:p>
          <a:p>
            <a:pPr lvl="1"/>
            <a:r>
              <a:rPr dirty="0" err="1"/>
              <a:t>需要維護多份檔案，容易遺漏且難以同步</a:t>
            </a:r>
            <a:endParaRPr lang="en-US" dirty="0"/>
          </a:p>
          <a:p>
            <a:r>
              <a:rPr dirty="0" err="1"/>
              <a:t>一份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用</a:t>
            </a:r>
            <a:r>
              <a:rPr dirty="0"/>
              <a:t> sed replace？</a:t>
            </a:r>
            <a:endParaRPr lang="en-US" dirty="0"/>
          </a:p>
          <a:p>
            <a:pPr lvl="1"/>
            <a:r>
              <a:rPr dirty="0" err="1"/>
              <a:t>容易出錯，寫法脆弱，且會修改</a:t>
            </a:r>
            <a:r>
              <a:rPr dirty="0"/>
              <a:t>/</a:t>
            </a:r>
            <a:r>
              <a:rPr dirty="0" err="1"/>
              <a:t>破壞原始檔案結構</a:t>
            </a:r>
            <a:endParaRPr lang="en-US" dirty="0"/>
          </a:p>
          <a:p>
            <a:r>
              <a:rPr dirty="0" err="1"/>
              <a:t>打包成</a:t>
            </a:r>
            <a:r>
              <a:rPr dirty="0"/>
              <a:t> Helm chart？</a:t>
            </a:r>
            <a:endParaRPr lang="en-US" dirty="0"/>
          </a:p>
          <a:p>
            <a:pPr lvl="1"/>
            <a:r>
              <a:rPr dirty="0" err="1"/>
              <a:t>學習曲線較陡，對單純的部署來說複雜度過高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9274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Kustomize 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讓無模板的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可以支援多種用途</a:t>
            </a:r>
            <a:endParaRPr dirty="0"/>
          </a:p>
          <a:p>
            <a:r>
              <a:rPr dirty="0"/>
              <a:t>CNCF special interest groups (SIGs) </a:t>
            </a:r>
            <a:r>
              <a:rPr dirty="0" err="1"/>
              <a:t>贊助</a:t>
            </a:r>
            <a:endParaRPr dirty="0"/>
          </a:p>
          <a:p>
            <a:r>
              <a:rPr dirty="0"/>
              <a:t>Kubernetes 1.14 </a:t>
            </a:r>
            <a:r>
              <a:rPr dirty="0" err="1"/>
              <a:t>版開始原生支援</a:t>
            </a:r>
            <a:r>
              <a:rPr dirty="0"/>
              <a:t> (</a:t>
            </a:r>
            <a:r>
              <a:rPr dirty="0" err="1"/>
              <a:t>kubectl</a:t>
            </a:r>
            <a:r>
              <a:rPr dirty="0"/>
              <a:t> apply -k)</a:t>
            </a:r>
          </a:p>
          <a:p>
            <a:r>
              <a:rPr dirty="0" err="1"/>
              <a:t>透過</a:t>
            </a:r>
            <a:r>
              <a:rPr dirty="0"/>
              <a:t> </a:t>
            </a:r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宣告式地動態注入或覆寫參數，不破壞原始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結構</a:t>
            </a:r>
            <a:r>
              <a:rPr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4062701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核心功能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resources: </a:t>
            </a:r>
            <a:r>
              <a:rPr dirty="0" err="1"/>
              <a:t>載入現有資源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deployment.yaml</a:t>
            </a:r>
            <a:r>
              <a:rPr dirty="0"/>
              <a:t>)</a:t>
            </a:r>
          </a:p>
          <a:p>
            <a:r>
              <a:rPr dirty="0"/>
              <a:t>generators: </a:t>
            </a:r>
            <a:r>
              <a:rPr dirty="0" err="1"/>
              <a:t>創建新資源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ConfigMap</a:t>
            </a:r>
            <a:r>
              <a:rPr dirty="0"/>
              <a:t>, Secret)</a:t>
            </a:r>
          </a:p>
          <a:p>
            <a:r>
              <a:rPr dirty="0"/>
              <a:t>images: </a:t>
            </a:r>
            <a:r>
              <a:rPr dirty="0" err="1"/>
              <a:t>動態替換</a:t>
            </a:r>
            <a:r>
              <a:rPr dirty="0"/>
              <a:t> Image </a:t>
            </a:r>
            <a:r>
              <a:rPr dirty="0" err="1"/>
              <a:t>名稱與</a:t>
            </a:r>
            <a:r>
              <a:rPr dirty="0"/>
              <a:t> Tag (CI/CD </a:t>
            </a:r>
            <a:r>
              <a:rPr dirty="0" err="1"/>
              <a:t>最常用</a:t>
            </a:r>
            <a:r>
              <a:rPr dirty="0"/>
              <a:t>！)</a:t>
            </a:r>
          </a:p>
          <a:p>
            <a:r>
              <a:rPr dirty="0" err="1"/>
              <a:t>namePrefix</a:t>
            </a:r>
            <a:r>
              <a:rPr dirty="0"/>
              <a:t> / </a:t>
            </a:r>
            <a:r>
              <a:rPr dirty="0" err="1"/>
              <a:t>nameSuffix</a:t>
            </a:r>
            <a:r>
              <a:rPr dirty="0"/>
              <a:t>: </a:t>
            </a:r>
            <a:r>
              <a:rPr dirty="0" err="1"/>
              <a:t>統一加上前綴或後綴</a:t>
            </a:r>
            <a:endParaRPr lang="en-US" dirty="0"/>
          </a:p>
          <a:p>
            <a:r>
              <a:rPr dirty="0" err="1"/>
              <a:t>commonLabels</a:t>
            </a:r>
            <a:r>
              <a:rPr dirty="0"/>
              <a:t>: </a:t>
            </a:r>
            <a:r>
              <a:rPr dirty="0" err="1"/>
              <a:t>統一加上標籤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12448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F3217-D582-6E81-C9F9-3233A92B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F6ADB-534A-DB2A-7CAE-5C9993DA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Kustomize</a:t>
            </a:r>
            <a:r>
              <a:rPr dirty="0"/>
              <a:t> (</a:t>
            </a:r>
            <a:r>
              <a:rPr dirty="0" err="1"/>
              <a:t>kustomization.yaml</a:t>
            </a:r>
            <a:r>
              <a:rPr dirty="0"/>
              <a:t>) </a:t>
            </a:r>
            <a:r>
              <a:rPr dirty="0" err="1"/>
              <a:t>動態替換</a:t>
            </a:r>
            <a:r>
              <a:rPr dirty="0"/>
              <a:t> Image Tag</a:t>
            </a:r>
            <a:endParaRPr lang="en-US" altLang="zh-TW" dirty="0"/>
          </a:p>
          <a:p>
            <a:pPr lvl="1"/>
            <a:r>
              <a:rPr dirty="0" err="1"/>
              <a:t>kubectl</a:t>
            </a:r>
            <a:r>
              <a:rPr dirty="0"/>
              <a:t> apply -k . -n $FLASKNAME</a:t>
            </a:r>
            <a:br>
              <a:rPr dirty="0"/>
            </a:br>
            <a:r>
              <a:rPr dirty="0" err="1"/>
              <a:t>動態注入變數</a:t>
            </a:r>
            <a:endParaRPr kumimoji="1"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77AE42-A1C0-18F8-6500-2C241467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156</a:t>
            </a:fld>
            <a:endParaRPr lang="zh-TW" altLang="en-US"/>
          </a:p>
        </p:txBody>
      </p:sp>
      <p:pic>
        <p:nvPicPr>
          <p:cNvPr id="8" name="圖片版面配置區 7">
            <a:extLst>
              <a:ext uri="{FF2B5EF4-FFF2-40B4-BE49-F238E27FC236}">
                <a16:creationId xmlns:a16="http://schemas.microsoft.com/office/drawing/2014/main" id="{912C4E42-8E7E-DAD6-24FC-E1BA337240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681" b="768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806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B50A-42FC-DDD2-54DD-D27BA058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 deployment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E9F3D14-1654-C625-D728-56887913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67" y="1825625"/>
            <a:ext cx="5104266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C4A81A-57D1-FDA6-BBC1-E1EACE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5354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7DCB-6AD2-B185-DB56-F9742736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F4D26-FF3E-52FC-0D45-0EA4CFA4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無需替換</a:t>
            </a:r>
            <a:endParaRPr kumimoji="1" lang="en-US" altLang="zh-TW" dirty="0"/>
          </a:p>
          <a:p>
            <a:r>
              <a:rPr kumimoji="1" lang="zh-TW" altLang="en-US" dirty="0"/>
              <a:t>部署完成用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servce</a:t>
            </a:r>
            <a:r>
              <a:rPr kumimoji="1" lang="en-US" altLang="zh-TW" dirty="0"/>
              <a:t> -n $FLASKNAME </a:t>
            </a:r>
            <a:r>
              <a:rPr kumimoji="1" lang="zh-TW" altLang="en-US" dirty="0"/>
              <a:t>資訊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3E7-3B6C-F215-AF51-1456FC4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051175"/>
            <a:ext cx="6959600" cy="34417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7C076-F14D-FED2-21D4-77D73910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6452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89D5A-AE16-860C-D72E-89CC7D61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狀態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85A0E7A-8CA8-3959-EB42-326DD34C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8" y="1825625"/>
            <a:ext cx="5147144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D138B5-F422-9419-243D-0AF0FD0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725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93024-2D29-3A52-A952-0502FAF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E5559-172C-F309-CFAE-5A29BEA8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flask-master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1CD82-4E1E-0178-832D-897E6113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77"/>
            <a:ext cx="12192000" cy="390390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09240-3F04-67FB-C006-145AC61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5592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D78F2-5DF3-3365-9C3A-16AF730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 </a:t>
            </a:r>
            <a:r>
              <a:rPr kumimoji="1" lang="zh-TW" altLang="en-US" dirty="0"/>
              <a:t>進行連線測試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5AE40-4720-FC27-17FD-6CC42325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curl 127.0.0.1:32437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3FECED-1E95-FE96-1DCD-05D9340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952750"/>
            <a:ext cx="7302500" cy="9525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2CB11-939E-8ADE-3292-F79308AD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7557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</a:p>
        </p:txBody>
      </p:sp>
      <p:sp>
        <p:nvSpPr>
          <p:cNvPr id="8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開源的程式碼品質管理系統</a:t>
            </a:r>
          </a:p>
          <a:p>
            <a:r>
              <a:t>SonarQube Server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收集數據及呈現</a:t>
            </a:r>
          </a:p>
          <a:p>
            <a:r>
              <a:t>SonarQube Runner</a:t>
            </a:r>
          </a:p>
          <a:p>
            <a:pPr marL="742950" lvl="1" indent="-285750">
              <a:defRPr sz="2800"/>
            </a:pPr>
            <a:r>
              <a:t>Agent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檢驗程式碼</a:t>
            </a:r>
          </a:p>
        </p:txBody>
      </p:sp>
      <p:sp>
        <p:nvSpPr>
          <p:cNvPr id="8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7743-941D-50C4-E7BE-6D74EEA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02047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  <a:r>
              <a:rPr lang="zh-TW" altLang="en-US" dirty="0"/>
              <a:t> </a:t>
            </a:r>
            <a:r>
              <a:rPr lang="en-US" altLang="zh-TW" dirty="0"/>
              <a:t>scan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dirty="0"/>
          </a:p>
        </p:txBody>
      </p:sp>
      <p:sp>
        <p:nvSpPr>
          <p:cNvPr id="8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E202C6E-6F07-A430-2765-06EB0012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9" y="1853525"/>
            <a:ext cx="9014259" cy="351149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60EC6C-9C9D-9600-9835-283C4F73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49889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96598-91B5-700D-E41A-008AC2F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SonarQube server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5EC46A-DF12-1A73-AE43-A7B7A832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164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5858EAD-2CF9-9535-CC99-FFD077A69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413794"/>
            <a:ext cx="9423400" cy="3175000"/>
          </a:xfrm>
        </p:spPr>
      </p:pic>
    </p:spTree>
    <p:extLst>
      <p:ext uri="{BB962C8B-B14F-4D97-AF65-F5344CB8AC3E}">
        <p14:creationId xmlns:p14="http://schemas.microsoft.com/office/powerpoint/2010/main" val="83892348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VM1 </a:t>
            </a:r>
            <a:r>
              <a:rPr lang="en-US" dirty="0" err="1">
                <a:sym typeface="Helvetica"/>
              </a:rPr>
              <a:t>上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dirty="0" err="1"/>
              <a:t>SonarQube</a:t>
            </a:r>
            <a:r>
              <a:rPr dirty="0"/>
              <a:t> Server</a:t>
            </a:r>
          </a:p>
        </p:txBody>
      </p:sp>
      <p:sp>
        <p:nvSpPr>
          <p:cNvPr id="86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docker run -</a:t>
            </a:r>
            <a:r>
              <a:rPr dirty="0" err="1"/>
              <a:t>itd</a:t>
            </a:r>
            <a:r>
              <a:rPr dirty="0"/>
              <a:t> -p 9000:9000 --restart always --name </a:t>
            </a:r>
            <a:r>
              <a:rPr dirty="0" err="1"/>
              <a:t>sonarqube</a:t>
            </a:r>
            <a:r>
              <a:rPr dirty="0"/>
              <a:t> sonarqube</a:t>
            </a:r>
            <a:r>
              <a:rPr lang="en-US" dirty="0"/>
              <a:t>:9-community</a:t>
            </a:r>
          </a:p>
          <a:p>
            <a:endParaRPr dirty="0"/>
          </a:p>
        </p:txBody>
      </p:sp>
      <p:sp>
        <p:nvSpPr>
          <p:cNvPr id="8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F88FC-376E-A65F-0020-1EAED66C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1297"/>
            <a:ext cx="9479057" cy="29160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24A3D-BCF3-C201-05D7-7E7D9942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5648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</a:t>
            </a:r>
            <a:r>
              <a:rPr dirty="0" err="1"/>
              <a:t>server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3C9BD2-90AC-04B7-D527-AEFFF487D60D}"/>
              </a:ext>
            </a:extLst>
          </p:cNvPr>
          <p:cNvSpPr txBox="1"/>
          <p:nvPr/>
        </p:nvSpPr>
        <p:spPr>
          <a:xfrm>
            <a:off x="3832260" y="1595601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}:9000/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D6815-6795-8973-4D05-9CC4DF58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58" y="2379838"/>
            <a:ext cx="7035800" cy="2336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4EB425-0C94-A443-7378-CB654FCF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7173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login</a:t>
            </a:r>
          </a:p>
        </p:txBody>
      </p:sp>
      <p:sp>
        <p:nvSpPr>
          <p:cNvPr id="87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預設帳號</a:t>
            </a:r>
            <a:r>
              <a:rPr dirty="0" err="1"/>
              <a:t>:admin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、預設密碼</a:t>
            </a:r>
            <a:r>
              <a:rPr dirty="0" err="1"/>
              <a:t>:admin</a:t>
            </a:r>
            <a:endParaRPr lang="en-US" dirty="0"/>
          </a:p>
          <a:p>
            <a:endParaRPr dirty="0"/>
          </a:p>
        </p:txBody>
      </p:sp>
      <p:sp>
        <p:nvSpPr>
          <p:cNvPr id="88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4538F4-6CB5-88EC-6C56-384F89A6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3" y="2885948"/>
            <a:ext cx="4082034" cy="240583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B88C32-A92D-CAB0-8B0C-0653440B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8824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8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91EE92-9AEB-7358-3282-7530617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6" y="1690688"/>
            <a:ext cx="7772400" cy="44461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23A9D2-3463-5076-CE51-BD7092F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83476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D58FB-52DF-B4FE-579F-3571F2E0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94F199-7B66-FEEA-0C8D-9E6AC7B1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8" y="1825625"/>
            <a:ext cx="781250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7332-88CF-8EDA-550A-C3EC7AC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59149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E052-9547-F557-3FEA-57024666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填入 </a:t>
            </a:r>
            <a:r>
              <a:rPr kumimoji="1" lang="en-US" altLang="zh-TW" dirty="0" err="1"/>
              <a:t>api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及 </a:t>
            </a:r>
            <a:r>
              <a:rPr kumimoji="1" lang="en-US" altLang="zh-TW" dirty="0"/>
              <a:t>personal access token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2E6EE6-954D-5B53-1C45-0BAE69D9B3CA}"/>
              </a:ext>
            </a:extLst>
          </p:cNvPr>
          <p:cNvSpPr txBox="1"/>
          <p:nvPr/>
        </p:nvSpPr>
        <p:spPr>
          <a:xfrm>
            <a:off x="3575407" y="1818526"/>
            <a:ext cx="43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Configuration Name: </a:t>
            </a:r>
            <a:r>
              <a:rPr kumimoji="1" lang="en" altLang="zh-TW" dirty="0" err="1"/>
              <a:t>gitlab</a:t>
            </a:r>
            <a:br>
              <a:rPr kumimoji="1" lang="en" altLang="zh-TW" dirty="0"/>
            </a:br>
            <a:r>
              <a:rPr kumimoji="1" lang="en" altLang="zh-TW" dirty="0"/>
              <a:t>GitLab API URL: https://{VM1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/v4</a:t>
            </a:r>
            <a:endParaRPr kumimoji="1"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E17C22-B442-7F2C-141F-E6A3B142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47" y="2543175"/>
            <a:ext cx="5283200" cy="39497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45F1D5-F1DF-D4F6-041B-E34BB92A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5614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244A4-43FD-939A-867C-C9894BDB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GitLab personal access token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021D7-6222-3426-A89D-4FACD3BC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Token</a:t>
            </a:r>
            <a:r>
              <a:rPr lang="zh-TW" altLang="en-US" dirty="0">
                <a:solidFill>
                  <a:schemeClr val="tx1"/>
                </a:solidFill>
              </a:rPr>
              <a:t>等同於擁有這個帳號的權限。但比密碼更佳的時候可以設定授權範圍與時效。並且隨時可以終止授權。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A6AC0-E9A2-623D-C3A3-33819102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53186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989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/>
              <a:t>gitlab</a:t>
            </a:r>
            <a:r>
              <a:rPr dirty="0"/>
              <a:t> user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產生</a:t>
            </a:r>
            <a:r>
              <a:rPr dirty="0" err="1"/>
              <a:t>Access</a:t>
            </a:r>
            <a:r>
              <a:rPr dirty="0"/>
              <a:t> token - 1</a:t>
            </a:r>
          </a:p>
        </p:txBody>
      </p:sp>
      <p:sp>
        <p:nvSpPr>
          <p:cNvPr id="753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8AAEAE-68A1-2928-8F25-62DF63B7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2" y="1920575"/>
            <a:ext cx="4020407" cy="351077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14D389-66A1-0AD3-EDC1-B222E3B5B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1" y="2248850"/>
            <a:ext cx="7272495" cy="31156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DB9A28-A297-CF3D-125E-E13EACD2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8867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設定此</a:t>
            </a:r>
            <a:r>
              <a:rPr dirty="0" err="1"/>
              <a:t>token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權限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0EB0F3-C56A-0A93-D82D-CBA261321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46" y="1592104"/>
            <a:ext cx="8384190" cy="48628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3A5033-AD01-91F6-4F3C-0DCB446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577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標題 1"/>
          <p:cNvSpPr txBox="1">
            <a:spLocks noGrp="1"/>
          </p:cNvSpPr>
          <p:nvPr>
            <p:ph type="title"/>
          </p:nvPr>
        </p:nvSpPr>
        <p:spPr>
          <a:xfrm>
            <a:off x="838200" y="429358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把</a:t>
            </a:r>
            <a:r>
              <a:rPr dirty="0" err="1"/>
              <a:t>token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另存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9DD1AA-3E0C-9C44-0F86-97A9F503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3100"/>
            <a:ext cx="9408324" cy="37328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E1A7B5F-8EFD-AB49-B028-912220C81DE2}"/>
              </a:ext>
            </a:extLst>
          </p:cNvPr>
          <p:cNvSpPr txBox="1"/>
          <p:nvPr/>
        </p:nvSpPr>
        <p:spPr>
          <a:xfrm>
            <a:off x="8647852" y="2828836"/>
            <a:ext cx="32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這把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等同於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root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帳號的密碼，為了安全，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gitlab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不會保存這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．如果遺失就需要重新申請．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6F5C4-477B-7E3D-968F-A352A3F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1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88620">
              <a:defRPr sz="3570"/>
            </a:pPr>
            <a:r>
              <a:rPr lang="en-US" dirty="0"/>
              <a:t>(GitLab)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得到</a:t>
            </a:r>
            <a:r>
              <a:rPr dirty="0" err="1"/>
              <a:t>token</a:t>
            </a:r>
            <a:br>
              <a:rPr dirty="0"/>
            </a:br>
            <a:endParaRPr dirty="0"/>
          </a:p>
        </p:txBody>
      </p:sp>
      <p:sp>
        <p:nvSpPr>
          <p:cNvPr id="7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E2E525-B12F-BAA8-D60F-68DB6914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7" y="1212841"/>
            <a:ext cx="11816153" cy="470507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42103D-35FF-FDE2-7B03-FC8DA2A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6295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2D665-AF58-F540-6CB5-59AD7E9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Personal Access Token</a:t>
            </a:r>
            <a:r>
              <a:rPr kumimoji="1" lang="zh-TW" altLang="en-US" dirty="0"/>
              <a:t>也填上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5585FD-0AA9-9DCD-B1B7-601287EB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61" y="1825625"/>
            <a:ext cx="696007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FC68D4-F07A-3E42-DB00-09C83A1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17471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A8072-2F6E-BF87-FDCE-A95D95F2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SonarQube </a:t>
            </a:r>
            <a:r>
              <a:rPr kumimoji="1" lang="zh-TW" altLang="en-US" dirty="0"/>
              <a:t>能夠取得</a:t>
            </a:r>
            <a:r>
              <a:rPr kumimoji="1" lang="en-US" altLang="zh-TW" dirty="0"/>
              <a:t>Gitlab repo</a:t>
            </a:r>
            <a:r>
              <a:rPr kumimoji="1" lang="zh-TW" altLang="en-US" dirty="0"/>
              <a:t>資訊，點擊</a:t>
            </a:r>
            <a:r>
              <a:rPr kumimoji="1" lang="en-US" altLang="zh-TW" dirty="0"/>
              <a:t>Set up</a:t>
            </a:r>
            <a:r>
              <a:rPr kumimoji="1" lang="zh-TW" altLang="en-US" dirty="0"/>
              <a:t>作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串接設定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6D1EAF-2826-ED1A-6712-E30815A7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0" y="2318544"/>
            <a:ext cx="10198100" cy="3365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BC96-B420-B29C-BACA-154BD1F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4267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4E2F-74A8-D009-0B7C-74612843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選擇使用</a:t>
            </a:r>
            <a:r>
              <a:rPr kumimoji="1" lang="en-US" altLang="zh-TW" dirty="0"/>
              <a:t>GitLab CI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89B927-324E-57F5-E80A-4084D2988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92" y="1825625"/>
            <a:ext cx="8224815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350930-9A5F-5947-828E-6BE1A65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2197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106C5-A7B1-6107-9ECF-87C4F06C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/>
              <a:t>Python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4D08C-4894-D59E-5017-F1A0A3F7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36" y="1825625"/>
            <a:ext cx="591452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4FE78-9446-EF5D-E466-E1675153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41997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20B07-875C-69A8-392D-0D5FC2A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17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保存</a:t>
            </a:r>
            <a:r>
              <a:rPr kumimoji="1"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337229-9547-3114-9A39-006930BBA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14" y="1825625"/>
            <a:ext cx="8865971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4B0DA0-37A1-36C1-BF88-DE176639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9017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83242-DE60-7EF2-DB24-9D03191B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/>
              <a:t>Docker 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 repo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5BC7E8-327A-D055-90EA-E095E8C4A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767"/>
            <a:ext cx="10515600" cy="300105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B17BD6-696A-EA48-238B-88B52C58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14172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85A0-1554-E775-C32F-133817FF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編輯</a:t>
            </a:r>
            <a:r>
              <a:rPr kumimoji="1" lang="en-US" altLang="zh-TW" dirty="0"/>
              <a:t>git repo</a:t>
            </a:r>
            <a:r>
              <a:rPr kumimoji="1" lang="zh-TW" altLang="en-US" dirty="0"/>
              <a:t>裡的</a:t>
            </a:r>
            <a:r>
              <a:rPr lang="en-US" altLang="zh-TW" dirty="0"/>
              <a:t>sonar-</a:t>
            </a:r>
            <a:r>
              <a:rPr lang="en-US" altLang="zh-TW" dirty="0" err="1"/>
              <a:t>project.properties</a:t>
            </a:r>
            <a:r>
              <a:rPr lang="zh-TW" altLang="en-US" dirty="0"/>
              <a:t>檔案，替換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56FDB84-398E-20D3-B013-2C5A7159B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806"/>
            <a:ext cx="10515600" cy="33029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CE926A-E0E7-867A-1C47-0A719895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0424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99F40-6218-EDF3-8DA2-A1A1CB1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F89B98-FE8B-505D-97D2-15DD70E0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559844"/>
            <a:ext cx="10134600" cy="2882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460991-2585-E476-3FFD-50001713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310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EB31-6C56-F8BE-2FB1-51F153E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至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 CI/CD </a:t>
            </a:r>
            <a:r>
              <a:rPr kumimoji="1" lang="zh-TW" altLang="en-US" dirty="0"/>
              <a:t>新增變數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315CDF-89B5-4984-2D0F-F25ED1AC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70" y="1825625"/>
            <a:ext cx="772085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56EE4D-2927-9BC6-1C67-BBBEE96C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18515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76F06-34CB-E10C-CF4F-D51E6063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繼續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E28907-BF3E-D507-14B9-E69B6BD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650" y="3994944"/>
            <a:ext cx="12700" cy="12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A89AC4-297C-A51E-B5A3-2C594363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35" y="2275568"/>
            <a:ext cx="7772400" cy="380688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707814-4744-7394-4F45-CEB36A3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11901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C8EE7-C116-24DB-EC34-7DE471B6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493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點擊</a:t>
            </a:r>
            <a:r>
              <a:rPr kumimoji="1" lang="en-US" altLang="zh-TW" dirty="0"/>
              <a:t>Generate a token </a:t>
            </a:r>
            <a:r>
              <a:rPr kumimoji="1" lang="zh-TW" altLang="en-US" dirty="0"/>
              <a:t>產生一筆</a:t>
            </a:r>
            <a:r>
              <a:rPr kumimoji="1" lang="en-US" altLang="zh-TW" dirty="0"/>
              <a:t>SonarQube 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B9C7-B2EB-92F5-B2D5-D464C544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記錄下</a:t>
            </a:r>
            <a:r>
              <a:rPr lang="en-US" altLang="zh-TW" dirty="0"/>
              <a:t>SonarQube token </a:t>
            </a:r>
            <a:r>
              <a:rPr lang="zh-TW" altLang="en-US" dirty="0"/>
              <a:t>與 </a:t>
            </a:r>
            <a:r>
              <a:rPr lang="en-US" altLang="zh-TW" dirty="0"/>
              <a:t>SONAR_HOST_URL key and value</a:t>
            </a:r>
            <a:r>
              <a:rPr lang="zh-TW" altLang="en-US" dirty="0"/>
              <a:t>，把他設定進</a:t>
            </a:r>
            <a:r>
              <a:rPr lang="en-US" altLang="zh-TW" dirty="0"/>
              <a:t>GitLab repo variable</a:t>
            </a:r>
            <a:r>
              <a:rPr lang="zh-TW" altLang="en-US" dirty="0"/>
              <a:t>裡</a:t>
            </a:r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524F09-3917-8FB7-A1BD-1B8493AF0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769" y="2716779"/>
            <a:ext cx="6622181" cy="400117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A0301-F6CD-B19B-4F28-D615A68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9673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DC273-7206-A7D9-7BB6-155CA826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產生一把無期限的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13A353-16B7-94B4-AC4D-EBB9CA8D1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848644"/>
            <a:ext cx="8788400" cy="43053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777FAF-A665-2A98-E712-A5E3747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932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34A66-042F-659D-97CA-481FDD99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保存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F523CA-3A8B-FDEF-F1A7-4FD1B4D46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753" y="1389093"/>
            <a:ext cx="9163544" cy="519664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9B6AB6-F32A-82ED-15AA-770F8B9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45813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35583-1B0B-440E-8B83-467E833E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200" dirty="0"/>
              <a:t>回到</a:t>
            </a:r>
            <a:r>
              <a:rPr kumimoji="1" lang="en-US" altLang="zh-TW" sz="3200" dirty="0" err="1"/>
              <a:t>gitlab</a:t>
            </a:r>
            <a:r>
              <a:rPr kumimoji="1" lang="en-US" altLang="zh-TW" sz="3200" dirty="0"/>
              <a:t> ci/cd variable</a:t>
            </a:r>
            <a:r>
              <a:rPr kumimoji="1" lang="zh-TW" altLang="en-US" sz="3200" dirty="0"/>
              <a:t>，設定</a:t>
            </a:r>
            <a:r>
              <a:rPr kumimoji="1" lang="en-US" altLang="zh-TW" sz="3200" dirty="0"/>
              <a:t>SONAR_TOKEN </a:t>
            </a:r>
            <a:r>
              <a:rPr kumimoji="1" lang="zh-TW" altLang="en-US" sz="3200" dirty="0"/>
              <a:t>與 </a:t>
            </a:r>
            <a:r>
              <a:rPr kumimoji="1" lang="en-US" altLang="zh-TW" sz="3200" dirty="0"/>
              <a:t>SONAR_HOST_URL </a:t>
            </a:r>
            <a:r>
              <a:rPr kumimoji="1" lang="zh-TW" altLang="en-US" sz="3200" dirty="0"/>
              <a:t>兩個變數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20DB53-0B8A-2111-E5C5-BC08F2D3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236" y="1777936"/>
            <a:ext cx="6987069" cy="49435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465715-091F-F2EA-EA07-E6D3183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2946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A8DF-E088-D2DF-7D8D-0FC43810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Gitlab/Settings/CICD/Variables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4FB1EC-FB6E-8CA0-B3AF-B10F0448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6" y="1825625"/>
            <a:ext cx="887220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0EC0E-823B-833D-ED79-C9F64A8C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5181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2F0E2-3505-AD70-967B-4BCA4F16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(GitLab)</a:t>
            </a:r>
            <a:r>
              <a:rPr lang="zh-TW" altLang="en-US" dirty="0"/>
              <a:t> 設定變數</a:t>
            </a:r>
            <a:r>
              <a:rPr lang="en-US" altLang="zh-TW" dirty="0"/>
              <a:t>SONAR_HOST_URL: http://{VM1 </a:t>
            </a:r>
            <a:r>
              <a:rPr lang="zh-TW" altLang="en-US" dirty="0"/>
              <a:t>外部</a:t>
            </a:r>
            <a:r>
              <a:rPr lang="en-US" altLang="zh-TW" dirty="0"/>
              <a:t> IP}:9000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7787D-F9BB-108F-5356-EDF461C9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437336-5618-E1A7-523B-99C40A4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74" y="1181529"/>
            <a:ext cx="2396305" cy="55487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D3A83-133B-AC6E-48D3-BEBFA85F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3413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39F58-E013-9D5E-7911-61C2F9F4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設定變數 </a:t>
            </a:r>
            <a:r>
              <a:rPr kumimoji="1" lang="en-US" altLang="zh-TW" dirty="0"/>
              <a:t>SONAR_TOKEN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C0A9AD-1757-05ED-F6AB-2F123FBBB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71" y="212120"/>
            <a:ext cx="2631991" cy="643375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B79326-3CEB-14CF-B58E-9C2316BA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9342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54B0E-597A-3B7D-BB30-4B7F610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變數檢查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893144C-3AFD-6E36-2C78-A496227C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30" y="1310544"/>
            <a:ext cx="11754739" cy="466901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D787B-789C-A5AD-1198-3458348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26167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BF202-5C1D-6EB4-741E-793F2F48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CICD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sonar</a:t>
            </a:r>
            <a:r>
              <a:rPr kumimoji="1" lang="zh-TW" altLang="en-US" dirty="0"/>
              <a:t>串接完成．後續只要開始</a:t>
            </a:r>
            <a:r>
              <a:rPr kumimoji="1" lang="en-US" altLang="zh-TW" dirty="0"/>
              <a:t>commit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pipeline</a:t>
            </a:r>
            <a:r>
              <a:rPr kumimoji="1" lang="zh-TW" altLang="en-US" dirty="0"/>
              <a:t>就會開始執行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24DDE1-F9AF-2256-41D6-354365288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515"/>
            <a:ext cx="10515600" cy="413155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B0FB6D-88A8-1DDA-3097-BB7D31E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9406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464B-1E28-7D58-8FE2-A837BFBF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New pipeline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08BC59-647C-CA76-14F4-E5AD2B5C2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154"/>
            <a:ext cx="10515600" cy="35482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2D7DE1-8039-33BC-E6BA-2229E214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8173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A60F7-0038-7BEF-4FE3-E537681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Pipeline 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</a:t>
            </a:r>
            <a:r>
              <a:rPr kumimoji="1" lang="zh-TW" altLang="en-US" dirty="0"/>
              <a:t> 狀態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A437E0-9CDD-4470-AA4A-87DABE9D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089"/>
            <a:ext cx="10515600" cy="39404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BF93-4F47-8264-BE74-B37B6D3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2772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8370-35B8-5E66-3742-7553A0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 job</a:t>
            </a:r>
            <a:r>
              <a:rPr kumimoji="1" lang="zh-TW" altLang="en-US" dirty="0"/>
              <a:t>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842C08-6F04-CF4A-8CAC-20222D00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197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3E4F58E-EB77-E5E7-DB5D-BD1304CB5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388394"/>
            <a:ext cx="9423400" cy="3225800"/>
          </a:xfrm>
        </p:spPr>
      </p:pic>
    </p:spTree>
    <p:extLst>
      <p:ext uri="{BB962C8B-B14F-4D97-AF65-F5344CB8AC3E}">
        <p14:creationId xmlns:p14="http://schemas.microsoft.com/office/powerpoint/2010/main" val="216685731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D65E-36BE-D37B-E76E-F6421C5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 job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B69C2F6-1695-08A4-0E6A-FD0926645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561" y="1825625"/>
            <a:ext cx="782687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B9E1C-DADB-CB28-FBB5-08CBBAE4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74113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D45CE-AF0E-CCB0-B494-5F640648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 掃描運行情況</a:t>
            </a: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BAB029E-10BA-CEBB-6D5A-F6A8709E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4" y="1432211"/>
            <a:ext cx="8986180" cy="528926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193685-7982-286B-CFE5-FC95E21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9915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SonarQube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報告檢視</a:t>
            </a:r>
          </a:p>
        </p:txBody>
      </p:sp>
      <p:sp>
        <p:nvSpPr>
          <p:cNvPr id="90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6D0DB0-FD13-3A8C-C402-F41EE09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04" y="1493520"/>
            <a:ext cx="7772400" cy="497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DAFCA7-8FA1-61F3-0F6E-3ECEA102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05617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C7E-86B4-D1BB-E4BE-3B859B5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build and push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32E407-CBA1-6E28-D4A4-09D9EEF35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900" y="2661444"/>
            <a:ext cx="8966200" cy="2679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B0C7F0-BA1F-491B-6C61-E2F49D1E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88278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F3C963-652A-70DF-CF65-7DAE4334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附錄Ａ：如何在</a:t>
            </a:r>
            <a:r>
              <a:rPr lang="en-US" altLang="zh-TW" dirty="0"/>
              <a:t>putty </a:t>
            </a:r>
            <a:r>
              <a:rPr lang="zh-TW" altLang="en-US" dirty="0"/>
              <a:t>使用</a:t>
            </a:r>
            <a:r>
              <a:rPr lang="en-US" altLang="zh-TW" dirty="0" err="1"/>
              <a:t>ssh</a:t>
            </a:r>
            <a:r>
              <a:rPr lang="en-US" altLang="zh-TW" dirty="0"/>
              <a:t> key </a:t>
            </a:r>
            <a:r>
              <a:rPr lang="zh-TW" altLang="en-US" dirty="0"/>
              <a:t>登入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0077B7-D79E-ADE2-9E02-D5B52604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568323-D1FE-9B99-DA26-2D0E03A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42060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圖片 10" descr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31" y="2036442"/>
            <a:ext cx="4157084" cy="414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下載</a:t>
            </a:r>
            <a:r>
              <a:rPr dirty="0" err="1"/>
              <a:t>Putty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，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填入</a:t>
            </a:r>
            <a:r>
              <a:rPr dirty="0" err="1"/>
              <a:t>id@ip</a:t>
            </a:r>
            <a:endParaRPr dirty="0"/>
          </a:p>
        </p:txBody>
      </p:sp>
      <p:sp>
        <p:nvSpPr>
          <p:cNvPr id="1076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78" name="向右箭號 5"/>
          <p:cNvSpPr/>
          <p:nvPr/>
        </p:nvSpPr>
        <p:spPr>
          <a:xfrm>
            <a:off x="2920655" y="2572571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" name="向右箭號 6"/>
          <p:cNvSpPr/>
          <p:nvPr/>
        </p:nvSpPr>
        <p:spPr>
          <a:xfrm>
            <a:off x="4369129" y="3130920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54FC32-2623-B329-A267-6B65988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04111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左邊</a:t>
            </a:r>
            <a:r>
              <a:rPr dirty="0" err="1"/>
              <a:t>Connectopn</a:t>
            </a:r>
            <a:r>
              <a:rPr dirty="0"/>
              <a:t>/SSH/Auth</a:t>
            </a:r>
          </a:p>
        </p:txBody>
      </p:sp>
      <p:pic>
        <p:nvPicPr>
          <p:cNvPr id="1082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83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85" name="向右箭號 5"/>
          <p:cNvSpPr/>
          <p:nvPr/>
        </p:nvSpPr>
        <p:spPr>
          <a:xfrm>
            <a:off x="288828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向右箭號 7"/>
          <p:cNvSpPr/>
          <p:nvPr/>
        </p:nvSpPr>
        <p:spPr>
          <a:xfrm>
            <a:off x="3042604" y="489146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7" name="向右箭號 9"/>
          <p:cNvSpPr/>
          <p:nvPr/>
        </p:nvSpPr>
        <p:spPr>
          <a:xfrm>
            <a:off x="3163416" y="5454384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421005-42F3-CC4C-CC3F-D987E30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3276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 err="1"/>
              <a:t>Private</a:t>
            </a:r>
            <a:r>
              <a:rPr dirty="0"/>
              <a:t> key file auth</a:t>
            </a:r>
          </a:p>
        </p:txBody>
      </p:sp>
      <p:pic>
        <p:nvPicPr>
          <p:cNvPr id="109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91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93" name="向右箭號 5"/>
          <p:cNvSpPr/>
          <p:nvPr/>
        </p:nvSpPr>
        <p:spPr>
          <a:xfrm>
            <a:off x="4385312" y="477360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向右箭號 7"/>
          <p:cNvSpPr/>
          <p:nvPr/>
        </p:nvSpPr>
        <p:spPr>
          <a:xfrm>
            <a:off x="292874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向右箭號 8"/>
          <p:cNvSpPr/>
          <p:nvPr/>
        </p:nvSpPr>
        <p:spPr>
          <a:xfrm>
            <a:off x="3042036" y="490237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6" name="向右箭號 9"/>
          <p:cNvSpPr/>
          <p:nvPr/>
        </p:nvSpPr>
        <p:spPr>
          <a:xfrm>
            <a:off x="3163416" y="544521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80A58-1650-10A5-8538-2833F474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6363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/>
              <a:t>k8s.ppk</a:t>
            </a:r>
          </a:p>
        </p:txBody>
      </p:sp>
      <p:pic>
        <p:nvPicPr>
          <p:cNvPr id="1099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12" y="2052638"/>
            <a:ext cx="555495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5094E3-88B7-0D79-88A2-DB9DF63C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67009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即可登入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104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8" y="2321718"/>
            <a:ext cx="62865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579F13-6700-073A-503D-6C2746B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96003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EA47B-E721-BAF2-E5E6-FD032ECA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lang="en" altLang="zh-TW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lang="en" altLang="zh-TW" dirty="0">
                <a:sym typeface="Helvetica"/>
              </a:rPr>
              <a:t> </a:t>
            </a:r>
            <a:r>
              <a:rPr lang="en" altLang="zh-TW" dirty="0" err="1">
                <a:sym typeface="Helvetica"/>
              </a:rPr>
              <a:t>dockerfile</a:t>
            </a:r>
            <a:r>
              <a:rPr lang="zh-TW" altLang="en-US" dirty="0">
                <a:sym typeface="Helvetica"/>
              </a:rPr>
              <a:t> </a:t>
            </a:r>
            <a:r>
              <a:rPr lang="en-US" altLang="zh-TW" dirty="0">
                <a:sym typeface="Helvetica"/>
              </a:rPr>
              <a:t>keyword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2136A6-797F-3C04-BF6D-033362FB3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212A99D-C45C-3153-09F2-D687C41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74260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A717C-654E-66C3-9FB0-58802AC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217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CC173-8011-F485-2BF6-84DDCC09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06268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C8585-8E2D-59CD-97F9-6B77BEB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49319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EBA55-E62C-CF6A-FE92-508B9E3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3730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EXPOSE</a:t>
            </a:r>
            <a:r>
              <a:rPr lang="zh-TW" altLang="en-US" dirty="0"/>
              <a:t> </a:t>
            </a:r>
            <a:r>
              <a:rPr lang="en-US" altLang="zh-TW" dirty="0"/>
              <a:t>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/>
              <a:t>宣告</a:t>
            </a:r>
            <a:r>
              <a:rPr lang="en-US" altLang="zh-CN" dirty="0"/>
              <a:t>Docker </a:t>
            </a:r>
            <a:r>
              <a:rPr lang="zh-CN" altLang="en-US" dirty="0"/>
              <a:t>對外提供哪些</a:t>
            </a:r>
            <a:r>
              <a:rPr lang="en-US" altLang="zh-CN" dirty="0"/>
              <a:t>port</a:t>
            </a:r>
            <a:endParaRPr lang="en-US" altLang="zh-TW" dirty="0"/>
          </a:p>
          <a:p>
            <a:pPr lvl="1"/>
            <a:r>
              <a:rPr lang="en-US" altLang="zh-TW" dirty="0"/>
              <a:t>EXPOSE &lt;port&gt; [&lt;port&gt;/&lt;protocol&gt;...]</a:t>
            </a:r>
          </a:p>
          <a:p>
            <a:pPr lvl="1"/>
            <a:r>
              <a:rPr lang="zh-CN" altLang="en-US" dirty="0"/>
              <a:t>預設為</a:t>
            </a:r>
            <a:r>
              <a:rPr lang="en-US" altLang="zh-TW" dirty="0"/>
              <a:t> TCP port</a:t>
            </a:r>
          </a:p>
          <a:p>
            <a:pPr lvl="2"/>
            <a:r>
              <a:rPr lang="en-US" altLang="zh-TW" dirty="0"/>
              <a:t>Ex: EXPOSE 80/TCP</a:t>
            </a:r>
          </a:p>
          <a:p>
            <a:pPr lvl="2"/>
            <a:r>
              <a:rPr lang="en-US" altLang="zh-TW" dirty="0"/>
              <a:t>Ex: EXPOSE 8000/UDP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</a:t>
            </a:r>
          </a:p>
          <a:p>
            <a:pPr lvl="2"/>
            <a:r>
              <a:rPr lang="en-US" altLang="zh-TW" dirty="0"/>
              <a:t>docker run -p 80:80 -p 443:443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21FC5-B632-2F9F-8C5B-DA71B645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02120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VOLUME 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local</a:t>
            </a:r>
            <a:r>
              <a:rPr lang="zh-TW" altLang="en-US" dirty="0"/>
              <a:t>端建立</a:t>
            </a:r>
            <a:r>
              <a:rPr lang="en-US" altLang="zh-TW" dirty="0"/>
              <a:t>volume</a:t>
            </a:r>
            <a:r>
              <a:rPr lang="zh-TW" altLang="en-US" dirty="0"/>
              <a:t>，並接到</a:t>
            </a:r>
            <a:r>
              <a:rPr lang="en-US" altLang="zh-TW" dirty="0"/>
              <a:t>container</a:t>
            </a:r>
            <a:r>
              <a:rPr lang="zh-TW" altLang="en-US" dirty="0"/>
              <a:t>內的 </a:t>
            </a:r>
            <a:r>
              <a:rPr lang="en-US" altLang="zh-TW" dirty="0"/>
              <a:t>/volume1 </a:t>
            </a:r>
          </a:p>
          <a:p>
            <a:pPr lvl="1"/>
            <a:r>
              <a:rPr lang="en-US" altLang="zh-TW" dirty="0"/>
              <a:t>VOLUME [“/volume1”] </a:t>
            </a:r>
          </a:p>
          <a:p>
            <a:pPr lvl="1"/>
            <a:r>
              <a:rPr lang="en-US" altLang="zh-TW" dirty="0"/>
              <a:t>VOLUME [“/volume1”, “/volume2” …..]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060B6-D592-A6DC-CD30-3D7AF45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50652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BD93-BBAD-A7BA-9D4A-2E4A6C04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16679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E6171-0BD2-D26C-2BA5-39A227BE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0225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B23A74-837E-257D-3279-F3D01901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C: </a:t>
            </a:r>
            <a:r>
              <a:rPr lang="en-US" altLang="zh-TW" dirty="0" err="1"/>
              <a:t>dockerfile</a:t>
            </a:r>
            <a:r>
              <a:rPr lang="en-US" altLang="zh-TW" dirty="0"/>
              <a:t> </a:t>
            </a:r>
            <a:r>
              <a:rPr kumimoji="1" lang="en-US" altLang="zh-TW" dirty="0"/>
              <a:t>multi-stage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CCC6A-80E8-31F0-ACA9-E20E3D09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F0C8C3-191A-4EDE-00A7-B9685FB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2113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 </a:t>
            </a:r>
            <a:r>
              <a:rPr kumimoji="1" lang="en-US" altLang="zh-CN" dirty="0"/>
              <a:t>(docker 17.05</a:t>
            </a:r>
            <a:r>
              <a:rPr kumimoji="1" lang="zh-CN" altLang="en-US" dirty="0"/>
              <a:t>以後版本</a:t>
            </a:r>
            <a:r>
              <a:rPr kumimoji="1" lang="en-US" altLang="zh-CN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CN" altLang="en-US" dirty="0"/>
              <a:t>可以執行多個</a:t>
            </a:r>
            <a:r>
              <a:rPr kumimoji="1" lang="en-US" altLang="zh-CN" dirty="0"/>
              <a:t>stage</a:t>
            </a:r>
          </a:p>
          <a:p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stage </a:t>
            </a:r>
            <a:r>
              <a:rPr kumimoji="1" lang="zh-CN" altLang="en-US" dirty="0"/>
              <a:t>或</a:t>
            </a:r>
            <a:r>
              <a:rPr kumimoji="1" lang="zh-TW" altLang="en-US" dirty="0"/>
              <a:t> </a:t>
            </a:r>
            <a:r>
              <a:rPr kumimoji="1" lang="en-US" altLang="zh-TW" dirty="0"/>
              <a:t>image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DDD6C-0AEA-EB77-D23A-7BB9FAF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44276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/>
              <a:t>FROM gradle:7.6.0-jdk8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71FB-ED9F-A757-76E6-68C692B3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0691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docker build . --tag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0CCDE4-7629-5A18-C419-2109F46A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8" y="2310108"/>
            <a:ext cx="6608542" cy="42002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9495-7553-CF27-45E3-1BCB2D24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20372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E6F6F-594E-5EED-CDD8-ADEBB089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 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82DE6-FC8D-F671-83E6-868E6F5CD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28D572-B53D-1524-0873-3EF7E39A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994"/>
            <a:ext cx="12192000" cy="3770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5576F4-7F2F-A65B-6761-0AB80478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2" y="4747918"/>
            <a:ext cx="12192000" cy="51812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92E3BD-D4A9-7CAC-931D-0875587F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244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69FD0-BEBB-6364-F665-10F295F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3449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87915D9-63BD-0E4E-97C9-53B5DA26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D: Helm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5D65CD-9B14-8646-AFFD-80F6FE7D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FDEDCBD-71AC-01BC-496D-E50AB36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56116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03BC9-8DA6-7E45-8F56-E26BFAA9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726066-FEFB-184E-8141-AC8F3025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Kubernetes</a:t>
            </a:r>
            <a:r>
              <a:rPr kumimoji="1" lang="zh-TW" altLang="en-US" dirty="0"/>
              <a:t>套件管理工具</a:t>
            </a:r>
            <a:r>
              <a:rPr kumimoji="1" lang="en-US" altLang="zh-TW" dirty="0"/>
              <a:t> (</a:t>
            </a:r>
            <a:r>
              <a:rPr kumimoji="1" lang="zh-TW" altLang="en-US" dirty="0"/>
              <a:t>類似</a:t>
            </a:r>
            <a:r>
              <a:rPr kumimoji="1" lang="en-US" altLang="zh-TW" dirty="0"/>
              <a:t>: Yum RPM, Apt </a:t>
            </a:r>
            <a:r>
              <a:rPr kumimoji="1" lang="en-US" altLang="zh-TW" dirty="0" err="1"/>
              <a:t>dpkg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角色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Chart</a:t>
            </a:r>
          </a:p>
          <a:p>
            <a:pPr lvl="2"/>
            <a:r>
              <a:rPr kumimoji="1" lang="zh-CN" altLang="en-US" dirty="0"/>
              <a:t>安裝、部署包</a:t>
            </a:r>
            <a:r>
              <a:rPr kumimoji="1" lang="en-US" altLang="zh-CN" dirty="0"/>
              <a:t> (package)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Repository</a:t>
            </a:r>
          </a:p>
          <a:p>
            <a:pPr lvl="2"/>
            <a:r>
              <a:rPr kumimoji="1" lang="zh-CN" altLang="en-US" dirty="0"/>
              <a:t>套件倉庫</a:t>
            </a:r>
            <a:r>
              <a:rPr kumimoji="1" lang="en-US" altLang="zh-CN" dirty="0"/>
              <a:t> (package server)</a:t>
            </a:r>
            <a:r>
              <a:rPr kumimoji="1" lang="zh-CN" altLang="en-US" dirty="0"/>
              <a:t>，供</a:t>
            </a:r>
            <a:r>
              <a:rPr kumimoji="1" lang="en-US" altLang="zh-CN" dirty="0"/>
              <a:t>H</a:t>
            </a:r>
            <a:r>
              <a:rPr kumimoji="1" lang="en-US" altLang="zh-TW" dirty="0"/>
              <a:t>elm</a:t>
            </a:r>
            <a:r>
              <a:rPr kumimoji="1" lang="zh-CN" altLang="en-US" dirty="0"/>
              <a:t>取用套件進行安裝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Command: helm repo</a:t>
            </a:r>
          </a:p>
          <a:p>
            <a:pPr lvl="1"/>
            <a:r>
              <a:rPr kumimoji="1" lang="en-US" altLang="zh-CN" dirty="0"/>
              <a:t>Release</a:t>
            </a:r>
          </a:p>
          <a:p>
            <a:pPr lvl="2"/>
            <a:r>
              <a:rPr kumimoji="1" lang="zh-CN" altLang="en-US" dirty="0"/>
              <a:t>經由</a:t>
            </a:r>
            <a:r>
              <a:rPr kumimoji="1" lang="en-US" altLang="zh-CN" dirty="0"/>
              <a:t>Helm</a:t>
            </a:r>
            <a:r>
              <a:rPr kumimoji="1" lang="zh-CN" altLang="en-US" dirty="0"/>
              <a:t>所部署至</a:t>
            </a:r>
            <a:r>
              <a:rPr kumimoji="1" lang="en-US" altLang="zh-TW" dirty="0"/>
              <a:t>k8s</a:t>
            </a:r>
            <a:r>
              <a:rPr kumimoji="1" lang="zh-TW" altLang="en-US" dirty="0"/>
              <a:t>上的</a:t>
            </a:r>
            <a:r>
              <a:rPr kumimoji="1" lang="en-US" altLang="zh-CN" dirty="0"/>
              <a:t>APP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912D3-37C0-87F9-0B42-881DA828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8550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B85C-4FDB-1043-B83C-B175BF7C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helm client on Ubuntu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AAD7-3E8B-E542-BFAF-A39EE33F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Ref: https://</a:t>
            </a:r>
            <a:r>
              <a:rPr kumimoji="1" lang="en-US" altLang="zh-TW" dirty="0" err="1"/>
              <a:t>helm.sh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zh</a:t>
            </a:r>
            <a:r>
              <a:rPr kumimoji="1" lang="en-US" altLang="zh-TW" dirty="0"/>
              <a:t>/docs/intro/install/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3765-D88F-2882-B4AB-18CE021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92" y="2586087"/>
            <a:ext cx="9105900" cy="762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BB8C5-96FA-ECBE-992B-3C3C262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93748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76E3-D339-CE1C-9ECE-54C2C1AA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3 Deploy </a:t>
            </a:r>
            <a:r>
              <a:rPr kumimoji="1" lang="zh-TW" altLang="en-US" dirty="0"/>
              <a:t>流程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534838-B726-DBCF-AAE0-FEA7940C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2001044"/>
            <a:ext cx="5511800" cy="40005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F902F9-1328-0EB9-26AF-A81F5E5F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55845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769521-EDFA-1D05-A2A2-09F419F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 A: </a:t>
            </a:r>
            <a:r>
              <a:rPr lang="zh-TW" altLang="en-US" dirty="0"/>
              <a:t>使用</a:t>
            </a:r>
            <a:r>
              <a:rPr lang="en-US" altLang="zh-TW" dirty="0"/>
              <a:t>Helm </a:t>
            </a:r>
            <a:r>
              <a:rPr lang="zh-TW" altLang="en-US" dirty="0"/>
              <a:t>部署第三方軟體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0FD7F-6D32-E399-90F4-8F7D8E3D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FDA0E6-08AC-9405-BD6E-51BB6A4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5371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34529-866F-3A0A-599D-2D5DBEF1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B8A0A-37E8-0847-AE93-B333638D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https://artifacthub.io/</a:t>
            </a:r>
            <a:endParaRPr kumimoji="1" lang="en-US" altLang="zh-TW" dirty="0"/>
          </a:p>
          <a:p>
            <a:r>
              <a:rPr kumimoji="1" lang="en-US" altLang="zh-TW" dirty="0"/>
              <a:t>Kubernetes Packages website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172F60-6F61-557B-43BA-A3831AE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1" y="2812329"/>
            <a:ext cx="7657707" cy="382885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056C3-865C-3AA3-C48D-3B808816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28075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733E-D9D3-B43C-EAA0-3E955C0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Search by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D83A6-E144-4988-D4DE-07D236A1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hub nginx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C52A7-02E6-354D-31AB-2F2A604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168"/>
            <a:ext cx="12192000" cy="188766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F7B1D-B7F4-5F52-E957-BB51CB4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5894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695B9-8014-999C-4F31-FF9ABBA8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</a:t>
            </a:r>
            <a:r>
              <a:rPr kumimoji="1" lang="en-US" altLang="zh-TW" dirty="0" err="1"/>
              <a:t>repoitroy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FF1CA-AD21-643B-4CBB-68CB037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新增一個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下載到</a:t>
            </a:r>
            <a:r>
              <a:rPr kumimoji="1" lang="en-US" altLang="zh-TW" dirty="0"/>
              <a:t>Helm client</a:t>
            </a:r>
            <a:r>
              <a:rPr kumimoji="1" lang="zh-TW" altLang="en-US" dirty="0"/>
              <a:t>端</a:t>
            </a:r>
            <a:endParaRPr kumimoji="1" lang="en-US" altLang="zh-TW" dirty="0"/>
          </a:p>
          <a:p>
            <a:pPr lvl="1"/>
            <a:r>
              <a:rPr lang="en-US" altLang="zh-TW" dirty="0"/>
              <a:t>helm repo add </a:t>
            </a:r>
            <a:r>
              <a:rPr lang="en-US" altLang="zh-TW" dirty="0" err="1"/>
              <a:t>bitnami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https://charts.bitnami.com/bitnami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repo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repo list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1CC582-463A-B906-1684-FD93A8BC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5928"/>
            <a:ext cx="12192000" cy="12326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CFA5C-55A8-6A32-5242-3B0A89A73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7012"/>
            <a:ext cx="12192000" cy="102397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ACD05-CBC0-73EF-E85E-487DBC84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0892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813E-99EF-4F9A-B00B-AF5FD057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repo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51B4AB-A808-E78B-53F1-C68E60AD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TW" altLang="en-US" dirty="0"/>
              <a:t>向遠端</a:t>
            </a:r>
            <a:r>
              <a:rPr lang="en-US" altLang="zh-TW" dirty="0"/>
              <a:t>Server</a:t>
            </a:r>
            <a:r>
              <a:rPr lang="zh-TW" altLang="en-US" dirty="0"/>
              <a:t>更新最新</a:t>
            </a:r>
            <a:r>
              <a:rPr lang="en-US" altLang="zh-TW" dirty="0"/>
              <a:t>Chart</a:t>
            </a:r>
            <a:r>
              <a:rPr lang="zh-TW" altLang="en-US" dirty="0"/>
              <a:t>表</a:t>
            </a:r>
            <a:endParaRPr lang="en-US" altLang="zh-TW" dirty="0"/>
          </a:p>
          <a:p>
            <a:pPr lvl="1"/>
            <a:r>
              <a:rPr lang="en-US" altLang="zh-TW" dirty="0"/>
              <a:t>helm repo update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取得</a:t>
            </a:r>
            <a:r>
              <a:rPr lang="en-US" altLang="zh-TW" dirty="0" err="1"/>
              <a:t>Bitnami</a:t>
            </a:r>
            <a:r>
              <a:rPr lang="en-US" altLang="zh-TW" dirty="0"/>
              <a:t> chart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search repo </a:t>
            </a:r>
            <a:r>
              <a:rPr lang="en-US" altLang="zh-TW" dirty="0" err="1"/>
              <a:t>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3C2A82-9990-4D76-474D-C16DFD40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70" y="4738255"/>
            <a:ext cx="10702565" cy="19930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E2FEC0-6A40-6157-0C19-B0839231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6" y="2726772"/>
            <a:ext cx="9467654" cy="118921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4EC06-E861-22E3-98FB-254AFCA6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42750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5D2C0-4F38-9281-862E-218C736B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chart</a:t>
            </a:r>
            <a:r>
              <a:rPr kumimoji="1" lang="zh-TW" altLang="en-US" dirty="0"/>
              <a:t>預設參數 </a:t>
            </a:r>
            <a:r>
              <a:rPr kumimoji="1" lang="en-US" altLang="zh-TW" dirty="0"/>
              <a:t>-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PostgreSQL </a:t>
            </a:r>
            <a:r>
              <a:rPr kumimoji="1" lang="zh-TW" altLang="en-US" dirty="0"/>
              <a:t>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897FA-1498-BEA6-4049-00A8A09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search repo | grep 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zh-TW" altLang="en-US" dirty="0"/>
              <a:t>取得參數檔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show values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&gt; </a:t>
            </a:r>
            <a:r>
              <a:rPr kumimoji="1" lang="en-US" altLang="zh-TW" dirty="0" err="1"/>
              <a:t>values.yaml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25F19-C7BB-3726-9649-F2BBC1C2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501"/>
            <a:ext cx="12192000" cy="106875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D6282-DD26-7CF8-8C09-BCFFEE68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40752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92C49-2628-5F37-1670-8F7CA038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編輯參數檔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40821C-CB9E-7BEB-65C3-4C062B99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DB name</a:t>
            </a:r>
          </a:p>
          <a:p>
            <a:pPr lvl="1"/>
            <a:r>
              <a:rPr lang="en-US" altLang="zh-TW" dirty="0"/>
              <a:t>database: </a:t>
            </a:r>
            <a:r>
              <a:rPr lang="en-US" altLang="zh-TW" dirty="0" err="1"/>
              <a:t>db</a:t>
            </a:r>
            <a:endParaRPr lang="en-US" altLang="zh-TW" dirty="0"/>
          </a:p>
          <a:p>
            <a:r>
              <a:rPr lang="en-US" altLang="zh-TW" dirty="0"/>
              <a:t>Service type </a:t>
            </a:r>
            <a:r>
              <a:rPr lang="zh-TW" altLang="en-US" dirty="0"/>
              <a:t>從</a:t>
            </a:r>
            <a:r>
              <a:rPr lang="en-US" altLang="zh-TW" dirty="0"/>
              <a:t>Cluster </a:t>
            </a:r>
            <a:r>
              <a:rPr lang="zh-TW" altLang="en-US" dirty="0"/>
              <a:t>換成</a:t>
            </a:r>
            <a:r>
              <a:rPr lang="en-US" altLang="zh-TW" dirty="0" err="1"/>
              <a:t>NodePort</a:t>
            </a:r>
            <a:endParaRPr lang="en-US" altLang="zh-TW" dirty="0"/>
          </a:p>
          <a:p>
            <a:r>
              <a:rPr lang="en-US" altLang="zh-TW" dirty="0" err="1"/>
              <a:t>nodePorts</a:t>
            </a:r>
            <a:r>
              <a:rPr lang="en-US" altLang="zh-TW" dirty="0"/>
              <a:t> port</a:t>
            </a:r>
            <a:r>
              <a:rPr lang="zh-TW" altLang="en-US" dirty="0"/>
              <a:t>換成</a:t>
            </a:r>
            <a:r>
              <a:rPr lang="en-US" altLang="zh-TW" dirty="0"/>
              <a:t>30063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62D45-9528-6E4F-FA38-F207A3E7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961241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99D1-A255-DAA5-3034-9BD897AD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準備</a:t>
            </a:r>
            <a:r>
              <a:rPr kumimoji="1" lang="en-US" altLang="zh-TW" dirty="0" err="1"/>
              <a:t>nfs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2B2B5-F763-8C87-60DF-48086172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</a:t>
            </a:r>
          </a:p>
          <a:p>
            <a:pPr lvl="1"/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mkdir</a:t>
            </a:r>
            <a:r>
              <a:rPr kumimoji="1" lang="en-US" altLang="zh-TW" dirty="0"/>
              <a:t>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chmod</a:t>
            </a:r>
            <a:r>
              <a:rPr kumimoji="1" lang="en-US" altLang="zh-TW" dirty="0"/>
              <a:t> -R 755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StorageClass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sc.yaml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PV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pv.yaml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548DC3-0FAA-9EA0-4B77-FA49CBE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353004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D29C4-0B24-C783-613E-DAF6378A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2352E-F68A-AD77-8DC1-297D078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install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--generate-name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F12CD-6F0B-6F32-F51D-7EB32188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2350"/>
            <a:ext cx="12192000" cy="308461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FE0EC1-5553-C837-F913-9932737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92533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C8CCA-C229-7842-71CA-62FA9590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部署後狀態檢查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376C3-65BA-9F89-952C-4C132469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r>
              <a:rPr kumimoji="1" lang="zh-TW" altLang="en-US" dirty="0"/>
              <a:t>升級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upgrade -f 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postgresql-1654358117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5D7AA9-F543-2E55-1CB9-15799C6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2432217"/>
            <a:ext cx="12192000" cy="99678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E5AE0-0A51-2218-4E69-A9471253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8945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872A-C644-77E4-1D4A-0D552D55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移除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A4DDC0-00B9-2DA0-C969-9C22D777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移除部署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delete postgresql-1654398180</a:t>
            </a:r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5A166D-5645-30B9-2A2C-8816830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14"/>
            <a:ext cx="12192000" cy="106777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9C5A1-A775-1AA8-9AFD-62F212D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740171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6F96C-F987-86BA-82AB-3A8EBEC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調整</a:t>
            </a:r>
            <a:r>
              <a:rPr kumimoji="1" lang="en-US" altLang="zh-TW" dirty="0"/>
              <a:t> (</a:t>
            </a:r>
            <a:r>
              <a:rPr kumimoji="1" lang="zh-TW" altLang="en-US" dirty="0"/>
              <a:t>升版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B13C0-6ED9-70E6-4243-BAB6EBEC0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upgrade {release name}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1EAA3-B061-7E3A-153F-5F9FFAD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7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7902</TotalTime>
  <Words>5482</Words>
  <Application>Microsoft Macintosh PowerPoint</Application>
  <PresentationFormat>寬螢幕</PresentationFormat>
  <Paragraphs>1166</Paragraphs>
  <Slides>238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238</vt:i4>
      </vt:variant>
    </vt:vector>
  </HeadingPairs>
  <TitlesOfParts>
    <vt:vector size="245" baseType="lpstr">
      <vt:lpstr>Microsoft JhengHei</vt:lpstr>
      <vt:lpstr>Noto Sans JP</vt:lpstr>
      <vt:lpstr>Arial</vt:lpstr>
      <vt:lpstr>Calibri</vt:lpstr>
      <vt:lpstr>Calibri Light</vt:lpstr>
      <vt:lpstr>Times New Roman</vt:lpstr>
      <vt:lpstr>Office 佈景主題</vt:lpstr>
      <vt:lpstr>DevOps：GitlabCI/CD 搭配 Docker, Kubernetes 持續整合實務班</vt:lpstr>
      <vt:lpstr>課程大綱</vt:lpstr>
      <vt:lpstr>課程資源</vt:lpstr>
      <vt:lpstr>ssh 登入</vt:lpstr>
      <vt:lpstr>Container 與Docker</vt:lpstr>
      <vt:lpstr>Container </vt:lpstr>
      <vt:lpstr>Container vs. Virtual Machine -1</vt:lpstr>
      <vt:lpstr>Container 製作流程</vt:lpstr>
      <vt:lpstr>Docker image堆疊</vt:lpstr>
      <vt:lpstr>Install docker in the VM1 - graph</vt:lpstr>
      <vt:lpstr>Install docker in the VM1 - command</vt:lpstr>
      <vt:lpstr>Python Flask API Dockerfile</vt:lpstr>
      <vt:lpstr>自己build: 產生image</vt:lpstr>
      <vt:lpstr>Docker image -1</vt:lpstr>
      <vt:lpstr>Docker container -1</vt:lpstr>
      <vt:lpstr>Docker run 參數介紹</vt:lpstr>
      <vt:lpstr>Docker process -2</vt:lpstr>
      <vt:lpstr>Docker process - 3</vt:lpstr>
      <vt:lpstr>Docker process - 除錯</vt:lpstr>
      <vt:lpstr>Kubernetes</vt:lpstr>
      <vt:lpstr>Kubernetes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K8s - Scaling</vt:lpstr>
      <vt:lpstr>K8s - Rolling update -1</vt:lpstr>
      <vt:lpstr>K8s - Rolling update -2</vt:lpstr>
      <vt:lpstr>用rancher 安裝Kubernetes</vt:lpstr>
      <vt:lpstr>Deploy Kubernetes: Rancher</vt:lpstr>
      <vt:lpstr>Deploy Rancher container</vt:lpstr>
      <vt:lpstr>Deploy Rancher container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預計裝在裸機，點選Custom</vt:lpstr>
      <vt:lpstr>Cluster命名、選擇k8s版本，選擇網路模組Calico</vt:lpstr>
      <vt:lpstr>勾選etcd, control plane, worker三項，複製下面docker command</vt:lpstr>
      <vt:lpstr>VM2上執行</vt:lpstr>
      <vt:lpstr>檢查deploy進度</vt:lpstr>
      <vt:lpstr>Rancher agent 運行流程 </vt:lpstr>
      <vt:lpstr>Kubernetes 部署中</vt:lpstr>
      <vt:lpstr>部署完成，點選Download KubeConfig </vt:lpstr>
      <vt:lpstr>另存Kubeconfig file.</vt:lpstr>
      <vt:lpstr>部署完成</vt:lpstr>
      <vt:lpstr>Install kubectl</vt:lpstr>
      <vt:lpstr>Kubernetes 操作</vt:lpstr>
      <vt:lpstr>放置kube conf</vt:lpstr>
      <vt:lpstr>切換k8s 環境 (讀取~/.kube/config)</vt:lpstr>
      <vt:lpstr>K8S 顯示資訊</vt:lpstr>
      <vt:lpstr>Kubernets 最小單位: pod</vt:lpstr>
      <vt:lpstr>部署Kubernetes yaml 檔，apply</vt:lpstr>
      <vt:lpstr>K8s deployment YAML -1</vt:lpstr>
      <vt:lpstr>K8s deployment YAML -2</vt:lpstr>
      <vt:lpstr>K8s deployment YAML -3</vt:lpstr>
      <vt:lpstr>kubectl get pods -1</vt:lpstr>
      <vt:lpstr>kubectl get pods -2</vt:lpstr>
      <vt:lpstr>kubectl get deployment -1</vt:lpstr>
      <vt:lpstr>kubectl get deployment -2</vt:lpstr>
      <vt:lpstr>在pod執行操作 -1</vt:lpstr>
      <vt:lpstr>在pod執行操作 -2</vt:lpstr>
      <vt:lpstr>Pod訊息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K8s 系統資訊</vt:lpstr>
      <vt:lpstr>Kubernetes Namespace (縮寫：ns)</vt:lpstr>
      <vt:lpstr>Kubernetes Namespace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Volume plugin 支援程度  </vt:lpstr>
      <vt:lpstr>K8s 資源使用率 </vt:lpstr>
      <vt:lpstr>DevOps</vt:lpstr>
      <vt:lpstr>模式 Dev + Ops</vt:lpstr>
      <vt:lpstr>Agile vs Waterfall</vt:lpstr>
      <vt:lpstr>CI/CD</vt:lpstr>
      <vt:lpstr>CI/CD 步驟</vt:lpstr>
      <vt:lpstr>Gitflow 開發流程圖</vt:lpstr>
      <vt:lpstr>Gitflow 分支定義</vt:lpstr>
      <vt:lpstr>Gitflow</vt:lpstr>
      <vt:lpstr>部署Gitlab</vt:lpstr>
      <vt:lpstr>Deploy GitLab server on VM1 docker</vt:lpstr>
      <vt:lpstr>Gitlab 參數講解 -1</vt:lpstr>
      <vt:lpstr>Gitlab 參數講解 -2</vt:lpstr>
      <vt:lpstr>Gitlab 參數講解 -3</vt:lpstr>
      <vt:lpstr>等待gitlab ready </vt:lpstr>
      <vt:lpstr>gitlab init password</vt:lpstr>
      <vt:lpstr>Gitlab login, username: root</vt:lpstr>
      <vt:lpstr>啟用 import project 功能</vt:lpstr>
      <vt:lpstr>勾選Repository by URL，並Save changes </vt:lpstr>
      <vt:lpstr>Gitlab UI </vt:lpstr>
      <vt:lpstr>Gitlab – Import Porject，選擇Repo by URL</vt:lpstr>
      <vt:lpstr>這邊用課程docker-devops 作為 import repo</vt:lpstr>
      <vt:lpstr>選擇建立專案</vt:lpstr>
      <vt:lpstr>專案建立後，準備設定Runner  到Settings -&gt; CI/CD</vt:lpstr>
      <vt:lpstr>點擊Runners，把token 保存下來</vt:lpstr>
      <vt:lpstr>Install Gitlab CI/CD Docker and Kubernetes Runner</vt:lpstr>
      <vt:lpstr>安裝k8s Runner 前準備</vt:lpstr>
      <vt:lpstr>搜尋runner 版本</vt:lpstr>
      <vt:lpstr>Gitlab runner 設定檔 -1</vt:lpstr>
      <vt:lpstr>Gitlab runner 設定檔 -2</vt:lpstr>
      <vt:lpstr>Install gitlab runner on k8s by helm</vt:lpstr>
      <vt:lpstr>確認kubernetes runner 狀態</vt:lpstr>
      <vt:lpstr>K8s Runner 準備完成</vt:lpstr>
      <vt:lpstr>建立docker runner 要用的project token</vt:lpstr>
      <vt:lpstr>設定Tags名稱為docker</vt:lpstr>
      <vt:lpstr>紀錄下這個runner token</vt:lpstr>
      <vt:lpstr>Gitlab dokcer runner，更改url跟token</vt:lpstr>
      <vt:lpstr>在vm1運行gitlab docker runner </vt:lpstr>
      <vt:lpstr>確保兩個Runner都是綠燈</vt:lpstr>
      <vt:lpstr>步驟2. 匯入Kubeconfig 到 GitLab repo variables</vt:lpstr>
      <vt:lpstr>Kubeconfig file 轉成base64</vt:lpstr>
      <vt:lpstr>設定變數</vt:lpstr>
      <vt:lpstr>設定kubeconfig變數</vt:lpstr>
      <vt:lpstr>變數設定完成</vt:lpstr>
      <vt:lpstr>CI 取用 kubeconfig</vt:lpstr>
      <vt:lpstr>查看CI執行結果結果</vt:lpstr>
      <vt:lpstr>設定dockerhub username and password</vt:lpstr>
      <vt:lpstr>Gitlab CI YAML 說明</vt:lpstr>
      <vt:lpstr>.gitlab-ci.yml sample</vt:lpstr>
      <vt:lpstr>.gitlab-ci.yml Global (全域) keyword - stages</vt:lpstr>
      <vt:lpstr>.gitlab-ci.yml global keyword -2</vt:lpstr>
      <vt:lpstr>Gitlab Ci 預設變數</vt:lpstr>
      <vt:lpstr>.gitlab-ci.yml Jobs keyword -1</vt:lpstr>
      <vt:lpstr>.gitlab-ci.yml Jobs keyword -2</vt:lpstr>
      <vt:lpstr>.gitlab-ci.yml Jobs keyword -3</vt:lpstr>
      <vt:lpstr>.gitlab-ci.yml Jobs keyword -4</vt:lpstr>
      <vt:lpstr>Gitlab project pipeline status</vt:lpstr>
      <vt:lpstr>撰寫 .gitlab-ci.yml</vt:lpstr>
      <vt:lpstr>撰寫gitlab-ci.yml</vt:lpstr>
      <vt:lpstr>執行單元測試</vt:lpstr>
      <vt:lpstr>Job 查看單元測試執行結果</vt:lpstr>
      <vt:lpstr>Docker pipeline 狀態</vt:lpstr>
      <vt:lpstr>至Docker hub 檢查image 上傳</vt:lpstr>
      <vt:lpstr>設定全域變數</vt:lpstr>
      <vt:lpstr>部署 k8s namespace</vt:lpstr>
      <vt:lpstr>部署namespace 說明</vt:lpstr>
      <vt:lpstr>檢查namespace 建立</vt:lpstr>
      <vt:lpstr>平行並行: 部署k8s deployment 與 service</vt:lpstr>
      <vt:lpstr>你有遇到過多環境部署的問題嗎？</vt:lpstr>
      <vt:lpstr>傳統解決辦法與痛點</vt:lpstr>
      <vt:lpstr>Kustomize 簡介</vt:lpstr>
      <vt:lpstr>kustomization.yaml 核心功能</vt:lpstr>
      <vt:lpstr>K8s deployment</vt:lpstr>
      <vt:lpstr>Pipeline deployment</vt:lpstr>
      <vt:lpstr>K8s service</vt:lpstr>
      <vt:lpstr>Job 檢查service狀態</vt:lpstr>
      <vt:lpstr>檢查deployment 與 service </vt:lpstr>
      <vt:lpstr>至VM2 進行連線測試</vt:lpstr>
      <vt:lpstr>SonarQube</vt:lpstr>
      <vt:lpstr>SonarQube scan flow</vt:lpstr>
      <vt:lpstr>部署SonarQube server</vt:lpstr>
      <vt:lpstr>VM1 上部署SonarQube Server</vt:lpstr>
      <vt:lpstr>(SonarQube) SonaQube server頁面</vt:lpstr>
      <vt:lpstr>(SonarQube) SonaQube server login</vt:lpstr>
      <vt:lpstr>(SonarQube) SonaQube server 頁面</vt:lpstr>
      <vt:lpstr>(SonarQube)選擇gitlab project</vt:lpstr>
      <vt:lpstr>填入 api url及 personal access token</vt:lpstr>
      <vt:lpstr>取得GitLab personal access token</vt:lpstr>
      <vt:lpstr>(GitLab) Gitlab and Jenkins hook together – gitlab user 產生Access token - 1</vt:lpstr>
      <vt:lpstr>(GitLab) Gitlab and Jenkins hook together – 設定此token權限</vt:lpstr>
      <vt:lpstr>(GitLab) Gitlab and Jenkins hook together – 把token 另存</vt:lpstr>
      <vt:lpstr>(GitLab)Gitlab and Jenkins hook together – 得到token </vt:lpstr>
      <vt:lpstr>把Personal Access Token也填上</vt:lpstr>
      <vt:lpstr>SonarQube 能夠取得Gitlab repo資訊，點擊Set up作repo串接設定</vt:lpstr>
      <vt:lpstr>(SonarQube)選擇使用GitLab CI</vt:lpstr>
      <vt:lpstr>(SonarQube)選擇Python</vt:lpstr>
      <vt:lpstr>(SonarQube)保存projectKey</vt:lpstr>
      <vt:lpstr>回到Docker Devops repo</vt:lpstr>
      <vt:lpstr>(GitLab)編輯git repo裡的sonar-project.properties檔案，替換projectKey</vt:lpstr>
      <vt:lpstr>替換projectKey</vt:lpstr>
      <vt:lpstr>(GitLab)至gitlab project CI/CD 新增變數</vt:lpstr>
      <vt:lpstr>回到Sonarqube繼續</vt:lpstr>
      <vt:lpstr>(SonarQube)點擊Generate a token 產生一筆SonarQube token</vt:lpstr>
      <vt:lpstr>產生一把無期限的sonar project token</vt:lpstr>
      <vt:lpstr>保存sonar project token</vt:lpstr>
      <vt:lpstr>回到gitlab ci/cd variable，設定SONAR_TOKEN 與 SONAR_HOST_URL 兩個變數</vt:lpstr>
      <vt:lpstr>Gitlab/Settings/CICD/Variables</vt:lpstr>
      <vt:lpstr>(GitLab) 設定變數SONAR_HOST_URL: http://{VM1 外部 IP}:9000</vt:lpstr>
      <vt:lpstr>設定變數 SONAR_TOKEN</vt:lpstr>
      <vt:lpstr>變數檢查</vt:lpstr>
      <vt:lpstr>CICD與sonar串接完成．後續只要開始commit，pipeline就會開始執行</vt:lpstr>
      <vt:lpstr>New pipeline</vt:lpstr>
      <vt:lpstr>檢查Pipeline 執行SonarQube 狀態</vt:lpstr>
      <vt:lpstr>Pipeline執行SonarQube job，</vt:lpstr>
      <vt:lpstr>Sonar job</vt:lpstr>
      <vt:lpstr>檢查Sonarqube 掃描運行情況</vt:lpstr>
      <vt:lpstr>SonarQube 報告檢視</vt:lpstr>
      <vt:lpstr>docker build and push</vt:lpstr>
      <vt:lpstr>附錄Ａ：如何在putty 使用ssh key 登入</vt:lpstr>
      <vt:lpstr>附錄A: window login to cloud VM by putty – 下載Putty ，填入id@ip</vt:lpstr>
      <vt:lpstr>附錄A: window login to cloud VM by putty – 左邊Connectopn/SSH/Auth</vt:lpstr>
      <vt:lpstr>附錄A: window login to cloud VM by putty – 選擇Private key file auth</vt:lpstr>
      <vt:lpstr>附錄A: window login to cloud VM by putty – 選擇k8s.ppk</vt:lpstr>
      <vt:lpstr>附錄A: window login to cloud VM by putty – 即可登入</vt:lpstr>
      <vt:lpstr>附錄B dockerfile keyword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附錄C: dockerfile multi-stage </vt:lpstr>
      <vt:lpstr>Dockerfile Multi-stage (docker 17.05以後版本)</vt:lpstr>
      <vt:lpstr>自己build Dockerfile: Java Spring with gradle</vt:lpstr>
      <vt:lpstr>Build Java Spring </vt:lpstr>
      <vt:lpstr>Run Java spring</vt:lpstr>
      <vt:lpstr>驗證 Java Spring</vt:lpstr>
      <vt:lpstr>附錄D: Helm</vt:lpstr>
      <vt:lpstr>Helm</vt:lpstr>
      <vt:lpstr>Install helm client on Ubuntu</vt:lpstr>
      <vt:lpstr>Helm 3 Deploy 流程</vt:lpstr>
      <vt:lpstr>Part A: 使用Helm 部署第三方軟體</vt:lpstr>
      <vt:lpstr>Artifacthub </vt:lpstr>
      <vt:lpstr>Artifacthub Search by Command</vt:lpstr>
      <vt:lpstr>Helm repoitroy</vt:lpstr>
      <vt:lpstr>Helm repo </vt:lpstr>
      <vt:lpstr>設定chart預設參數 - 以PostgreSQL 為例</vt:lpstr>
      <vt:lpstr>編輯參數檔</vt:lpstr>
      <vt:lpstr>準備nfs</vt:lpstr>
      <vt:lpstr>部署postgresql</vt:lpstr>
      <vt:lpstr>部署後狀態檢查</vt:lpstr>
      <vt:lpstr>移除</vt:lpstr>
      <vt:lpstr>調整 (升版)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周育緯 Yu Wei Chou</dc:creator>
  <cp:lastModifiedBy>Carol Chang</cp:lastModifiedBy>
  <cp:revision>376</cp:revision>
  <dcterms:created xsi:type="dcterms:W3CDTF">2022-06-22T04:12:12Z</dcterms:created>
  <dcterms:modified xsi:type="dcterms:W3CDTF">2026-07-25T00:53:27Z</dcterms:modified>
</cp:coreProperties>
</file>