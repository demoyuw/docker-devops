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3"/>
  </p:notesMasterIdLst>
  <p:sldIdLst>
    <p:sldId id="483" r:id="rId2"/>
    <p:sldId id="672" r:id="rId3"/>
    <p:sldId id="267" r:id="rId4"/>
    <p:sldId id="268" r:id="rId5"/>
    <p:sldId id="269" r:id="rId6"/>
    <p:sldId id="271" r:id="rId7"/>
    <p:sldId id="272" r:id="rId8"/>
    <p:sldId id="275" r:id="rId9"/>
    <p:sldId id="277" r:id="rId10"/>
    <p:sldId id="687" r:id="rId11"/>
    <p:sldId id="280" r:id="rId12"/>
    <p:sldId id="289" r:id="rId13"/>
    <p:sldId id="298" r:id="rId14"/>
    <p:sldId id="299" r:id="rId15"/>
    <p:sldId id="302" r:id="rId16"/>
    <p:sldId id="303" r:id="rId17"/>
    <p:sldId id="304" r:id="rId18"/>
    <p:sldId id="383" r:id="rId19"/>
    <p:sldId id="306" r:id="rId20"/>
    <p:sldId id="313" r:id="rId21"/>
    <p:sldId id="314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31" r:id="rId30"/>
    <p:sldId id="332" r:id="rId31"/>
    <p:sldId id="333" r:id="rId32"/>
    <p:sldId id="336" r:id="rId33"/>
    <p:sldId id="337" r:id="rId34"/>
    <p:sldId id="338" r:id="rId35"/>
    <p:sldId id="339" r:id="rId36"/>
    <p:sldId id="340" r:id="rId37"/>
    <p:sldId id="675" r:id="rId38"/>
    <p:sldId id="676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688" r:id="rId47"/>
    <p:sldId id="709" r:id="rId48"/>
    <p:sldId id="349" r:id="rId49"/>
    <p:sldId id="689" r:id="rId50"/>
    <p:sldId id="350" r:id="rId51"/>
    <p:sldId id="690" r:id="rId52"/>
    <p:sldId id="351" r:id="rId53"/>
    <p:sldId id="352" r:id="rId54"/>
    <p:sldId id="353" r:id="rId55"/>
    <p:sldId id="354" r:id="rId56"/>
    <p:sldId id="355" r:id="rId57"/>
    <p:sldId id="357" r:id="rId58"/>
    <p:sldId id="361" r:id="rId59"/>
    <p:sldId id="674" r:id="rId60"/>
    <p:sldId id="358" r:id="rId61"/>
    <p:sldId id="359" r:id="rId62"/>
    <p:sldId id="360" r:id="rId63"/>
    <p:sldId id="362" r:id="rId64"/>
    <p:sldId id="363" r:id="rId65"/>
    <p:sldId id="364" r:id="rId66"/>
    <p:sldId id="365" r:id="rId67"/>
    <p:sldId id="369" r:id="rId68"/>
    <p:sldId id="370" r:id="rId69"/>
    <p:sldId id="371" r:id="rId70"/>
    <p:sldId id="677" r:id="rId71"/>
    <p:sldId id="678" r:id="rId72"/>
    <p:sldId id="679" r:id="rId73"/>
    <p:sldId id="680" r:id="rId74"/>
    <p:sldId id="584" r:id="rId75"/>
    <p:sldId id="681" r:id="rId76"/>
    <p:sldId id="396" r:id="rId77"/>
    <p:sldId id="397" r:id="rId78"/>
    <p:sldId id="398" r:id="rId79"/>
    <p:sldId id="403" r:id="rId80"/>
    <p:sldId id="404" r:id="rId81"/>
    <p:sldId id="405" r:id="rId82"/>
    <p:sldId id="406" r:id="rId83"/>
    <p:sldId id="407" r:id="rId84"/>
    <p:sldId id="408" r:id="rId85"/>
    <p:sldId id="484" r:id="rId86"/>
    <p:sldId id="409" r:id="rId87"/>
    <p:sldId id="485" r:id="rId88"/>
    <p:sldId id="487" r:id="rId89"/>
    <p:sldId id="495" r:id="rId90"/>
    <p:sldId id="496" r:id="rId91"/>
    <p:sldId id="498" r:id="rId92"/>
    <p:sldId id="499" r:id="rId93"/>
    <p:sldId id="500" r:id="rId94"/>
    <p:sldId id="501" r:id="rId95"/>
    <p:sldId id="464" r:id="rId96"/>
    <p:sldId id="257" r:id="rId97"/>
    <p:sldId id="465" r:id="rId98"/>
    <p:sldId id="466" r:id="rId99"/>
    <p:sldId id="467" r:id="rId100"/>
    <p:sldId id="694" r:id="rId101"/>
    <p:sldId id="468" r:id="rId102"/>
    <p:sldId id="469" r:id="rId103"/>
    <p:sldId id="695" r:id="rId104"/>
    <p:sldId id="696" r:id="rId105"/>
    <p:sldId id="470" r:id="rId106"/>
    <p:sldId id="471" r:id="rId107"/>
    <p:sldId id="472" r:id="rId108"/>
    <p:sldId id="473" r:id="rId109"/>
    <p:sldId id="682" r:id="rId110"/>
    <p:sldId id="683" r:id="rId111"/>
    <p:sldId id="507" r:id="rId112"/>
    <p:sldId id="508" r:id="rId113"/>
    <p:sldId id="513" r:id="rId114"/>
    <p:sldId id="623" r:id="rId115"/>
    <p:sldId id="624" r:id="rId116"/>
    <p:sldId id="510" r:id="rId117"/>
    <p:sldId id="512" r:id="rId118"/>
    <p:sldId id="511" r:id="rId119"/>
    <p:sldId id="619" r:id="rId120"/>
    <p:sldId id="515" r:id="rId121"/>
    <p:sldId id="620" r:id="rId122"/>
    <p:sldId id="514" r:id="rId123"/>
    <p:sldId id="621" r:id="rId124"/>
    <p:sldId id="617" r:id="rId125"/>
    <p:sldId id="618" r:id="rId126"/>
    <p:sldId id="626" r:id="rId127"/>
    <p:sldId id="622" r:id="rId128"/>
    <p:sldId id="475" r:id="rId129"/>
    <p:sldId id="476" r:id="rId130"/>
    <p:sldId id="477" r:id="rId131"/>
    <p:sldId id="482" r:id="rId132"/>
    <p:sldId id="478" r:id="rId133"/>
    <p:sldId id="479" r:id="rId134"/>
    <p:sldId id="480" r:id="rId135"/>
    <p:sldId id="691" r:id="rId136"/>
    <p:sldId id="481" r:id="rId137"/>
    <p:sldId id="673" r:id="rId138"/>
    <p:sldId id="643" r:id="rId139"/>
    <p:sldId id="641" r:id="rId140"/>
    <p:sldId id="642" r:id="rId141"/>
    <p:sldId id="628" r:id="rId142"/>
    <p:sldId id="629" r:id="rId143"/>
    <p:sldId id="631" r:id="rId144"/>
    <p:sldId id="634" r:id="rId145"/>
    <p:sldId id="630" r:id="rId146"/>
    <p:sldId id="636" r:id="rId147"/>
    <p:sldId id="632" r:id="rId148"/>
    <p:sldId id="633" r:id="rId149"/>
    <p:sldId id="637" r:id="rId150"/>
    <p:sldId id="635" r:id="rId151"/>
    <p:sldId id="639" r:id="rId152"/>
    <p:sldId id="638" r:id="rId153"/>
    <p:sldId id="640" r:id="rId154"/>
    <p:sldId id="644" r:id="rId155"/>
    <p:sldId id="645" r:id="rId156"/>
    <p:sldId id="692" r:id="rId157"/>
    <p:sldId id="646" r:id="rId158"/>
    <p:sldId id="647" r:id="rId159"/>
    <p:sldId id="648" r:id="rId160"/>
    <p:sldId id="649" r:id="rId161"/>
    <p:sldId id="654" r:id="rId162"/>
    <p:sldId id="697" r:id="rId163"/>
    <p:sldId id="655" r:id="rId164"/>
    <p:sldId id="656" r:id="rId165"/>
    <p:sldId id="657" r:id="rId166"/>
    <p:sldId id="658" r:id="rId167"/>
    <p:sldId id="659" r:id="rId168"/>
    <p:sldId id="698" r:id="rId169"/>
    <p:sldId id="660" r:id="rId170"/>
    <p:sldId id="661" r:id="rId171"/>
    <p:sldId id="662" r:id="rId172"/>
    <p:sldId id="664" r:id="rId173"/>
    <p:sldId id="699" r:id="rId174"/>
    <p:sldId id="663" r:id="rId175"/>
    <p:sldId id="700" r:id="rId176"/>
    <p:sldId id="665" r:id="rId177"/>
    <p:sldId id="701" r:id="rId178"/>
    <p:sldId id="666" r:id="rId179"/>
    <p:sldId id="702" r:id="rId180"/>
    <p:sldId id="703" r:id="rId181"/>
    <p:sldId id="705" r:id="rId182"/>
    <p:sldId id="704" r:id="rId183"/>
    <p:sldId id="668" r:id="rId184"/>
    <p:sldId id="669" r:id="rId185"/>
    <p:sldId id="667" r:id="rId186"/>
    <p:sldId id="706" r:id="rId187"/>
    <p:sldId id="707" r:id="rId188"/>
    <p:sldId id="670" r:id="rId189"/>
    <p:sldId id="693" r:id="rId190"/>
    <p:sldId id="708" r:id="rId191"/>
    <p:sldId id="671" r:id="rId192"/>
    <p:sldId id="653" r:id="rId193"/>
    <p:sldId id="627" r:id="rId194"/>
    <p:sldId id="686" r:id="rId195"/>
    <p:sldId id="502" r:id="rId196"/>
    <p:sldId id="503" r:id="rId197"/>
    <p:sldId id="504" r:id="rId198"/>
    <p:sldId id="505" r:id="rId199"/>
    <p:sldId id="506" r:id="rId200"/>
    <p:sldId id="684" r:id="rId201"/>
    <p:sldId id="281" r:id="rId202"/>
    <p:sldId id="282" r:id="rId203"/>
    <p:sldId id="283" r:id="rId204"/>
    <p:sldId id="284" r:id="rId205"/>
    <p:sldId id="285" r:id="rId206"/>
    <p:sldId id="286" r:id="rId207"/>
    <p:sldId id="287" r:id="rId208"/>
    <p:sldId id="288" r:id="rId209"/>
    <p:sldId id="685" r:id="rId210"/>
    <p:sldId id="292" r:id="rId211"/>
    <p:sldId id="293" r:id="rId212"/>
    <p:sldId id="294" r:id="rId213"/>
    <p:sldId id="295" r:id="rId214"/>
    <p:sldId id="296" r:id="rId215"/>
    <p:sldId id="297" r:id="rId216"/>
    <p:sldId id="516" r:id="rId217"/>
    <p:sldId id="517" r:id="rId218"/>
    <p:sldId id="593" r:id="rId219"/>
    <p:sldId id="604" r:id="rId220"/>
    <p:sldId id="616" r:id="rId221"/>
    <p:sldId id="607" r:id="rId222"/>
    <p:sldId id="608" r:id="rId223"/>
    <p:sldId id="605" r:id="rId224"/>
    <p:sldId id="606" r:id="rId225"/>
    <p:sldId id="609" r:id="rId226"/>
    <p:sldId id="611" r:id="rId227"/>
    <p:sldId id="613" r:id="rId228"/>
    <p:sldId id="612" r:id="rId229"/>
    <p:sldId id="614" r:id="rId230"/>
    <p:sldId id="615" r:id="rId231"/>
    <p:sldId id="625" r:id="rId2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theme" Target="theme/theme1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notesMaster" Target="notesMasters/notes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viewProps" Target="viewProps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60F9E-2C52-4A6B-9505-C8F649FFF1BC}" type="datetimeFigureOut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8490F-DBA6-42F2-82A8-38CF4AC1DA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97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yperviso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1331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虛擬化通常都是透過在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Host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上安裝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，由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來管理不同虛擬主機，每個虛擬主機都需要安裝不同的作業系統。</a:t>
            </a:r>
            <a:endParaRPr lang="en-US" altLang="zh-TW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提供應用程式在獨立的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中執行，這些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並不需要像虛擬化一樣額外依附在 </a:t>
            </a:r>
            <a:r>
              <a:rPr lang="en-US" altLang="zh-TW" sz="1200" u="none" strike="noStrike" kern="1200" dirty="0">
                <a:solidFill>
                  <a:schemeClr val="tx1"/>
                </a:solidFill>
                <a:effectLst/>
                <a:ea typeface="+mn-ea"/>
                <a:cs typeface="+mn-cs"/>
                <a:hlinkClick r:id="rId3"/>
              </a:rPr>
              <a:t>hypervisor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guest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上，是透過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Engine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來進行管理。</a:t>
            </a:r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9320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022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91227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565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5253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8284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205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5138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89503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59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E13B-DEAC-054A-8130-8E0036F6E4E3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8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125F7-AC24-E945-B7A7-8CC2D9084ECD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738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D11B-6F12-CC47-B80C-C5747FB8050A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47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943F2-58DA-254F-AF77-D26061A42152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202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E4E74-A11E-6C43-A4C9-E711979101D9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45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6FD6-77EE-DD49-B964-FD028CA3B7E2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01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8D18E-CBDA-324A-A70B-9298E8D10ABC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735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8FC1-8DD1-8748-8B13-C95FF8DF58D8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93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B5E43-8159-9844-AAE4-1003901C1A0D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204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A4772-946D-FD4B-9BD5-2731E73D6614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18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D45C-38F6-C44D-B24B-188342396C08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327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A6F19-B8F2-8740-B0A2-1C977FBE1EAE}" type="datetime1">
              <a:rPr lang="zh-TW" altLang="en-US" smtClean="0"/>
              <a:t>2025/11/15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6B5E8-41EA-4690-AD2E-BBA4398F2A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30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Rqck1q" TargetMode="External"/><Relationship Id="rId2" Type="http://schemas.openxmlformats.org/officeDocument/2006/relationships/hyperlink" Target="https://github.com/demoyuw/docker-devop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url.cc/62bNxb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demoyuw@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platformer-blog/practical-guide-on-writing-a-dockerfile-for-your-application-89376f88b3b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tools/install-kubectl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35.188.47.40:10443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github.com/demoyuw/docker-devops.git" TargetMode="Externa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hyperlink" Target="https://charts.gitlab.i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hyperlink" Target="http://10.128.0.10/" TargetMode="Externa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hyperlink" Target="https://artifacthub.io/" TargetMode="External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hyperlink" Target="https://charts.bitnami.com/bitnam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4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DevOps</a:t>
            </a:r>
            <a:r>
              <a:rPr lang="zh-TW" altLang="en" b="1" i="0" dirty="0">
                <a:solidFill>
                  <a:srgbClr val="393939"/>
                </a:solidFill>
                <a:effectLst/>
                <a:latin typeface="Noto Sans JP"/>
              </a:rPr>
              <a:t>：</a:t>
            </a:r>
            <a:r>
              <a:rPr lang="en" altLang="zh-TW" b="1" i="0" dirty="0" err="1">
                <a:solidFill>
                  <a:srgbClr val="393939"/>
                </a:solidFill>
                <a:effectLst/>
                <a:latin typeface="Noto Sans JP"/>
              </a:rPr>
              <a:t>GitlabCI</a:t>
            </a:r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/CD 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搭配 </a:t>
            </a:r>
            <a:r>
              <a:rPr lang="en" altLang="zh-TW" b="1" i="0" dirty="0">
                <a:solidFill>
                  <a:srgbClr val="393939"/>
                </a:solidFill>
                <a:effectLst/>
                <a:latin typeface="Noto Sans JP"/>
              </a:rPr>
              <a:t>Docker, Kubernetes </a:t>
            </a:r>
            <a:r>
              <a:rPr lang="zh-TW" altLang="en-US" b="1" i="0" dirty="0">
                <a:solidFill>
                  <a:srgbClr val="393939"/>
                </a:solidFill>
                <a:effectLst/>
                <a:latin typeface="Noto Sans JP"/>
              </a:rPr>
              <a:t>持續整合實務班</a:t>
            </a:r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講師</a:t>
            </a:r>
            <a:r>
              <a:rPr lang="en-US" altLang="zh-TW" dirty="0"/>
              <a:t>: </a:t>
            </a:r>
            <a:r>
              <a:rPr lang="zh-TW" altLang="en-US" dirty="0"/>
              <a:t>周育緯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C0D22F-1BFA-CAE8-5F21-1DF2980A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84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D82D91-D711-3550-1FBD-938EEEB6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課程大綱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EE1527-7DAC-38EB-16E3-FAC15B17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&amp; Kubernetes</a:t>
            </a:r>
          </a:p>
          <a:p>
            <a:r>
              <a:rPr kumimoji="1" lang="en-US" altLang="zh-TW" dirty="0"/>
              <a:t>GitLab CI/CD</a:t>
            </a:r>
          </a:p>
          <a:p>
            <a:pPr lvl="1"/>
            <a:r>
              <a:rPr kumimoji="1" lang="zh-TW" altLang="en-US" dirty="0"/>
              <a:t>環境部署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image build and push</a:t>
            </a:r>
          </a:p>
          <a:p>
            <a:pPr lvl="1"/>
            <a:r>
              <a:rPr kumimoji="1" lang="zh-TW" altLang="en-US" dirty="0"/>
              <a:t>單元測試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SonarQube</a:t>
            </a:r>
          </a:p>
          <a:p>
            <a:pPr lvl="1"/>
            <a:r>
              <a:rPr kumimoji="1" lang="zh-TW" altLang="en-US" dirty="0"/>
              <a:t>部署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Service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B1C3B0-17FA-758D-55F2-F2EBC07F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352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課程資源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79" name="內容版面配置區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Source code</a:t>
            </a:r>
          </a:p>
          <a:p>
            <a:pPr marL="742950" lvl="1" indent="-285750"/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https://github.com/demoyuw/docker-devops</a:t>
            </a:r>
          </a:p>
          <a:p>
            <a:pPr>
              <a:defRPr sz="3600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latin typeface="+mj-lt"/>
                <a:ea typeface="+mj-ea"/>
                <a:cs typeface="+mj-cs"/>
                <a:sym typeface="Helvetica"/>
                <a:hlinkClick r:id="rId3"/>
              </a:rPr>
              <a:t>虛擬機資源</a:t>
            </a:r>
          </a:p>
          <a:p>
            <a:pPr marL="742950" lvl="1" indent="-285750"/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4"/>
              </a:rPr>
              <a:t>https://reurl.cc/62bNxb</a:t>
            </a:r>
          </a:p>
          <a:p>
            <a:pPr marL="742950" lvl="1" indent="-285750"/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選擇編號，後面註記使用人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6A982AA-DF2D-0A27-40A3-7C1EFB82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79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ssh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284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Linux 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/>
              <a:t>mv k8s.key ~/.</a:t>
            </a:r>
            <a:r>
              <a:rPr dirty="0" err="1"/>
              <a:t>ssh</a:t>
            </a:r>
            <a:r>
              <a:rPr dirty="0"/>
              <a:t>/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chmod</a:t>
            </a:r>
            <a:r>
              <a:rPr dirty="0"/>
              <a:t> 600 ~/.</a:t>
            </a:r>
            <a:r>
              <a:rPr dirty="0" err="1"/>
              <a:t>ssh</a:t>
            </a:r>
            <a:r>
              <a:rPr dirty="0"/>
              <a:t>/k8s.key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</a:t>
            </a: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</a:t>
            </a:r>
            <a:r>
              <a:rPr dirty="0" err="1"/>
              <a:t>ssh</a:t>
            </a:r>
            <a:r>
              <a:rPr dirty="0"/>
              <a:t> </a:t>
            </a:r>
            <a:r>
              <a:rPr lang="en-US" altLang="zh-TW" dirty="0"/>
              <a:t>-</a:t>
            </a:r>
            <a:r>
              <a:rPr dirty="0" err="1"/>
              <a:t>i</a:t>
            </a:r>
            <a:r>
              <a:rPr dirty="0"/>
              <a:t> ~/.</a:t>
            </a:r>
            <a:r>
              <a:rPr dirty="0" err="1"/>
              <a:t>ssh</a:t>
            </a:r>
            <a:r>
              <a:rPr dirty="0"/>
              <a:t>/k8s.key demoyuw@140.92.174.32</a:t>
            </a:r>
            <a:endParaRPr sz="2178" dirty="0"/>
          </a:p>
          <a:p>
            <a:pPr marL="339470" indent="-339470" defTabSz="452627">
              <a:lnSpc>
                <a:spcPct val="80000"/>
              </a:lnSpc>
              <a:spcBef>
                <a:spcPts val="900"/>
              </a:spcBef>
              <a:defRPr sz="2871"/>
            </a:pPr>
            <a:r>
              <a:rPr dirty="0"/>
              <a:t>Windows</a:t>
            </a:r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參考附檔</a:t>
            </a:r>
            <a:r>
              <a:rPr dirty="0"/>
              <a:t> </a:t>
            </a:r>
            <a:endParaRPr sz="2475" dirty="0"/>
          </a:p>
          <a:p>
            <a:pPr marL="735520" lvl="1" indent="-282892" defTabSz="452627">
              <a:lnSpc>
                <a:spcPct val="80000"/>
              </a:lnSpc>
              <a:spcBef>
                <a:spcPts val="900"/>
              </a:spcBef>
              <a:defRPr sz="2673"/>
            </a:pPr>
            <a:r>
              <a:rPr u="sng" dirty="0">
                <a:solidFill>
                  <a:srgbClr val="58C1BA"/>
                </a:solidFill>
                <a:uFill>
                  <a:solidFill>
                    <a:srgbClr val="58C1BA"/>
                  </a:solidFill>
                </a:uFill>
                <a:hlinkClick r:id="rId2"/>
              </a:rPr>
              <a:t>demoyuw@</a:t>
            </a:r>
            <a:r>
              <a:rPr dirty="0"/>
              <a:t>{</a:t>
            </a:r>
            <a:r>
              <a:rPr dirty="0" err="1"/>
              <a:t>VM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的外部</a:t>
            </a:r>
            <a:r>
              <a:rPr dirty="0" err="1"/>
              <a:t>IP</a:t>
            </a:r>
            <a:r>
              <a:rPr dirty="0"/>
              <a:t>}</a:t>
            </a:r>
            <a:endParaRPr sz="2475" dirty="0"/>
          </a:p>
          <a:p>
            <a:pPr marL="1131569" lvl="2" indent="-226313" defTabSz="452627">
              <a:lnSpc>
                <a:spcPct val="80000"/>
              </a:lnSpc>
              <a:spcBef>
                <a:spcPts val="900"/>
              </a:spcBef>
              <a:defRPr sz="2376"/>
            </a:pPr>
            <a:r>
              <a:rPr dirty="0"/>
              <a:t>Ex: demoyuw@140.92.174.32</a:t>
            </a:r>
          </a:p>
        </p:txBody>
      </p:sp>
      <p:sp>
        <p:nvSpPr>
          <p:cNvPr id="28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6082456-2430-428D-8057-DB35828C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4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552EAA0-14EC-A948-BCA2-EF27FC64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1E25086-60DC-7741-A7C5-C72AC2ED5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A633D8-0EB8-9E8D-E13F-FC283D4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132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42C17-4634-494E-9E20-3A56B3F2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E9010-5CC1-0B41-82CE-2F131BFA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3200" dirty="0"/>
              <a:t>作業系統層虛擬化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CN" altLang="en-US" sz="3200" dirty="0"/>
              <a:t>共用</a:t>
            </a:r>
            <a:r>
              <a:rPr kumimoji="1" lang="en-US" altLang="zh-CN" sz="3200" dirty="0"/>
              <a:t>Linux kernel </a:t>
            </a:r>
          </a:p>
          <a:p>
            <a:r>
              <a:rPr kumimoji="1" lang="zh-CN" altLang="en-US" sz="3200" dirty="0"/>
              <a:t>在</a:t>
            </a:r>
            <a:r>
              <a:rPr kumimoji="1" lang="en-US" altLang="zh-CN" sz="3200" dirty="0" err="1"/>
              <a:t>linux</a:t>
            </a:r>
            <a:r>
              <a:rPr kumimoji="1" lang="en-US" altLang="zh-CN" sz="3200" dirty="0"/>
              <a:t> kernel </a:t>
            </a:r>
            <a:r>
              <a:rPr kumimoji="1" lang="zh-CN" altLang="en-US" sz="3200" dirty="0"/>
              <a:t>層隔離各</a:t>
            </a:r>
            <a:r>
              <a:rPr kumimoji="1" lang="en-US" altLang="zh-CN" sz="3200" dirty="0"/>
              <a:t>container</a:t>
            </a:r>
            <a:r>
              <a:rPr kumimoji="1" lang="zh-Hant" altLang="en-US" sz="3200" dirty="0"/>
              <a:t> </a:t>
            </a:r>
            <a:endParaRPr kumimoji="1" lang="en-US" altLang="zh-CN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73B3BD-C414-B17C-5DCF-39C44F73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557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E2992-6764-3548-99DF-9F29CF3A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B18FFD-45C6-D34D-9BD7-67F62349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48525"/>
            <a:ext cx="10515600" cy="4105538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05881C5-6E8B-2945-BD78-5BFC0D8BC89D}"/>
              </a:ext>
            </a:extLst>
          </p:cNvPr>
          <p:cNvSpPr txBox="1"/>
          <p:nvPr/>
        </p:nvSpPr>
        <p:spPr>
          <a:xfrm>
            <a:off x="990600" y="6096000"/>
            <a:ext cx="958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</a:rPr>
              <a:t>圖片來源：</a:t>
            </a:r>
            <a:r>
              <a:rPr kumimoji="1" lang="en-US" altLang="zh-TW" dirty="0">
                <a:latin typeface="Times New Roman" panose="02020603050405020304" pitchFamily="18" charset="0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www.docker.com</a:t>
            </a:r>
            <a:r>
              <a:rPr kumimoji="1" lang="en-US" altLang="zh-TW" dirty="0">
                <a:latin typeface="Times New Roman" panose="02020603050405020304" pitchFamily="18" charset="0"/>
              </a:rPr>
              <a:t>/what-container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99F6B7-9CA9-9346-C9C5-985105DD2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54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95D11-C668-4A40-ACD3-D45D359F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製作流程</a:t>
            </a:r>
            <a:endParaRPr kumimoji="1" lang="zh-TW" altLang="en-US" dirty="0"/>
          </a:p>
        </p:txBody>
      </p:sp>
      <p:pic>
        <p:nvPicPr>
          <p:cNvPr id="7" name="內容版面配置區 6" descr="一張含有 螢幕擷取畫面 的圖片&#10;&#10;自動產生的描述">
            <a:extLst>
              <a:ext uri="{FF2B5EF4-FFF2-40B4-BE49-F238E27FC236}">
                <a16:creationId xmlns:a16="http://schemas.microsoft.com/office/drawing/2014/main" id="{843E4F28-540C-3346-8C1A-5AE557A8E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822" y="1825625"/>
            <a:ext cx="8786355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00B8156-2BD3-B546-83D1-289C0B70A11B}"/>
              </a:ext>
            </a:extLst>
          </p:cNvPr>
          <p:cNvSpPr txBox="1"/>
          <p:nvPr/>
        </p:nvSpPr>
        <p:spPr>
          <a:xfrm>
            <a:off x="0" y="6248400"/>
            <a:ext cx="1213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</a:t>
            </a:r>
            <a:r>
              <a:rPr lang="en-US" altLang="zh-TW" dirty="0">
                <a:latin typeface="Times New Roman" panose="02020603050405020304" pitchFamily="18" charset="0"/>
                <a:hlinkClick r:id="rId3"/>
              </a:rPr>
              <a:t>https://medium.com/platformer-blog/practical-guide-on-writing-a-dockerfile-for-your-application-89376f88b3b5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E08522B-3998-3CDA-61E6-8B5FAC0AE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008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1F8B-4055-BD44-A7C5-7DD05E09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</a:t>
            </a:r>
            <a:r>
              <a:rPr kumimoji="1" lang="zh-CN" altLang="en-US" dirty="0"/>
              <a:t>堆疊</a:t>
            </a:r>
            <a:endParaRPr kumimoji="1" lang="zh-TW" altLang="en-US" dirty="0"/>
          </a:p>
        </p:txBody>
      </p:sp>
      <p:pic>
        <p:nvPicPr>
          <p:cNvPr id="7" name="內容版面配置區 6" descr="一張含有 文字, 時鐘 的圖片&#10;&#10;自動產生的描述">
            <a:extLst>
              <a:ext uri="{FF2B5EF4-FFF2-40B4-BE49-F238E27FC236}">
                <a16:creationId xmlns:a16="http://schemas.microsoft.com/office/drawing/2014/main" id="{212A935A-EE03-AB44-9219-09025B5C4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698276"/>
            <a:ext cx="8947150" cy="2904485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78E598CA-54B4-4743-A6DD-13294F25BEC8}"/>
              </a:ext>
            </a:extLst>
          </p:cNvPr>
          <p:cNvSpPr txBox="1"/>
          <p:nvPr/>
        </p:nvSpPr>
        <p:spPr>
          <a:xfrm>
            <a:off x="1219200" y="5892800"/>
            <a:ext cx="89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https://blog.51cto.com/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wzlinux</a:t>
            </a:r>
            <a:r>
              <a:rPr kumimoji="1" lang="en-US" altLang="zh-TW" dirty="0">
                <a:latin typeface="Times New Roman" panose="02020603050405020304" pitchFamily="18" charset="0"/>
              </a:rPr>
              <a:t>/2044797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98BFB62-F4E6-E653-70E0-87EAFCA8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980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352BF-B212-A028-72F0-1707ADCA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graph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0EA0B2F-9C04-2703-EFC2-127479F2C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19" y="3024981"/>
            <a:ext cx="9361961" cy="178168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F0A50D-D7EF-4F16-5C9C-6DA405F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042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clone project</a:t>
            </a:r>
          </a:p>
          <a:p>
            <a:pPr lvl="1"/>
            <a:r>
              <a:rPr kumimoji="1" lang="en-US" altLang="zh-TW" dirty="0"/>
              <a:t>git clone </a:t>
            </a:r>
            <a:r>
              <a:rPr kumimoji="1" lang="en-US" altLang="zh-TW" dirty="0">
                <a:hlinkClick r:id="rId2"/>
              </a:rPr>
              <a:t>https://github.com/demoyuw/docker-devops.git</a:t>
            </a:r>
            <a:endParaRPr kumimoji="1" lang="en-US" altLang="zh-TW" dirty="0"/>
          </a:p>
          <a:p>
            <a:r>
              <a:rPr kumimoji="1" lang="zh-TW" altLang="en-US" dirty="0"/>
              <a:t>更改資料夾內的檔案與資料夾權限</a:t>
            </a:r>
            <a:endParaRPr kumimoji="1" lang="en-US" altLang="zh-TW" dirty="0"/>
          </a:p>
          <a:p>
            <a:pPr lvl="1"/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pt" altLang="zh-TW" dirty="0"/>
              <a:t>/</a:t>
            </a:r>
          </a:p>
          <a:p>
            <a:r>
              <a:rPr kumimoji="1" lang="pt" altLang="zh-TW" dirty="0" err="1"/>
              <a:t>Run</a:t>
            </a:r>
            <a:r>
              <a:rPr kumimoji="1" lang="pt" altLang="zh-TW" dirty="0"/>
              <a:t> script </a:t>
            </a:r>
            <a:r>
              <a:rPr kumimoji="1" lang="zh-TW" altLang="en-US" dirty="0"/>
              <a:t>安裝</a:t>
            </a:r>
            <a:r>
              <a:rPr kumimoji="1" lang="en-US" altLang="zh-TW" dirty="0"/>
              <a:t>docker</a:t>
            </a:r>
            <a:endParaRPr kumimoji="1" lang="pt" altLang="zh-TW" dirty="0"/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zh-TW" altLang="en-US" dirty="0"/>
              <a:t>切換到</a:t>
            </a:r>
            <a:r>
              <a:rPr kumimoji="1" lang="en-US" altLang="zh-TW" dirty="0"/>
              <a:t>docker</a:t>
            </a:r>
            <a:r>
              <a:rPr kumimoji="1" lang="zh-TW" altLang="en-US" dirty="0"/>
              <a:t>群組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newgrp</a:t>
            </a:r>
            <a:r>
              <a:rPr kumimoji="1" lang="en-US" altLang="zh-TW" dirty="0"/>
              <a:t> docker</a:t>
            </a:r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version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EEE6D-C359-9A54-7D1D-397A93A5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1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57972-A588-F049-932D-04D49713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Python Flask API </a:t>
            </a:r>
            <a:r>
              <a:rPr kumimoji="1" lang="en-US" altLang="zh-TW" dirty="0" err="1"/>
              <a:t>Dockerfile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2BD90-AEED-B746-998C-1D2E02499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06052"/>
            <a:ext cx="817632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FROM python:3</a:t>
            </a:r>
          </a:p>
          <a:p>
            <a:pPr marL="0" indent="0">
              <a:buNone/>
            </a:pPr>
            <a:r>
              <a:rPr kumimoji="1" lang="en-US" altLang="zh-TW" dirty="0"/>
              <a:t>WORKDIR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/app</a:t>
            </a:r>
          </a:p>
          <a:p>
            <a:pPr marL="0" indent="0">
              <a:buNone/>
            </a:pPr>
            <a:r>
              <a:rPr kumimoji="1" lang="en-US" altLang="zh-TW" dirty="0"/>
              <a:t>COPY </a:t>
            </a:r>
            <a:r>
              <a:rPr kumimoji="1" lang="en-US" altLang="zh-TW" dirty="0" err="1"/>
              <a:t>requirements.txt</a:t>
            </a:r>
            <a:r>
              <a:rPr kumimoji="1" lang="en-US" altLang="zh-TW" dirty="0"/>
              <a:t> .</a:t>
            </a:r>
          </a:p>
          <a:p>
            <a:pPr marL="0" indent="0">
              <a:buNone/>
            </a:pPr>
            <a:r>
              <a:rPr kumimoji="1" lang="en-US" altLang="zh-TW" dirty="0"/>
              <a:t>RUN pip install --no-cache-</a:t>
            </a:r>
            <a:r>
              <a:rPr kumimoji="1" lang="en-US" altLang="zh-TW" dirty="0" err="1"/>
              <a:t>dir</a:t>
            </a:r>
            <a:r>
              <a:rPr kumimoji="1" lang="en-US" altLang="zh-TW" dirty="0"/>
              <a:t> -r ./</a:t>
            </a:r>
            <a:r>
              <a:rPr kumimoji="1" lang="en-US" altLang="zh-TW" dirty="0" err="1"/>
              <a:t>requirements.txt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CMD [ "python", "</a:t>
            </a:r>
            <a:r>
              <a:rPr kumimoji="1" lang="en-US" altLang="zh-TW" dirty="0" err="1"/>
              <a:t>api.py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1B9D08-9CB9-AC36-8FF6-AC0523FC8552}"/>
              </a:ext>
            </a:extLst>
          </p:cNvPr>
          <p:cNvSpPr txBox="1"/>
          <p:nvPr/>
        </p:nvSpPr>
        <p:spPr>
          <a:xfrm>
            <a:off x="1178351" y="5788058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/flask-</a:t>
            </a:r>
            <a:r>
              <a:rPr kumimoji="1" lang="en-US" altLang="zh-TW" dirty="0" err="1"/>
              <a:t>api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2AF7D-5707-9A15-09AB-918BAB51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03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89087A-B814-FF40-BBD7-4A485C33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build: </a:t>
            </a:r>
            <a:r>
              <a:rPr kumimoji="1" lang="zh-CN" altLang="en-US" dirty="0"/>
              <a:t>產生</a:t>
            </a:r>
            <a:r>
              <a:rPr kumimoji="1" lang="en-US" altLang="zh-CN" dirty="0"/>
              <a:t>image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58A1A6-24EB-094E-A6BE-11BB0830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docker file </a:t>
            </a:r>
            <a:r>
              <a:rPr kumimoji="1" lang="zh-Hant" altLang="en-US" dirty="0"/>
              <a:t>這層，執行</a:t>
            </a:r>
            <a:r>
              <a:rPr kumimoji="1" lang="en-US" altLang="zh-Hant" dirty="0"/>
              <a:t>build</a:t>
            </a:r>
          </a:p>
          <a:p>
            <a:pPr lvl="1"/>
            <a:r>
              <a:rPr kumimoji="1" lang="en-US" altLang="zh-Hant" dirty="0"/>
              <a:t>docker build . -t flask:v0.1</a:t>
            </a:r>
          </a:p>
          <a:p>
            <a:r>
              <a:rPr kumimoji="1" lang="zh-Hant" altLang="en-US" dirty="0"/>
              <a:t>在</a:t>
            </a:r>
            <a:r>
              <a:rPr kumimoji="1" lang="en-US" altLang="zh-Hant" dirty="0"/>
              <a:t>build </a:t>
            </a:r>
            <a:r>
              <a:rPr kumimoji="1" lang="zh-Hant" altLang="en-US" dirty="0"/>
              <a:t>階段</a:t>
            </a:r>
            <a:r>
              <a:rPr kumimoji="1" lang="en-US" altLang="zh-Hant" dirty="0"/>
              <a:t>debug</a:t>
            </a:r>
          </a:p>
          <a:p>
            <a:pPr lvl="1"/>
            <a:r>
              <a:rPr lang="en" altLang="zh-TW" dirty="0"/>
              <a:t>docker build --progress=plain --no-cache</a:t>
            </a:r>
            <a:r>
              <a:rPr kumimoji="1" lang="en-US" altLang="zh-TW" dirty="0"/>
              <a:t> .</a:t>
            </a:r>
            <a:endParaRPr kumimoji="1" lang="en-US" altLang="zh-Hant" dirty="0"/>
          </a:p>
          <a:p>
            <a:r>
              <a:rPr kumimoji="1" lang="zh-CN" altLang="en-US" dirty="0"/>
              <a:t>檢查</a:t>
            </a:r>
            <a:r>
              <a:rPr kumimoji="1" lang="en-US" altLang="zh-CN" dirty="0"/>
              <a:t>docker image</a:t>
            </a:r>
            <a:endParaRPr kumimoji="1" lang="en-US" altLang="zh-Hant" dirty="0"/>
          </a:p>
          <a:p>
            <a:pPr lvl="1"/>
            <a:r>
              <a:rPr kumimoji="1" lang="en-US" altLang="zh-Hant" dirty="0"/>
              <a:t>docker image ls</a:t>
            </a:r>
          </a:p>
          <a:p>
            <a:pPr lvl="1"/>
            <a:endParaRPr kumimoji="1" lang="en-US" altLang="zh-Hant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730D134-A7A7-EC78-ECAE-8A179261A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66" y="5859656"/>
            <a:ext cx="7772400" cy="81400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6DD0765-1028-EE88-5CE6-3CB4E5B0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566" y="4474562"/>
            <a:ext cx="7772400" cy="12954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AFD297-1BBA-8525-542F-ADEB75A0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1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BA786-804A-C941-A52B-1E3ECCBD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0CF588-A6E8-324B-9B9A-53294DE3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幫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增加一個新的</a:t>
            </a:r>
            <a:r>
              <a:rPr kumimoji="1" lang="en-US" altLang="zh-CN" dirty="0"/>
              <a:t>tag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tag 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 </a:t>
            </a:r>
            <a:r>
              <a:rPr lang="en-US" altLang="zh-TW" dirty="0" err="1"/>
              <a:t>demoyuw</a:t>
            </a:r>
            <a:r>
              <a:rPr lang="en-US" altLang="zh-TW" dirty="0"/>
              <a:t>/nginx</a:t>
            </a:r>
          </a:p>
          <a:p>
            <a:r>
              <a:rPr lang="zh-CN" altLang="en-US" dirty="0"/>
              <a:t>刪除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</a:t>
            </a:r>
            <a:r>
              <a:rPr kumimoji="1" lang="en-US" altLang="zh-TW" dirty="0"/>
              <a:t>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</a:t>
            </a:r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rmi</a:t>
            </a:r>
            <a:r>
              <a:rPr kumimoji="1" lang="en-US" altLang="zh-TW" dirty="0"/>
              <a:t> {</a:t>
            </a:r>
            <a:r>
              <a:rPr kumimoji="1" lang="en-US" altLang="zh-TW" dirty="0" err="1"/>
              <a:t>repository:tag</a:t>
            </a:r>
            <a:r>
              <a:rPr kumimoji="1" lang="en-US" altLang="zh-TW" dirty="0"/>
              <a:t>} 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匯出成一個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</a:t>
            </a:r>
            <a:endParaRPr kumimoji="1" lang="en-US" altLang="zh-CN" dirty="0"/>
          </a:p>
          <a:p>
            <a:pPr lvl="1"/>
            <a:r>
              <a:rPr lang="en-US" altLang="zh-TW" dirty="0"/>
              <a:t>docker save -o {</a:t>
            </a:r>
            <a:r>
              <a:rPr lang="en-US" altLang="zh-TW" dirty="0" err="1"/>
              <a:t>output_file.tgz</a:t>
            </a:r>
            <a:r>
              <a:rPr lang="en-US" altLang="zh-TW" dirty="0"/>
              <a:t>} {</a:t>
            </a:r>
            <a:r>
              <a:rPr lang="en-US" altLang="zh-TW" dirty="0" err="1"/>
              <a:t>docker_image_id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檔匯入到</a:t>
            </a:r>
            <a:r>
              <a:rPr kumimoji="1" lang="en-US" altLang="zh-CN" dirty="0"/>
              <a:t>docker image</a:t>
            </a:r>
            <a:r>
              <a:rPr kumimoji="1" lang="zh-CN" altLang="en-US" dirty="0"/>
              <a:t>裡</a:t>
            </a:r>
            <a:endParaRPr lang="en-US" altLang="zh-CN" dirty="0"/>
          </a:p>
          <a:p>
            <a:pPr lvl="1"/>
            <a:r>
              <a:rPr lang="en-US" altLang="zh-TW" dirty="0"/>
              <a:t>docker load -</a:t>
            </a:r>
            <a:r>
              <a:rPr lang="en-US" altLang="zh-TW" dirty="0" err="1"/>
              <a:t>i</a:t>
            </a:r>
            <a:r>
              <a:rPr lang="en-US" altLang="zh-TW" dirty="0"/>
              <a:t>  </a:t>
            </a:r>
            <a:r>
              <a:rPr lang="en-US" altLang="zh-TW" dirty="0" err="1"/>
              <a:t>backendscheduler.tgz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7B1BF-680E-7B87-C540-D73DA0EB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541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0D77-E2A9-7B49-90E1-037AF6C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container</a:t>
            </a:r>
            <a:r>
              <a:rPr kumimoji="1" lang="zh-TW" altLang="en-US" dirty="0"/>
              <a:t> </a:t>
            </a:r>
            <a:r>
              <a:rPr kumimoji="1" lang="en-US" altLang="zh-TW" dirty="0"/>
              <a:t>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06C78-2FB8-DE46-970F-562153E7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Run 1</a:t>
            </a:r>
            <a:r>
              <a:rPr kumimoji="1" lang="zh-TW" altLang="en-US" dirty="0"/>
              <a:t>個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-v {{</a:t>
            </a:r>
            <a:r>
              <a:rPr lang="zh-TW" altLang="en-US" dirty="0"/>
              <a:t>本地端路徑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 -p {{</a:t>
            </a:r>
            <a:r>
              <a:rPr lang="zh-CN" altLang="en-US" dirty="0"/>
              <a:t>本地端</a:t>
            </a:r>
            <a:r>
              <a:rPr lang="en-US" altLang="zh-CN" dirty="0"/>
              <a:t>port}}:{{container port}} --name {</a:t>
            </a:r>
            <a:r>
              <a:rPr lang="en-US" altLang="zh-CN" dirty="0" err="1"/>
              <a:t>process_name</a:t>
            </a:r>
            <a:r>
              <a:rPr lang="en-US" altLang="zh-CN" dirty="0"/>
              <a:t>} {</a:t>
            </a:r>
            <a:r>
              <a:rPr lang="en-US" altLang="zh-CN" dirty="0" err="1"/>
              <a:t>image_name:version</a:t>
            </a:r>
            <a:r>
              <a:rPr lang="en-US" altLang="zh-CN" dirty="0"/>
              <a:t>} </a:t>
            </a:r>
          </a:p>
          <a:p>
            <a:pPr lvl="1"/>
            <a:r>
              <a:rPr kumimoji="1" lang="en-US" altLang="zh-TW" dirty="0"/>
              <a:t>Ex: 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80:10009 -v /opt:/opt --name flask flask</a:t>
            </a:r>
          </a:p>
          <a:p>
            <a:r>
              <a:rPr kumimoji="1" lang="en-US" altLang="zh-CN" dirty="0"/>
              <a:t>Container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360E43-10E5-AB2C-0246-71A3B5A7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07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3A1EC-08FF-0F42-9040-B78372E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run </a:t>
            </a:r>
            <a:r>
              <a:rPr kumimoji="1" lang="zh-CN" altLang="en-US" dirty="0"/>
              <a:t>參數介紹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579F35-EB68-FE4B-AF0D-F2B3182C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(interactive)</a:t>
            </a:r>
          </a:p>
          <a:p>
            <a:pPr lvl="2"/>
            <a:r>
              <a:rPr kumimoji="1" lang="en-US" altLang="zh-TW" dirty="0"/>
              <a:t>Keep STDIN open</a:t>
            </a:r>
          </a:p>
          <a:p>
            <a:pPr lvl="2"/>
            <a:r>
              <a:rPr kumimoji="1" lang="zh-CN" altLang="en-US" dirty="0"/>
              <a:t>維持標準輸入</a:t>
            </a:r>
            <a:r>
              <a:rPr kumimoji="1" lang="en-US" altLang="zh-CN" dirty="0"/>
              <a:t>open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-t (</a:t>
            </a:r>
            <a:r>
              <a:rPr kumimoji="1" lang="en-US" altLang="zh-TW" dirty="0" err="1"/>
              <a:t>tty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en-US" altLang="zh-TW" dirty="0"/>
              <a:t>Allocate a pseudo-TTY</a:t>
            </a:r>
          </a:p>
          <a:p>
            <a:pPr lvl="2"/>
            <a:r>
              <a:rPr lang="zh-TW" altLang="en-US" dirty="0"/>
              <a:t>为容器分配一个虛擬終端機，才能執行</a:t>
            </a:r>
            <a:r>
              <a:rPr lang="zh-CN" altLang="en-US" dirty="0"/>
              <a:t>給後續執行</a:t>
            </a:r>
            <a:r>
              <a:rPr lang="en-US" altLang="zh-CN" dirty="0"/>
              <a:t>shell(ex: /bin/bash or /bin/</a:t>
            </a:r>
            <a:r>
              <a:rPr lang="en-US" altLang="zh-CN" dirty="0" err="1"/>
              <a:t>sh</a:t>
            </a:r>
            <a:r>
              <a:rPr lang="en-US" altLang="zh-CN" dirty="0"/>
              <a:t>)</a:t>
            </a:r>
            <a:r>
              <a:rPr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-d (detach)</a:t>
            </a:r>
          </a:p>
          <a:p>
            <a:pPr lvl="2"/>
            <a:r>
              <a:rPr kumimoji="1" lang="en-US" altLang="zh-TW" dirty="0"/>
              <a:t>Run container in background</a:t>
            </a:r>
          </a:p>
          <a:p>
            <a:pPr lvl="2"/>
            <a:r>
              <a:rPr kumimoji="1" lang="zh-CN" altLang="en-US" dirty="0"/>
              <a:t>在背景裡執行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A4C867-4908-900B-E7B0-2575A4A8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15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621F0-AA5B-FD42-B2C0-DB2D939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159F93-F52B-C74F-850F-221EF0262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停止</a:t>
            </a:r>
            <a:r>
              <a:rPr kumimoji="1" lang="en-US" altLang="zh-TW" dirty="0"/>
              <a:t> container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啟動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endParaRPr kumimoji="1" lang="en-US" altLang="zh-TW" dirty="0"/>
          </a:p>
          <a:p>
            <a:r>
              <a:rPr kumimoji="1" lang="zh-TW" altLang="en-US" dirty="0"/>
              <a:t>刪除</a:t>
            </a:r>
            <a:r>
              <a:rPr kumimoji="1" lang="en-US" altLang="zh-TW" dirty="0"/>
              <a:t>process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9D52D2-19A7-14BD-1BBE-90A53ED9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769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9AEBD-2371-084D-AE43-386CA269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en-US" altLang="zh-TW"/>
              <a:t>process - 3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EDA505-9CA6-C14B-87D2-0520CC27B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停止所有正在執行的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stop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</a:t>
            </a:r>
            <a:r>
              <a:rPr lang="en-US" altLang="zh-TW" dirty="0"/>
              <a:t>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 image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$(docker images -q)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74D323-FEB8-4D4E-B531-D92C2A8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BC991-9F8A-684C-94E5-0179D68D8362}" type="datetime1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59A24B-7AD1-4346-8B62-769F17AF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3042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9E7882-67CC-DC49-874C-D61C0995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</a:t>
            </a:r>
            <a:r>
              <a:rPr kumimoji="1" lang="zh-TW" altLang="en-US" dirty="0"/>
              <a:t> 除錯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05E55-42BD-A542-B044-E4D9EFCF4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內執行</a:t>
            </a:r>
            <a:r>
              <a:rPr kumimoji="1" lang="en-US" altLang="zh-CN" dirty="0"/>
              <a:t>(</a:t>
            </a:r>
            <a:r>
              <a:rPr kumimoji="1" lang="zh-CN" altLang="en-US" dirty="0"/>
              <a:t>類似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ssh</a:t>
            </a:r>
            <a:r>
              <a:rPr kumimoji="1" lang="en-US" altLang="zh-CN" dirty="0"/>
              <a:t>)</a:t>
            </a:r>
          </a:p>
          <a:p>
            <a:pPr lvl="1"/>
            <a:r>
              <a:rPr lang="en-US" altLang="zh-TW" dirty="0"/>
              <a:t>docker exec -it {</a:t>
            </a:r>
            <a:r>
              <a:rPr lang="en-US" altLang="zh-TW" dirty="0" err="1"/>
              <a:t>container_name</a:t>
            </a:r>
            <a:r>
              <a:rPr lang="en-US" altLang="zh-TW" dirty="0"/>
              <a:t>} /bin/bash</a:t>
            </a:r>
          </a:p>
          <a:p>
            <a:pPr lvl="2"/>
            <a:r>
              <a:rPr lang="zh-CN" altLang="en-US" dirty="0"/>
              <a:t>到</a:t>
            </a:r>
            <a:r>
              <a:rPr lang="en-US" altLang="zh-CN" dirty="0"/>
              <a:t>container</a:t>
            </a:r>
            <a:r>
              <a:rPr lang="zh-CN" altLang="en-US" dirty="0"/>
              <a:t>內執行</a:t>
            </a:r>
            <a:endParaRPr lang="en-US" altLang="zh-TW" dirty="0"/>
          </a:p>
          <a:p>
            <a:pPr lvl="1"/>
            <a:r>
              <a:rPr kumimoji="1" lang="en-US" altLang="zh-TW" dirty="0"/>
              <a:t>docker exec -it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r>
              <a:rPr kumimoji="1" lang="en-US" altLang="zh-TW" dirty="0"/>
              <a:t> ls /</a:t>
            </a:r>
          </a:p>
          <a:p>
            <a:pPr lvl="2"/>
            <a:r>
              <a:rPr kumimoji="1" lang="zh-CN" altLang="en-US" dirty="0"/>
              <a:t>幫你至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 ‘ls /’</a:t>
            </a:r>
            <a:r>
              <a:rPr kumimoji="1" lang="zh-CN" altLang="en-US" dirty="0"/>
              <a:t>，並回傳結果</a:t>
            </a:r>
            <a:endParaRPr kumimoji="1" lang="en-US" altLang="zh-TW" dirty="0"/>
          </a:p>
          <a:p>
            <a:r>
              <a:rPr kumimoji="1" lang="en-US" altLang="zh-TW" dirty="0"/>
              <a:t>Container detail(container</a:t>
            </a:r>
            <a:r>
              <a:rPr kumimoji="1" lang="zh-TW" altLang="en-US" dirty="0"/>
              <a:t> </a:t>
            </a:r>
            <a:r>
              <a:rPr kumimoji="1" lang="zh-CN" altLang="en-US" dirty="0"/>
              <a:t>設定檔</a:t>
            </a:r>
            <a:r>
              <a:rPr kumimoji="1" lang="en-US" altLang="zh-TW" dirty="0"/>
              <a:t>)</a:t>
            </a:r>
          </a:p>
          <a:p>
            <a:pPr lvl="1"/>
            <a:r>
              <a:rPr lang="en-US" altLang="zh-TW" dirty="0"/>
              <a:t>docker inspect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en-US" altLang="zh-TW" dirty="0"/>
              <a:t>Logs (</a:t>
            </a:r>
            <a:r>
              <a:rPr kumimoji="1" lang="zh-CN" altLang="en-US" dirty="0"/>
              <a:t>顯示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內的</a:t>
            </a:r>
            <a:r>
              <a:rPr kumimoji="1" lang="en-US" altLang="zh-CN" dirty="0" err="1"/>
              <a:t>stdout</a:t>
            </a:r>
            <a:r>
              <a:rPr kumimoji="1" lang="en-US" altLang="zh-CN" dirty="0"/>
              <a:t>, stderr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d</a:t>
            </a:r>
            <a:r>
              <a:rPr kumimoji="1" lang="en-US" altLang="zh-TW"/>
              <a:t>ocker </a:t>
            </a:r>
            <a:r>
              <a:rPr kumimoji="1" lang="en-US" altLang="zh-TW" dirty="0"/>
              <a:t>logs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CE0ED0-12FD-6153-6809-42964D696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458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5BACA56-0942-2E4E-97EA-1A6A7D1A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88AB1F7F-1F8A-2148-87DF-1CB49DA7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B5AA1B-E821-DD6E-2450-CEF24A94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620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EAB08AD-D650-174F-A9C4-49C913F7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488871-2601-0F4E-BA65-D856E5EA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Hant" altLang="en-US" dirty="0"/>
              <a:t> 管理工具</a:t>
            </a:r>
            <a:endParaRPr kumimoji="1" lang="en-US" altLang="zh-Hant" dirty="0"/>
          </a:p>
          <a:p>
            <a:r>
              <a:rPr kumimoji="1" lang="zh-TW" altLang="en-US" dirty="0"/>
              <a:t>自動化部屬</a:t>
            </a:r>
            <a:endParaRPr kumimoji="1" lang="en-US" altLang="zh-TW" dirty="0"/>
          </a:p>
          <a:p>
            <a:r>
              <a:rPr kumimoji="1" lang="zh-TW" altLang="en-US" dirty="0"/>
              <a:t>自動化擴展</a:t>
            </a:r>
            <a:endParaRPr kumimoji="1" lang="en-US" altLang="zh-TW" dirty="0"/>
          </a:p>
          <a:p>
            <a:r>
              <a:rPr kumimoji="1" lang="zh-TW" altLang="en-US" dirty="0"/>
              <a:t>使用</a:t>
            </a:r>
            <a:r>
              <a:rPr kumimoji="1" lang="en-US" altLang="zh-TW" dirty="0"/>
              <a:t>Container</a:t>
            </a:r>
            <a:r>
              <a:rPr kumimoji="1" lang="zh-CN" altLang="en-US" dirty="0"/>
              <a:t>封裝與執行</a:t>
            </a:r>
            <a:endParaRPr kumimoji="1" lang="en-US" altLang="zh-CN" dirty="0"/>
          </a:p>
          <a:p>
            <a:r>
              <a:rPr kumimoji="1" lang="zh-CN" altLang="en-US" dirty="0"/>
              <a:t>解決大規模部署問題</a:t>
            </a:r>
            <a:endParaRPr kumimoji="1" lang="en-US" altLang="zh-CN" dirty="0"/>
          </a:p>
          <a:p>
            <a:r>
              <a:rPr kumimoji="1" lang="zh-CN" altLang="en-US" dirty="0"/>
              <a:t>擁有自我修復機制</a:t>
            </a:r>
            <a:endParaRPr kumimoji="1" lang="en-US" altLang="zh-TW" dirty="0"/>
          </a:p>
          <a:p>
            <a:endParaRPr kumimoji="1" lang="en-US" altLang="zh-Hant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56F963-65D8-874C-8F82-ACC31419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164" y="3576918"/>
            <a:ext cx="1999672" cy="1999672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7CD8D76-95A6-E277-C3D9-F76822AB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645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255EE-D350-6344-92F0-B0A3DA80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7354C-023A-7C49-807D-6E437648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Pods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po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Kubernetes</a:t>
            </a:r>
            <a:r>
              <a:rPr kumimoji="1" lang="zh-CN" altLang="en-US" dirty="0"/>
              <a:t>最小單位，由一個或多個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所組成</a:t>
            </a:r>
            <a:endParaRPr kumimoji="1" lang="en-US" altLang="zh-CN" dirty="0"/>
          </a:p>
          <a:p>
            <a:r>
              <a:rPr kumimoji="1" lang="en-US" altLang="zh-TW" dirty="0" err="1"/>
              <a:t>ReplicaSet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zh-CN" altLang="en-US" dirty="0"/>
              <a:t>部署的版本紀錄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對部屬出的</a:t>
            </a:r>
            <a:r>
              <a:rPr kumimoji="1" lang="en-US" altLang="zh-CN" dirty="0"/>
              <a:t>pod</a:t>
            </a:r>
            <a:r>
              <a:rPr kumimoji="1" lang="zh-CN" altLang="en-US" dirty="0"/>
              <a:t>進行管理及維持正常運作</a:t>
            </a:r>
            <a:endParaRPr kumimoji="1" lang="en-US" altLang="zh-CN" dirty="0"/>
          </a:p>
          <a:p>
            <a:r>
              <a:rPr kumimoji="1" lang="en-US" altLang="zh-TW" dirty="0"/>
              <a:t>Deployment (deploy)</a:t>
            </a:r>
          </a:p>
          <a:p>
            <a:pPr lvl="1"/>
            <a:r>
              <a:rPr kumimoji="1" lang="zh-CN" altLang="en-US" dirty="0"/>
              <a:t>管理</a:t>
            </a:r>
            <a:r>
              <a:rPr kumimoji="1" lang="zh-Hant" altLang="en-US" dirty="0"/>
              <a:t> </a:t>
            </a:r>
            <a:r>
              <a:rPr kumimoji="1" lang="en-US" altLang="zh-TW" dirty="0" err="1"/>
              <a:t>ReplicateSet</a:t>
            </a:r>
            <a:endParaRPr kumimoji="1" lang="en-US" altLang="zh-Hant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627C8-E6FF-6E7C-B907-EE63489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183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BF08E-8F2F-9649-9AB4-7067F64B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Deployment </a:t>
            </a:r>
            <a:r>
              <a:rPr kumimoji="1" lang="zh-CN" altLang="en-US" dirty="0"/>
              <a:t>資源從屬關係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4D659B4-58F2-3647-A530-76D4FBC6D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996" y="1825625"/>
            <a:ext cx="6848007" cy="4351338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DB5F1CE-D559-8B4A-8DC7-899B44713673}"/>
              </a:ext>
            </a:extLst>
          </p:cNvPr>
          <p:cNvSpPr txBox="1"/>
          <p:nvPr/>
        </p:nvSpPr>
        <p:spPr>
          <a:xfrm>
            <a:off x="1165253" y="6176963"/>
            <a:ext cx="9953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ithelp.ithome.com.tw</a:t>
            </a:r>
            <a:r>
              <a:rPr kumimoji="1" lang="en-US" altLang="zh-TW" dirty="0">
                <a:latin typeface="Times New Roman" panose="02020603050405020304" pitchFamily="18" charset="0"/>
              </a:rPr>
              <a:t>/articles/10195639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2D2C570-920E-7263-2E0B-232DC262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3132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58E30-5432-5149-A95D-E4EE3C88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pods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D3B82B-1BFA-864D-851A-D29FD8ABD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397"/>
            <a:ext cx="10515600" cy="4287794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9D089D-FCAB-3942-9A46-0529F67F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868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1A025-69D6-914C-A3E4-3A29018B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34EE5-1B96-C64F-893D-3C79855D0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Service (svc)</a:t>
            </a:r>
          </a:p>
          <a:p>
            <a:pPr lvl="1"/>
            <a:r>
              <a:rPr kumimoji="1" lang="zh-CN" altLang="en-US" dirty="0"/>
              <a:t>處理</a:t>
            </a:r>
            <a:r>
              <a:rPr kumimoji="1" lang="en-US" altLang="zh-CN" dirty="0"/>
              <a:t>Kubernetes</a:t>
            </a:r>
            <a:r>
              <a:rPr kumimoji="1" lang="zh-CN" altLang="en-US" dirty="0"/>
              <a:t>對外網路</a:t>
            </a:r>
            <a:endParaRPr kumimoji="1" lang="en-US" altLang="zh-CN" dirty="0"/>
          </a:p>
          <a:p>
            <a:r>
              <a:rPr kumimoji="1" lang="en-US" altLang="zh-TW" dirty="0"/>
              <a:t>Label and Label Selector</a:t>
            </a:r>
          </a:p>
          <a:p>
            <a:pPr lvl="1"/>
            <a:r>
              <a:rPr kumimoji="1" lang="en-US" altLang="zh-TW" dirty="0"/>
              <a:t> key=value </a:t>
            </a:r>
            <a:r>
              <a:rPr kumimoji="1" lang="zh-CN" altLang="en-US" dirty="0"/>
              <a:t>標籤，用以選擇元件及供</a:t>
            </a:r>
            <a:r>
              <a:rPr kumimoji="1" lang="en-US" altLang="zh-CN" dirty="0" err="1"/>
              <a:t>kubernetes</a:t>
            </a:r>
            <a:r>
              <a:rPr kumimoji="1" lang="en-US" altLang="zh-CN" dirty="0"/>
              <a:t> </a:t>
            </a:r>
            <a:r>
              <a:rPr kumimoji="1" lang="zh-CN" altLang="en-US" dirty="0"/>
              <a:t>進行資源綁定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DA3AAF-8E5B-BA90-9326-A1C36F44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978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339A5D9-73FC-514D-80A3-8D1A8724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-Service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8B1815F-033B-BD47-948B-A5DF4FDB1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488" y="1825625"/>
            <a:ext cx="4947023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A42549-CF5A-2A9B-B37E-7A87FA3C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995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01C31-6A2B-ED4F-B546-EBCF104C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Label and Label Selector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67060C9-45AD-0E4A-8D75-B571D53B3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561" y="1514867"/>
            <a:ext cx="4409286" cy="4195762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E14746-73C6-1AC4-56CD-48A01ABD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0731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A361E-5AFC-534A-ACFE-E41B176F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Selector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CD465378-A4DF-CA4F-87ED-698F4F579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3829" y="1206719"/>
            <a:ext cx="5190697" cy="49702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B044E18-D9BA-0445-4917-0AB60701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53705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23A8F-AE5C-7141-ABEB-AF60E5C4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Scaling</a:t>
            </a:r>
            <a:endParaRPr kumimoji="1"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90FE9BF6-FF55-044B-87D6-D00664BC4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3783" y="1825625"/>
            <a:ext cx="3970434" cy="4351338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D2EFE03-4E8B-EE42-B8CB-C0290AD00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72053" y="1825625"/>
            <a:ext cx="4181893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D2FB05-BEA9-B897-1F1D-E99663C0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586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720F2-121D-EE41-9D01-3E0D496C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38ABCE8-F959-384F-BA09-0A4CBF349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61567" y="1656878"/>
            <a:ext cx="3726750" cy="4195763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D56F9DF5-E9D0-3844-8BC2-442B5AA98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6309" y="1678405"/>
            <a:ext cx="4254500" cy="389890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C7FACBF-5B6E-FF2F-DE27-28F7ACE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53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9468-B349-6047-ADD0-8FAD207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3D2AC46-FDC6-8F4C-B209-7ACF56FAEA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4906" y="2092017"/>
            <a:ext cx="4292600" cy="3975100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D509847-CDB6-7C42-BD67-3B28DB246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5413"/>
            <a:ext cx="5181600" cy="4291761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DAE7923-8E96-E4B7-A172-9C25ADE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894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D88173B-54E7-3A43-A66B-57C57005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kubectl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1C0FE1C-52BA-F447-BD2D-6A83B77C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Ubuntu install </a:t>
            </a:r>
            <a:r>
              <a:rPr lang="en" altLang="zh-TW" dirty="0" err="1"/>
              <a:t>kubectl</a:t>
            </a:r>
            <a:endParaRPr lang="en" altLang="zh-TW" dirty="0"/>
          </a:p>
          <a:p>
            <a:pPr lvl="1"/>
            <a:r>
              <a:rPr lang="en" altLang="zh-TW" dirty="0" err="1"/>
              <a:t>sudo</a:t>
            </a:r>
            <a:r>
              <a:rPr lang="en" altLang="zh-TW" dirty="0"/>
              <a:t> snap install </a:t>
            </a:r>
            <a:r>
              <a:rPr lang="en" altLang="zh-TW" dirty="0" err="1"/>
              <a:t>kubectl</a:t>
            </a:r>
            <a:r>
              <a:rPr lang="en" altLang="zh-TW" dirty="0"/>
              <a:t> --classic</a:t>
            </a:r>
          </a:p>
          <a:p>
            <a:r>
              <a:rPr kumimoji="1" lang="zh-CN" altLang="en-US" dirty="0"/>
              <a:t>安裝方式可參照</a:t>
            </a:r>
            <a:endParaRPr kumimoji="1" lang="en-US" altLang="zh-CN" dirty="0"/>
          </a:p>
          <a:p>
            <a:pPr lvl="1"/>
            <a:r>
              <a:rPr lang="en-US" altLang="zh-TW" dirty="0">
                <a:hlinkClick r:id="rId2"/>
              </a:rPr>
              <a:t>https://kubernetes.io/docs/tasks/tools/install-kubectl/</a:t>
            </a: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8ACF24F-00B4-2C2C-0272-6B6DEB8E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23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EC0BF1D-70FA-5B4B-B92A-5A64FCC4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D085377-797C-6E43-AD50-E8C15C394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26F9B70-C975-897C-AD94-759CD507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1493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B4518-179A-DA44-AC15-D2E1980E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Kubernetes: Rancher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73B8C-96F1-FA4E-87E8-78839D6E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部署與管理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open source software</a:t>
            </a:r>
          </a:p>
          <a:p>
            <a:r>
              <a:rPr kumimoji="1" lang="zh-CN" altLang="en-US" dirty="0"/>
              <a:t>可同時管理多套</a:t>
            </a:r>
            <a:endParaRPr kumimoji="1" lang="en-US" altLang="zh-CN" dirty="0"/>
          </a:p>
          <a:p>
            <a:r>
              <a:rPr kumimoji="1" lang="zh-CN" altLang="en-US" dirty="0"/>
              <a:t>視覺化部署與操作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A5ED1D-0A64-C043-9D08-1246D1CF2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09" y="4150658"/>
            <a:ext cx="2336800" cy="1828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3EA4DAB-1AB3-B84A-7FC7-9C8084E09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84" y="3944086"/>
            <a:ext cx="6481594" cy="21082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E50F4A-DA53-A8F2-4171-7A6FFA8C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4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03F61-DD0D-A443-A8DF-8555A5B1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 container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9451A5-D890-7741-940B-4687EF20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/script/</a:t>
            </a:r>
            <a:r>
              <a:rPr kumimoji="1" lang="en" altLang="zh-TW" dirty="0" err="1"/>
              <a:t>ubuntu_deploy_rancher.sh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FAB138-7AE4-F69A-E646-16A01CB9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30189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2818B5-49FE-6C41-B6A5-138A0788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  <a:endParaRPr kumimoji="1"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CFE5353-F2CF-33A5-8BDC-DF40F1E639A6}"/>
              </a:ext>
            </a:extLst>
          </p:cNvPr>
          <p:cNvSpPr txBox="1"/>
          <p:nvPr/>
        </p:nvSpPr>
        <p:spPr>
          <a:xfrm>
            <a:off x="1028700" y="1787244"/>
            <a:ext cx="1013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這邊特別把</a:t>
            </a:r>
            <a:r>
              <a:rPr kumimoji="1" lang="en-US" altLang="zh-TW" dirty="0"/>
              <a:t>Rancher</a:t>
            </a:r>
            <a:r>
              <a:rPr kumimoji="1" lang="zh-TW" altLang="en-US" dirty="0"/>
              <a:t>網頁服務用的</a:t>
            </a:r>
            <a:r>
              <a:rPr kumimoji="1" lang="en-US" altLang="zh-TW" dirty="0"/>
              <a:t>port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</a:t>
            </a:r>
            <a:r>
              <a:rPr kumimoji="1" lang="zh-TW" altLang="en-US" dirty="0"/>
              <a:t>從</a:t>
            </a:r>
            <a:r>
              <a:rPr kumimoji="1" lang="en-US" altLang="zh-TW" dirty="0"/>
              <a:t>80 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10080</a:t>
            </a:r>
            <a:r>
              <a:rPr kumimoji="1" lang="zh-TW" altLang="en-US" dirty="0"/>
              <a:t>，</a:t>
            </a:r>
            <a:r>
              <a:rPr kumimoji="1" lang="en-US" altLang="zh-TW" dirty="0"/>
              <a:t>HTTPs</a:t>
            </a:r>
            <a:r>
              <a:rPr kumimoji="1" lang="zh-TW" altLang="en-US" dirty="0"/>
              <a:t>從</a:t>
            </a:r>
            <a:r>
              <a:rPr kumimoji="1" lang="en-US" altLang="zh-TW" dirty="0"/>
              <a:t>443</a:t>
            </a:r>
            <a:r>
              <a:rPr kumimoji="1" lang="zh-TW" altLang="en-US" dirty="0"/>
              <a:t>指定成</a:t>
            </a:r>
            <a:r>
              <a:rPr kumimoji="1" lang="en-US" altLang="zh-TW" dirty="0"/>
              <a:t>10443</a:t>
            </a:r>
            <a:r>
              <a:rPr kumimoji="1" lang="zh-TW" altLang="en-US" dirty="0"/>
              <a:t>。目的是為了留</a:t>
            </a:r>
            <a:r>
              <a:rPr kumimoji="1" lang="en-US" altLang="zh-TW" dirty="0"/>
              <a:t>80, 443 ports </a:t>
            </a:r>
            <a:r>
              <a:rPr kumimoji="1" lang="zh-TW" altLang="en-US" dirty="0"/>
              <a:t>給</a:t>
            </a:r>
            <a:r>
              <a:rPr kumimoji="1" lang="en-US" altLang="zh-TW" dirty="0"/>
              <a:t>GitLab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</a:t>
            </a:r>
            <a:r>
              <a:rPr kumimoji="1" lang="zh-TW" altLang="en-US" dirty="0"/>
              <a:t>。</a:t>
            </a:r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933CD925-19C3-53CA-C072-3CA6BBBBF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645" y="3229769"/>
            <a:ext cx="9118600" cy="15875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593AA8-3407-E870-F424-04F5D9D1B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4864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2149B-1796-B06D-1AC4-7C0A0D67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</a:t>
            </a:r>
            <a:r>
              <a:rPr kumimoji="1" lang="zh-TW" altLang="en-US" dirty="0"/>
              <a:t>網頁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721BB-F03D-FF6E-7F83-6C2ACE41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https://{VM1_IP}:10443</a:t>
            </a:r>
          </a:p>
          <a:p>
            <a:pPr lvl="1"/>
            <a:r>
              <a:rPr kumimoji="1" lang="en-US" altLang="zh-TW" dirty="0"/>
              <a:t>e.g. </a:t>
            </a:r>
            <a:r>
              <a:rPr kumimoji="1" lang="en-US" altLang="zh-TW" dirty="0">
                <a:hlinkClick r:id="rId2"/>
              </a:rPr>
              <a:t>https://35.188.47.40:10443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D87BDF-403C-05D7-BBF8-41B27BD4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01" y="2737426"/>
            <a:ext cx="7352015" cy="398700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BCF53-EBCC-D867-2CC9-7D7EA624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559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DB956-1BEA-8749-BB41-6EB68407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UI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4C78999-D134-B60F-C433-3001D7AF2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331" y="1825625"/>
            <a:ext cx="7879338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264B0-A135-AF80-6D6C-F75E3BA5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862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C70AE-F301-ED40-9B81-85950B5A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rancher container </a:t>
            </a:r>
            <a:r>
              <a:rPr kumimoji="1" lang="zh-CN" altLang="en-US" dirty="0"/>
              <a:t>取得</a:t>
            </a:r>
            <a:r>
              <a:rPr kumimoji="1" lang="en-US" altLang="zh-CN" dirty="0"/>
              <a:t>admin</a:t>
            </a:r>
            <a:r>
              <a:rPr kumimoji="1" lang="zh-CN" altLang="en-US" dirty="0"/>
              <a:t>預設密碼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803408E-2C01-6544-90E6-1DC4A3E4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130" y="1265682"/>
            <a:ext cx="5102959" cy="4443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8D0D9F-0D21-B94A-864E-DA6FB4CB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4" y="5806906"/>
            <a:ext cx="11756032" cy="5494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5292FC-4F2F-5F15-E94B-FAD85132A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897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F0804-977A-8F4D-9D21-FEC70D3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設定</a:t>
            </a:r>
            <a:r>
              <a:rPr kumimoji="1" lang="en-US" altLang="zh-TW" dirty="0"/>
              <a:t> admin password,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 URL </a:t>
            </a:r>
            <a:endParaRPr kumimoji="1"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A62C321D-1C8D-2249-A579-1F349E84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460744"/>
            <a:ext cx="5029200" cy="508110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969CC9C-E81F-42BA-B0D4-884CA57F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5652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8F452-4EAA-4149-B8D3-4241845F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Create Cluster(k8s) on Rancher UI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709B57-C5E7-E841-ACFA-CE9184C50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205" y="1448577"/>
            <a:ext cx="7043352" cy="5099470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13E99DC-8506-7F9B-E237-D863DAC9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488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699FB4-224C-5C46-86A8-5C5B97C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預計裝在裸機，點選</a:t>
            </a:r>
            <a:r>
              <a:rPr kumimoji="1" lang="en-US" altLang="zh-CN" dirty="0"/>
              <a:t>RKE1 &amp; Custom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71277208-2BB3-9A48-8C85-5CAB0CC3F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6895" y="2311147"/>
            <a:ext cx="8398209" cy="4351338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A4CFDAF-CA32-7C92-1C81-DED33299F01E}"/>
              </a:ext>
            </a:extLst>
          </p:cNvPr>
          <p:cNvSpPr txBox="1"/>
          <p:nvPr/>
        </p:nvSpPr>
        <p:spPr>
          <a:xfrm>
            <a:off x="1896895" y="1814281"/>
            <a:ext cx="8383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RKE1 based on docker, RKE2 based on </a:t>
            </a:r>
            <a:r>
              <a:rPr kumimoji="1" lang="en-US" altLang="zh-TW" dirty="0" err="1"/>
              <a:t>containerd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8BB8C87-7917-0D5A-C69F-A016C78E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5966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28851-7E04-5945-B88B-39C7D289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Cluster</a:t>
            </a:r>
            <a:r>
              <a:rPr kumimoji="1" lang="zh-CN" altLang="en-US" dirty="0"/>
              <a:t>命名、選擇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版本，選擇網路模組</a:t>
            </a:r>
            <a:r>
              <a:rPr kumimoji="1" lang="en-US" altLang="zh-CN" dirty="0"/>
              <a:t>Calico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95607AE-14E1-E3DF-BF7D-77F278A2B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586" y="1825625"/>
            <a:ext cx="8584827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B09F497-8B7F-B175-8D5B-6248E5CA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43661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075E49-2B82-A44C-8E76-1DF27AFB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選擇</a:t>
            </a:r>
            <a:r>
              <a:rPr kumimoji="1" lang="en-US" altLang="zh-CN" dirty="0"/>
              <a:t>CNI</a:t>
            </a:r>
            <a:r>
              <a:rPr kumimoji="1" lang="zh-TW" altLang="en-US" dirty="0"/>
              <a:t> </a:t>
            </a:r>
            <a:r>
              <a:rPr kumimoji="1" lang="en-US" altLang="zh-TW" dirty="0"/>
              <a:t>MTU</a:t>
            </a:r>
            <a:r>
              <a:rPr kumimoji="1" lang="zh-CN" altLang="en-US" dirty="0"/>
              <a:t>大小為</a:t>
            </a:r>
            <a:r>
              <a:rPr kumimoji="1" lang="en-US" altLang="zh-CN" dirty="0"/>
              <a:t>1440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Cloud prover</a:t>
            </a:r>
            <a:r>
              <a:rPr kumimoji="1" lang="zh-TW" altLang="en-US" dirty="0"/>
              <a:t> 選</a:t>
            </a:r>
            <a:r>
              <a:rPr kumimoji="1" lang="en-US" altLang="zh-TW" dirty="0"/>
              <a:t>None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C0C6DAC-BF80-2F4C-AFBF-A4D6F27A9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8533" y="1825625"/>
            <a:ext cx="9394934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D3B13F-1382-9269-2BAE-941770C2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5613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2A18F-CCDC-164F-84D0-6E8DD792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勾選</a:t>
            </a:r>
            <a:r>
              <a:rPr kumimoji="1" lang="en-US" altLang="zh-CN" dirty="0" err="1"/>
              <a:t>etcd</a:t>
            </a:r>
            <a:r>
              <a:rPr kumimoji="1" lang="en-US" altLang="zh-CN" dirty="0"/>
              <a:t>, control plane, worker</a:t>
            </a:r>
            <a:r>
              <a:rPr kumimoji="1" lang="zh-CN" altLang="en-US" dirty="0"/>
              <a:t>三項，複製下面</a:t>
            </a:r>
            <a:r>
              <a:rPr kumimoji="1" lang="en-US" altLang="zh-CN" dirty="0"/>
              <a:t>docker agent run command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FAAD70FA-E384-AE49-B9BC-EA0336691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251" y="2141537"/>
            <a:ext cx="9383497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6E7624E-2724-77AD-B1C4-FEBD3CEC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80594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B1C7F-268A-29D9-59D0-32436616A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C64BD2F-C560-C9D5-29AA-2255410EB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2941" y="2664260"/>
            <a:ext cx="8285611" cy="283832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3CA8C3B-41EA-4E12-FBD6-1E763B18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0251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VM2 -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clone project</a:t>
            </a:r>
          </a:p>
          <a:p>
            <a:pPr lvl="1"/>
            <a:r>
              <a:rPr kumimoji="1" lang="en-US" altLang="zh-TW" dirty="0"/>
              <a:t>git clone </a:t>
            </a:r>
            <a:r>
              <a:rPr kumimoji="1" lang="en-US" altLang="zh-TW" dirty="0">
                <a:hlinkClick r:id="rId2"/>
              </a:rPr>
              <a:t>https://github.com/demoyuw/docker-devops.git</a:t>
            </a:r>
            <a:endParaRPr kumimoji="1" lang="en-US" altLang="zh-TW" dirty="0"/>
          </a:p>
          <a:p>
            <a:r>
              <a:rPr kumimoji="1" lang="zh-TW" altLang="en-US" dirty="0"/>
              <a:t>更改資料夾內的檔案與資料夾權限</a:t>
            </a:r>
            <a:endParaRPr kumimoji="1" lang="en-US" altLang="zh-TW" dirty="0"/>
          </a:p>
          <a:p>
            <a:pPr lvl="1"/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pt" altLang="zh-TW" dirty="0"/>
              <a:t>/</a:t>
            </a:r>
          </a:p>
          <a:p>
            <a:r>
              <a:rPr kumimoji="1" lang="pt" altLang="zh-TW" dirty="0" err="1"/>
              <a:t>Run</a:t>
            </a:r>
            <a:r>
              <a:rPr kumimoji="1" lang="pt" altLang="zh-TW" dirty="0"/>
              <a:t> script </a:t>
            </a:r>
            <a:r>
              <a:rPr kumimoji="1" lang="zh-TW" altLang="en-US" dirty="0"/>
              <a:t>安裝</a:t>
            </a:r>
            <a:r>
              <a:rPr kumimoji="1" lang="en-US" altLang="zh-TW" dirty="0"/>
              <a:t>docker</a:t>
            </a:r>
            <a:endParaRPr kumimoji="1" lang="pt" altLang="zh-TW" dirty="0"/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zh-TW" altLang="en-US" dirty="0"/>
              <a:t>切換到</a:t>
            </a:r>
            <a:r>
              <a:rPr kumimoji="1" lang="en-US" altLang="zh-TW" dirty="0"/>
              <a:t>docker</a:t>
            </a:r>
            <a:r>
              <a:rPr kumimoji="1" lang="zh-TW" altLang="en-US" dirty="0"/>
              <a:t>群組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newgrp</a:t>
            </a:r>
            <a:r>
              <a:rPr kumimoji="1" lang="en-US" altLang="zh-TW" dirty="0"/>
              <a:t> docker</a:t>
            </a:r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version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EEE6D-C359-9A54-7D1D-397A93A5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43180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EC3B39-3F41-A143-84BC-2139C51ED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到</a:t>
            </a:r>
            <a:r>
              <a:rPr kumimoji="1" lang="en-US" altLang="zh-TW" dirty="0"/>
              <a:t>vm2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docker agent run command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1F9071A-1B25-AF4B-9BC9-10D86896D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863" y="2949146"/>
            <a:ext cx="11188937" cy="198485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4C6C8E0-CD93-D77F-4819-F4EE42E8E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45376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F1D56-45D8-42E7-7221-BF933933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agent </a:t>
            </a:r>
            <a:r>
              <a:rPr kumimoji="1" lang="zh-TW" altLang="en-US" dirty="0"/>
              <a:t>運行流程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E128AE1-E1A7-F7D1-B235-911A0E99F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9267" y="2500420"/>
            <a:ext cx="8953465" cy="348025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CC760D-EA71-5FC4-392E-81CFAEC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23098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11059-EA61-9640-9C69-227A58D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CN" altLang="en-US" dirty="0"/>
              <a:t>部署中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F257E05-4F0E-56DB-0E09-B8BA4CC98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17413"/>
            <a:ext cx="10515600" cy="256776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D547C45-A78D-E7C6-5946-8824877B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5513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C62C0A-768E-EE3A-DD33-A8591944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部署完成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FFE06E3-0145-8E2B-98A4-99FBAD08C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6223" y="2931941"/>
            <a:ext cx="7142787" cy="238897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5DE89F8-BCA1-CCF5-8503-0D6167E4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9152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27445-D9DE-4047-B20E-F989280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部署完成，點選</a:t>
            </a:r>
            <a:r>
              <a:rPr kumimoji="1" lang="en-US" altLang="zh-CN" dirty="0"/>
              <a:t>Download </a:t>
            </a:r>
            <a:r>
              <a:rPr kumimoji="1" lang="en-US" altLang="zh-CN" dirty="0" err="1"/>
              <a:t>KubeConfig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4A4F201-897C-D76B-E1DE-196F4D346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475" y="1825625"/>
            <a:ext cx="9921050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BB3E86-D575-6770-C3B0-EB42F0C1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8403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F632-3C09-7B45-BE8F-E3570729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另存</a:t>
            </a:r>
            <a:r>
              <a:rPr kumimoji="1" lang="en-US" altLang="zh-CN" dirty="0" err="1"/>
              <a:t>Kubeconfig</a:t>
            </a:r>
            <a:r>
              <a:rPr kumimoji="1" lang="zh-TW" altLang="en-US" dirty="0"/>
              <a:t> </a:t>
            </a:r>
            <a:r>
              <a:rPr kumimoji="1" lang="en-US" altLang="zh-TW" dirty="0"/>
              <a:t>file.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31EE3EC-5F84-A247-8578-B8768A7A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675" y="1847850"/>
            <a:ext cx="8172650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B52F1BF-D3F2-F835-2E0D-CFD53E84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1129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DD4FD0F-69E2-1B43-89C9-228C4A6C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97EC1AAA-844F-6544-95DD-3E612AC6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B5D8918-CFBC-6055-295A-CA3F7C58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6392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BC5B-9F23-974A-AF5E-C63365D9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放置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conf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59B2D-44D4-5840-BC1D-970DC321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mkdir</a:t>
            </a:r>
            <a:r>
              <a:rPr kumimoji="1" lang="en-US" altLang="zh-TW" dirty="0"/>
              <a:t> -p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 </a:t>
            </a:r>
          </a:p>
          <a:p>
            <a:r>
              <a:rPr kumimoji="1" lang="en-US" altLang="zh-TW" dirty="0" err="1"/>
              <a:t>Kube</a:t>
            </a:r>
            <a:r>
              <a:rPr kumimoji="1" lang="en-US" altLang="zh-TW" dirty="0"/>
              <a:t> config file </a:t>
            </a:r>
            <a:r>
              <a:rPr kumimoji="1" lang="zh-CN" altLang="en-US" dirty="0"/>
              <a:t>放置到</a:t>
            </a:r>
            <a:r>
              <a:rPr kumimoji="1" lang="en-US" altLang="zh-CN" dirty="0"/>
              <a:t>VM1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~/.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/config</a:t>
            </a:r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node</a:t>
            </a:r>
          </a:p>
          <a:p>
            <a:pPr lvl="1"/>
            <a:r>
              <a:rPr kumimoji="1" lang="zh-TW" altLang="en-US" dirty="0"/>
              <a:t>檢查</a:t>
            </a:r>
            <a:r>
              <a:rPr kumimoji="1" lang="en-US" altLang="zh-TW" dirty="0"/>
              <a:t> k8s</a:t>
            </a:r>
            <a:r>
              <a:rPr kumimoji="1" lang="zh-TW" altLang="en-US" dirty="0"/>
              <a:t>節點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785465-5CB1-15A7-7BBC-7ACD9C8C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24" y="3429000"/>
            <a:ext cx="5816600" cy="8636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EAB30-86AE-7299-DC11-750B4B67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61742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77948-267F-2A47-8264-6C183B54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切換</a:t>
            </a:r>
            <a:r>
              <a:rPr kumimoji="1" lang="en-US" altLang="zh-TW" dirty="0"/>
              <a:t>k8s </a:t>
            </a:r>
            <a:r>
              <a:rPr kumimoji="1" lang="zh-CN" altLang="en-US" dirty="0"/>
              <a:t>環境</a:t>
            </a:r>
            <a:r>
              <a:rPr kumimoji="1" lang="en-US" altLang="zh-CN" dirty="0"/>
              <a:t> (</a:t>
            </a:r>
            <a:r>
              <a:rPr kumimoji="1" lang="zh-CN" altLang="en-US" dirty="0"/>
              <a:t>讀取</a:t>
            </a:r>
            <a:r>
              <a:rPr kumimoji="1" lang="en-US" altLang="zh-CN" dirty="0"/>
              <a:t>~/.</a:t>
            </a:r>
            <a:r>
              <a:rPr kumimoji="1" lang="en-US" altLang="zh-CN" dirty="0" err="1"/>
              <a:t>kube</a:t>
            </a:r>
            <a:r>
              <a:rPr kumimoji="1" lang="en-US" altLang="zh-CN" dirty="0"/>
              <a:t>/config)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736299-322B-C04A-9660-5E1EEFE4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Cluster </a:t>
            </a:r>
            <a:r>
              <a:rPr kumimoji="1" lang="zh-TW" altLang="en-US" dirty="0"/>
              <a:t>列表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config get-contexts </a:t>
            </a:r>
          </a:p>
          <a:p>
            <a:r>
              <a:rPr kumimoji="1" lang="zh-CN" altLang="en-US" dirty="0"/>
              <a:t>選擇使用</a:t>
            </a:r>
            <a:r>
              <a:rPr kumimoji="1" lang="en-US" altLang="zh-CN" dirty="0"/>
              <a:t> Cluster 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config use-context {cluster name}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22EAE5-CE5D-9823-176F-4D9B827F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61650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D3F-E4B9-F248-8246-63D60C4F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顯示資訊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B685B-61BE-F444-AD4D-E76BD302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1"/>
            <a:r>
              <a:rPr kumimoji="1" lang="en-US" altLang="zh-TW" dirty="0" err="1"/>
              <a:t>po</a:t>
            </a:r>
            <a:r>
              <a:rPr kumimoji="1" lang="en-US" altLang="zh-TW" dirty="0"/>
              <a:t> : pods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pods</a:t>
            </a:r>
          </a:p>
          <a:p>
            <a:pPr lvl="1"/>
            <a:r>
              <a:rPr kumimoji="1" lang="en-US" altLang="zh-TW" dirty="0"/>
              <a:t>svc: Service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svc</a:t>
            </a:r>
          </a:p>
          <a:p>
            <a:pPr lvl="1"/>
            <a:r>
              <a:rPr kumimoji="1" lang="en-US" altLang="zh-TW" dirty="0"/>
              <a:t>deploy: deployment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deploy</a:t>
            </a:r>
          </a:p>
          <a:p>
            <a:pPr lvl="1"/>
            <a:r>
              <a:rPr kumimoji="1" lang="en-US" altLang="zh-TW" dirty="0" err="1"/>
              <a:t>rs</a:t>
            </a:r>
            <a:r>
              <a:rPr kumimoji="1" lang="en-US" altLang="zh-TW" dirty="0"/>
              <a:t>: replicate set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rs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C50E90-5786-3648-9EF1-E09AF175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45" y="1152983"/>
            <a:ext cx="6987255" cy="334471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E4C2DE-F136-8CBB-4EE5-0B70365BB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04582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08250-C5BF-4746-A6AA-90A458EF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Kubernets</a:t>
            </a:r>
            <a:r>
              <a:rPr kumimoji="1" lang="en-US" altLang="zh-TW" dirty="0"/>
              <a:t> </a:t>
            </a:r>
            <a:r>
              <a:rPr kumimoji="1" lang="zh-TW" altLang="en-US" dirty="0"/>
              <a:t>最小單位</a:t>
            </a:r>
            <a:r>
              <a:rPr kumimoji="1" lang="en-US" altLang="zh-TW" dirty="0"/>
              <a:t>: pod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9D437C-1BA0-0049-9FDC-B6306D8BF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TW" sz="3200" dirty="0" err="1"/>
              <a:t>containers.image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Image:</a:t>
            </a:r>
            <a:r>
              <a:rPr kumimoji="1" lang="zh-CN" altLang="en-US" sz="2800" dirty="0"/>
              <a:t>版號</a:t>
            </a:r>
            <a:endParaRPr kumimoji="1" lang="en-US" altLang="zh-CN" sz="2800" dirty="0"/>
          </a:p>
          <a:p>
            <a:r>
              <a:rPr kumimoji="1" lang="en-US" altLang="zh-TW" sz="3200" dirty="0" err="1"/>
              <a:t>Containers.ports.containPort</a:t>
            </a:r>
            <a:endParaRPr kumimoji="1" lang="en-US" altLang="zh-TW" sz="3200" dirty="0"/>
          </a:p>
          <a:p>
            <a:pPr lvl="1"/>
            <a:r>
              <a:rPr kumimoji="1" lang="zh-TW" altLang="en-US" sz="2800" dirty="0"/>
              <a:t>此</a:t>
            </a:r>
            <a:r>
              <a:rPr kumimoji="1" lang="en-US" altLang="zh-TW" sz="2800" dirty="0"/>
              <a:t>container</a:t>
            </a:r>
            <a:r>
              <a:rPr kumimoji="1" lang="zh-CN" altLang="en-US" sz="2800" dirty="0"/>
              <a:t>對外服務</a:t>
            </a:r>
            <a:r>
              <a:rPr kumimoji="1" lang="en-US" altLang="zh-CN" sz="2800" dirty="0"/>
              <a:t>port</a:t>
            </a:r>
            <a:endParaRPr kumimoji="1" lang="zh-TW" altLang="en-US" sz="2800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70FFF7E-B0DE-24B1-C172-2503B8D50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EA8DDBC-C510-27F2-BFB2-51585723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7930"/>
            <a:ext cx="5273068" cy="44439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46889B-1CE4-2078-7F22-11B189F2771D}"/>
              </a:ext>
            </a:extLst>
          </p:cNvPr>
          <p:cNvSpPr txBox="1"/>
          <p:nvPr/>
        </p:nvSpPr>
        <p:spPr>
          <a:xfrm>
            <a:off x="6545549" y="5313333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pod/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41CBB71-3DA7-1CD6-412F-5691BC93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82509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/>
              <a:t>Kubernetes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zh-TW" altLang="en-US" dirty="0"/>
              <a:t>檔，</a:t>
            </a:r>
            <a:r>
              <a:rPr lang="en-US" altLang="zh-TW" dirty="0"/>
              <a:t>apply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docker-</a:t>
            </a:r>
            <a:r>
              <a:rPr lang="en-US" altLang="zh-TW" dirty="0" err="1"/>
              <a:t>devops</a:t>
            </a:r>
            <a:r>
              <a:rPr lang="en-US" altLang="zh-TW" dirty="0"/>
              <a:t>/pods/</a:t>
            </a:r>
            <a:r>
              <a:rPr lang="en-US" altLang="zh-TW" dirty="0" err="1"/>
              <a:t>nginx.yaml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rPr lang="en-US" altLang="zh-TW" dirty="0" err="1"/>
              <a:t>kubect</a:t>
            </a:r>
            <a:r>
              <a:rPr lang="en-US" altLang="zh-TW" dirty="0"/>
              <a:t> get pod</a:t>
            </a:r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7C78AE-5B38-69CB-4397-5F34046D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877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A9F81-2B5C-8C4C-B3B3-A43B04F9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-1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760886E-30EB-5041-8509-F13AB4DA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9119" y="1744978"/>
            <a:ext cx="3905755" cy="5092916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CB29FF4-A115-D248-B7F3-95D946C8A452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deployment/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</a:t>
            </a:r>
            <a:r>
              <a:rPr kumimoji="1" lang="en-US" altLang="zh-TW" dirty="0">
                <a:latin typeface="Times New Roman" panose="02020603050405020304" pitchFamily="18" charset="0"/>
              </a:rPr>
              <a:t>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nginx-deploy.yaml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E8B042-182B-4E7B-60E7-254E7D41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8899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F9B8C0A-DFA4-FC4A-9275-AE88DC5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4F456F1-2D17-8248-8081-1E590AF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kind: </a:t>
            </a:r>
            <a:r>
              <a:rPr kumimoji="1" lang="en-US" altLang="zh-TW" dirty="0" err="1"/>
              <a:t>Deploymnet</a:t>
            </a:r>
            <a:endParaRPr kumimoji="1" lang="en-US" altLang="zh-TW" dirty="0"/>
          </a:p>
          <a:p>
            <a:r>
              <a:rPr kumimoji="1" lang="en-US" altLang="zh-TW" dirty="0" err="1"/>
              <a:t>metadata.name</a:t>
            </a:r>
            <a:r>
              <a:rPr kumimoji="1" lang="en-US" altLang="zh-TW" dirty="0"/>
              <a:t>: deployment name</a:t>
            </a:r>
          </a:p>
          <a:p>
            <a:r>
              <a:rPr kumimoji="1" lang="en-US" altLang="zh-TW" dirty="0" err="1"/>
              <a:t>metadata.labels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app:nginx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設定此</a:t>
            </a:r>
            <a:r>
              <a:rPr kumimoji="1" lang="en-US" altLang="zh-CN" dirty="0"/>
              <a:t>deployment </a:t>
            </a:r>
            <a:r>
              <a:rPr kumimoji="1" lang="zh-CN" altLang="en-US" dirty="0"/>
              <a:t>標籤</a:t>
            </a:r>
            <a:r>
              <a:rPr kumimoji="1" lang="en-US" altLang="zh-CN" dirty="0"/>
              <a:t>, key: value</a:t>
            </a:r>
          </a:p>
          <a:p>
            <a:r>
              <a:rPr kumimoji="1" lang="en-US" altLang="zh-TW" dirty="0" err="1"/>
              <a:t>Metadata.annotations</a:t>
            </a:r>
            <a:r>
              <a:rPr kumimoji="1" lang="en-US" altLang="zh-TW" dirty="0"/>
              <a:t>:</a:t>
            </a:r>
            <a:r>
              <a:rPr kumimoji="1" lang="zh-TW" altLang="en-US" dirty="0"/>
              <a:t> 註解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7118D2-26E6-3803-54A1-734FF026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1420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E4782-3D17-144A-8115-B0E29163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E86E81-6A58-C14C-90DC-9AA2ED5BC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spec.replicas</a:t>
            </a:r>
            <a:r>
              <a:rPr kumimoji="1" lang="en-US" altLang="zh-TW" dirty="0"/>
              <a:t>: 3</a:t>
            </a:r>
          </a:p>
          <a:p>
            <a:pPr lvl="1"/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 err="1"/>
              <a:t>sepc.selector.matchLables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app:nginx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Pod </a:t>
            </a:r>
            <a:r>
              <a:rPr kumimoji="1" lang="zh-CN" altLang="en-US" dirty="0"/>
              <a:t>裡的</a:t>
            </a:r>
            <a:r>
              <a:rPr kumimoji="1" lang="en-US" altLang="zh-CN" dirty="0"/>
              <a:t>labels </a:t>
            </a:r>
            <a:r>
              <a:rPr kumimoji="1" lang="zh-CN" altLang="en-US" dirty="0"/>
              <a:t>的值需與此相同</a:t>
            </a:r>
            <a:endParaRPr kumimoji="1" lang="en-US" altLang="zh-CN" dirty="0"/>
          </a:p>
          <a:p>
            <a:r>
              <a:rPr kumimoji="1" lang="en-US" altLang="zh-TW" dirty="0" err="1"/>
              <a:t>spec.template.metadata.labels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4D01FB-9167-5195-4D2E-DBB3B25C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5356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C998-0B8B-304A-A376-75C4FA25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C713B3A-6478-404F-91E3-726E76670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64941" y="1447801"/>
            <a:ext cx="8255000" cy="1574800"/>
          </a:xfr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B868C5-F4B2-1D43-90E5-6C3C349A34E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6827838" cy="4200525"/>
          </a:xfrm>
        </p:spPr>
        <p:txBody>
          <a:bodyPr>
            <a:noAutofit/>
          </a:bodyPr>
          <a:lstStyle/>
          <a:p>
            <a:r>
              <a:rPr kumimoji="1" lang="en-US" altLang="zh-TW" sz="3200" dirty="0"/>
              <a:t>READY</a:t>
            </a:r>
          </a:p>
          <a:p>
            <a:pPr lvl="1"/>
            <a:r>
              <a:rPr kumimoji="1" lang="en-US" altLang="zh-TW" sz="3200" dirty="0"/>
              <a:t>Ready/ pods </a:t>
            </a:r>
            <a:r>
              <a:rPr kumimoji="1" lang="zh-CN" altLang="en-US" sz="3200" dirty="0"/>
              <a:t>數量</a:t>
            </a:r>
            <a:endParaRPr kumimoji="1" lang="en-US" altLang="zh-CN" sz="3200" dirty="0"/>
          </a:p>
          <a:p>
            <a:r>
              <a:rPr kumimoji="1" lang="en-US" altLang="zh-TW" sz="3200" dirty="0"/>
              <a:t>Restarts</a:t>
            </a:r>
          </a:p>
          <a:p>
            <a:pPr lvl="1"/>
            <a:r>
              <a:rPr kumimoji="1" lang="zh-CN" altLang="en-US" sz="3200" dirty="0"/>
              <a:t>重啟次數</a:t>
            </a:r>
            <a:endParaRPr kumimoji="1" lang="en-US" altLang="zh-CN" sz="3200" dirty="0"/>
          </a:p>
          <a:p>
            <a:r>
              <a:rPr kumimoji="1" lang="en-US" altLang="zh-TW" sz="3200" dirty="0"/>
              <a:t>AGE</a:t>
            </a:r>
          </a:p>
          <a:p>
            <a:pPr lvl="1"/>
            <a:r>
              <a:rPr kumimoji="1" lang="zh-CN" altLang="en-US" sz="3200" dirty="0"/>
              <a:t>此</a:t>
            </a:r>
            <a:r>
              <a:rPr kumimoji="1" lang="en-US" altLang="zh-CN" sz="3200" dirty="0"/>
              <a:t>pod </a:t>
            </a:r>
            <a:r>
              <a:rPr kumimoji="1" lang="zh-CN" altLang="en-US" sz="3200" dirty="0"/>
              <a:t>存在時間</a:t>
            </a:r>
            <a:endParaRPr kumimoji="1" lang="en-US" altLang="zh-CN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31DC03E-4A49-33EC-C308-3084818D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987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FF85F-1AA0-8847-A83B-9CB3F9E8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568710-EA4A-6340-BB9C-8D7ED73F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Status</a:t>
            </a:r>
          </a:p>
          <a:p>
            <a:pPr lvl="1"/>
            <a:r>
              <a:rPr kumimoji="1" lang="en-US" altLang="zh-TW" sz="3200" dirty="0"/>
              <a:t>Pending</a:t>
            </a:r>
          </a:p>
          <a:p>
            <a:pPr lvl="2"/>
            <a:r>
              <a:rPr kumimoji="1" lang="zh-TW" altLang="en-US" sz="3200" dirty="0"/>
              <a:t>待建立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Running</a:t>
            </a:r>
          </a:p>
          <a:p>
            <a:pPr lvl="2"/>
            <a:r>
              <a:rPr kumimoji="1" lang="zh-TW" altLang="en-US" sz="3200" dirty="0"/>
              <a:t>運行中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Succeeded</a:t>
            </a:r>
          </a:p>
          <a:p>
            <a:pPr lvl="2"/>
            <a:r>
              <a:rPr kumimoji="1" lang="zh-CN" altLang="en-US" sz="3200" dirty="0"/>
              <a:t>終止成功</a:t>
            </a:r>
            <a:endParaRPr kumimoji="1" lang="en-US" altLang="zh-CN" sz="3200" dirty="0"/>
          </a:p>
          <a:p>
            <a:pPr lvl="1"/>
            <a:r>
              <a:rPr kumimoji="1" lang="en-US" altLang="zh-TW" sz="3200" dirty="0"/>
              <a:t>Failed</a:t>
            </a:r>
          </a:p>
          <a:p>
            <a:pPr lvl="2"/>
            <a:r>
              <a:rPr kumimoji="1" lang="zh-CN" altLang="en-US" sz="3200" dirty="0"/>
              <a:t>終止時有ㄧ</a:t>
            </a:r>
            <a:r>
              <a:rPr kumimoji="1" lang="en-US" altLang="zh-CN" sz="3200" dirty="0"/>
              <a:t>pod</a:t>
            </a:r>
            <a:r>
              <a:rPr kumimoji="1" lang="zh-CN" altLang="en-US" sz="3200" dirty="0"/>
              <a:t>不正常終止</a:t>
            </a:r>
            <a:endParaRPr kumimoji="1" lang="en-US" altLang="zh-TW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217094-BD06-8475-38E8-DDC10C17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9533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B11EF2-A2F1-8944-8A4C-04093DA0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-1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EF9DCC-65F1-A049-9866-BAC270083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41656" y="1322916"/>
            <a:ext cx="8089900" cy="1282700"/>
          </a:xfrm>
        </p:spPr>
      </p:pic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E13598-280B-3C49-AAE6-3D2C2454F5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78351" y="1964266"/>
            <a:ext cx="7772400" cy="4200525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NAME</a:t>
            </a:r>
          </a:p>
          <a:p>
            <a:pPr lvl="1"/>
            <a:r>
              <a:rPr kumimoji="1" lang="en-US" altLang="zh-TW" sz="2800" dirty="0" err="1"/>
              <a:t>Dployment</a:t>
            </a:r>
            <a:r>
              <a:rPr kumimoji="1" lang="en-US" altLang="zh-TW" sz="2800" dirty="0"/>
              <a:t> name</a:t>
            </a:r>
          </a:p>
          <a:p>
            <a:r>
              <a:rPr kumimoji="1" lang="en-US" altLang="zh-TW" sz="3200" dirty="0"/>
              <a:t>DESIRED</a:t>
            </a:r>
          </a:p>
          <a:p>
            <a:pPr lvl="1"/>
            <a:r>
              <a:rPr kumimoji="1" lang="zh-CN" altLang="en-US" sz="2800" dirty="0"/>
              <a:t>要求此</a:t>
            </a:r>
            <a:r>
              <a:rPr kumimoji="1" lang="en-US" altLang="zh-CN" sz="2800" dirty="0"/>
              <a:t>deployment</a:t>
            </a:r>
            <a:r>
              <a:rPr kumimoji="1" lang="zh-Hant" altLang="en-US" sz="2800" dirty="0"/>
              <a:t> </a:t>
            </a:r>
            <a:r>
              <a:rPr kumimoji="1" lang="zh-CN" altLang="en-US" sz="2800" dirty="0"/>
              <a:t>須啟多少</a:t>
            </a:r>
            <a:r>
              <a:rPr kumimoji="1" lang="en-US" altLang="zh-CN" sz="2800" dirty="0"/>
              <a:t>replicas</a:t>
            </a:r>
          </a:p>
          <a:p>
            <a:r>
              <a:rPr kumimoji="1" lang="en-US" altLang="zh-CN" sz="3200" dirty="0"/>
              <a:t>CURRENT</a:t>
            </a:r>
          </a:p>
          <a:p>
            <a:pPr lvl="1"/>
            <a:r>
              <a:rPr kumimoji="1" lang="zh-CN" altLang="en-US" sz="2800" dirty="0"/>
              <a:t>顯示正在</a:t>
            </a:r>
            <a:r>
              <a:rPr kumimoji="1" lang="en-US" altLang="zh-CN" sz="2800" dirty="0"/>
              <a:t>running </a:t>
            </a:r>
            <a:r>
              <a:rPr kumimoji="1" lang="zh-CN" altLang="en-US" sz="2800" dirty="0"/>
              <a:t>的</a:t>
            </a:r>
            <a:r>
              <a:rPr kumimoji="1" lang="zh-Hant" altLang="en-US" sz="2800" dirty="0"/>
              <a:t> </a:t>
            </a:r>
            <a:r>
              <a:rPr kumimoji="1" lang="en-US" altLang="zh-CN" sz="2800" dirty="0"/>
              <a:t>replicas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758E34A-3B93-BE57-8415-5211BE62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3183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2EC5B-B0A6-1D43-88DA-6AC748A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D601F-2B21-8A43-B992-1F035453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UP-TO-DATE</a:t>
            </a:r>
          </a:p>
          <a:p>
            <a:pPr lvl="1"/>
            <a:r>
              <a:rPr kumimoji="1" lang="zh-CN" altLang="en-US" dirty="0"/>
              <a:t>已更新多少</a:t>
            </a:r>
            <a:r>
              <a:rPr kumimoji="1" lang="en-US" altLang="zh-CN" dirty="0"/>
              <a:t>replicas</a:t>
            </a:r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/>
              <a:t>AVAILABLE</a:t>
            </a:r>
          </a:p>
          <a:p>
            <a:pPr lvl="1"/>
            <a:r>
              <a:rPr kumimoji="1" lang="zh-CN" altLang="en-US" dirty="0"/>
              <a:t>多少</a:t>
            </a:r>
            <a:r>
              <a:rPr kumimoji="1" lang="en-US" altLang="zh-CN" dirty="0"/>
              <a:t>replicas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可用</a:t>
            </a:r>
            <a:endParaRPr kumimoji="1" lang="en-US" altLang="zh-CN" dirty="0"/>
          </a:p>
          <a:p>
            <a:r>
              <a:rPr kumimoji="1" lang="en-US" altLang="zh-CN" dirty="0"/>
              <a:t>Age</a:t>
            </a:r>
          </a:p>
          <a:p>
            <a:pPr lvl="1"/>
            <a:r>
              <a:rPr kumimoji="1" lang="zh-CN" altLang="en-US" dirty="0"/>
              <a:t>此</a:t>
            </a:r>
            <a:r>
              <a:rPr kumimoji="1" lang="en-US" altLang="zh-CN" dirty="0" err="1"/>
              <a:t>Deploment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存在時間</a:t>
            </a:r>
            <a:endParaRPr kumimoji="1" lang="en-US" altLang="zh-CN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56434E-915D-AA4C-2677-FCF43B7A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0741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28FDE-8B13-0442-949A-D07AD07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4FA4D4-5E7E-3C45-9FD3-9A64AC00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{pod-name} -- {command}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直接到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內執行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 -- /bin/bash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exec -it nginx-deployment-76659fcbf6-djgxd -- /bin/bash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F6BE53-5238-6448-B2FD-F62BBF60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2348651"/>
            <a:ext cx="12054840" cy="72813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FDEDF53-31E2-F001-48D4-9AE7896D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4179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42B7-F677-EE44-992F-36476862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F62D6-4A42-FE4D-A5FC-A9E09882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內的指定</a:t>
            </a:r>
            <a:r>
              <a:rPr kumimoji="1" lang="en-US" altLang="zh-CN" dirty="0"/>
              <a:t>Container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-c {container-name}  -- /bin/bash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C8C4CB-7894-37AA-478F-C390EE36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5302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6298-1B10-A344-8C1E-4E8DD4E8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CN" altLang="en-US" dirty="0"/>
              <a:t>訊息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9ADC85-AEFB-7F43-AC84-6D842FB3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Pod</a:t>
            </a:r>
            <a:r>
              <a:rPr kumimoji="1" lang="zh-CN" altLang="en-US" dirty="0"/>
              <a:t>狀態正常：可以讀取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與</a:t>
            </a:r>
            <a:r>
              <a:rPr kumimoji="1" lang="en-US" altLang="zh-TW" dirty="0"/>
              <a:t>stderr</a:t>
            </a:r>
            <a:r>
              <a:rPr kumimoji="1" lang="zh-TW" altLang="en-US" dirty="0"/>
              <a:t> 來查看資訊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kuebectl</a:t>
            </a:r>
            <a:r>
              <a:rPr kumimoji="1" lang="en-US" altLang="zh-TW" dirty="0"/>
              <a:t> logs {pod-name} </a:t>
            </a:r>
          </a:p>
          <a:p>
            <a:r>
              <a:rPr kumimoji="1" lang="en-US" altLang="zh-CN" dirty="0"/>
              <a:t>Pod</a:t>
            </a:r>
            <a:r>
              <a:rPr kumimoji="1" lang="zh-CN" altLang="en-US" dirty="0"/>
              <a:t>狀態異常：可經由</a:t>
            </a:r>
            <a:r>
              <a:rPr kumimoji="1" lang="en-US" altLang="zh-CN" dirty="0"/>
              <a:t>describe </a:t>
            </a:r>
            <a:r>
              <a:rPr kumimoji="1" lang="zh-CN" altLang="en-US" dirty="0"/>
              <a:t>來查看</a:t>
            </a:r>
            <a:r>
              <a:rPr kumimoji="1" lang="en-US" altLang="zh-TW" dirty="0"/>
              <a:t>k8s</a:t>
            </a:r>
            <a:r>
              <a:rPr kumimoji="1" lang="zh-TW" altLang="en-US" dirty="0"/>
              <a:t> 啟動</a:t>
            </a:r>
            <a:r>
              <a:rPr kumimoji="1" lang="en-US" altLang="zh-TW" dirty="0"/>
              <a:t>pod</a:t>
            </a:r>
            <a:r>
              <a:rPr kumimoji="1" lang="zh-TW" altLang="en-US" dirty="0"/>
              <a:t>時所記錄下的</a:t>
            </a:r>
            <a:r>
              <a:rPr kumimoji="1" lang="en-US" altLang="zh-TW" dirty="0"/>
              <a:t>Events</a:t>
            </a:r>
            <a:r>
              <a:rPr kumimoji="1" lang="zh-TW" altLang="en-US" dirty="0"/>
              <a:t>與</a:t>
            </a:r>
            <a:r>
              <a:rPr kumimoji="1" lang="en-US" altLang="zh-TW" dirty="0"/>
              <a:t>pod</a:t>
            </a:r>
            <a:r>
              <a:rPr kumimoji="1" lang="zh-TW" altLang="en-US" dirty="0"/>
              <a:t>的詳細資訊</a:t>
            </a:r>
            <a:endParaRPr kumimoji="1" lang="en-US" altLang="zh-CN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{pod-name}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92BDF4-8A5D-1B42-785C-9EBBBA58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1924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3C0C2-B685-C64D-A210-ECA6CE12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-1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3209B91B-C7AC-3E66-7D27-AAD3D03E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501" y="1272528"/>
            <a:ext cx="3657600" cy="5416953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DC918E8-CDCA-3CAB-9196-C9103107DD3E}"/>
              </a:ext>
            </a:extLst>
          </p:cNvPr>
          <p:cNvSpPr txBox="1"/>
          <p:nvPr/>
        </p:nvSpPr>
        <p:spPr>
          <a:xfrm>
            <a:off x="6774305" y="843240"/>
            <a:ext cx="406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docker-</a:t>
            </a:r>
            <a:r>
              <a:rPr kumimoji="1" lang="en" altLang="zh-TW" dirty="0" err="1"/>
              <a:t>devops</a:t>
            </a:r>
            <a:r>
              <a:rPr kumimoji="1" lang="en" altLang="zh-TW" dirty="0"/>
              <a:t>/service/nginx-service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D17C82-0952-2CA9-361C-89D8F0DA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0341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67D718D-8759-4747-B592-5A6D6A07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C63B5390-E4C4-594C-BE20-2423FA9B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Type:</a:t>
            </a:r>
          </a:p>
          <a:p>
            <a:pPr lvl="1"/>
            <a:r>
              <a:rPr kumimoji="1" lang="en-US" altLang="zh-TW" dirty="0" err="1"/>
              <a:t>NodePort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需設</a:t>
            </a:r>
            <a:r>
              <a:rPr kumimoji="1" lang="en-US" altLang="zh-CN" dirty="0" err="1"/>
              <a:t>nodePort</a:t>
            </a:r>
            <a:r>
              <a:rPr kumimoji="1" lang="zh-CN" altLang="en-US" dirty="0"/>
              <a:t>，預設可用範圍：</a:t>
            </a:r>
            <a:r>
              <a:rPr kumimoji="1" lang="en-US" altLang="zh-CN" dirty="0"/>
              <a:t>32000~32767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ClusterIP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不直接對外，</a:t>
            </a:r>
            <a:r>
              <a:rPr kumimoji="1" lang="en-US" altLang="zh-CN" dirty="0"/>
              <a:t>k8s</a:t>
            </a:r>
            <a:r>
              <a:rPr kumimoji="1" lang="zh-CN" altLang="en-US" dirty="0"/>
              <a:t>內部服務使用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LoadBalancer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需接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使用</a:t>
            </a:r>
            <a:endParaRPr kumimoji="1" lang="en-US" altLang="zh-TW" dirty="0"/>
          </a:p>
          <a:p>
            <a:r>
              <a:rPr kumimoji="1" lang="en-US" altLang="zh-TW" dirty="0"/>
              <a:t>Port: cluster</a:t>
            </a:r>
            <a:r>
              <a:rPr kumimoji="1" lang="zh-CN" altLang="en-US" dirty="0"/>
              <a:t>內對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</a:p>
          <a:p>
            <a:r>
              <a:rPr kumimoji="1" lang="en-US" altLang="zh-TW" dirty="0" err="1"/>
              <a:t>targetPort</a:t>
            </a:r>
            <a:r>
              <a:rPr kumimoji="1" lang="en-US" altLang="zh-TW" dirty="0"/>
              <a:t>: </a:t>
            </a:r>
            <a:r>
              <a:rPr kumimoji="1" lang="en-US" altLang="zh-CN" dirty="0"/>
              <a:t>pod</a:t>
            </a:r>
            <a:r>
              <a:rPr kumimoji="1" lang="zh-CN" altLang="en-US" dirty="0"/>
              <a:t>端口所使用的</a:t>
            </a:r>
            <a:r>
              <a:rPr kumimoji="1" lang="en-US" altLang="zh-CN" dirty="0"/>
              <a:t>port</a:t>
            </a:r>
          </a:p>
          <a:p>
            <a:r>
              <a:rPr kumimoji="1" lang="en-US" altLang="zh-TW" dirty="0" err="1"/>
              <a:t>nodePort</a:t>
            </a:r>
            <a:r>
              <a:rPr kumimoji="1" lang="en-US" altLang="zh-TW" dirty="0"/>
              <a:t>: cluster</a:t>
            </a:r>
            <a:r>
              <a:rPr kumimoji="1" lang="zh-CN" altLang="en-US" dirty="0"/>
              <a:t>外對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FE3FCD-D202-4958-0B61-0A783BA8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322227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D6966-38F5-EB44-AA6A-D09F668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2 K8s Service Expose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88BE10-DDCA-3941-8207-BDA8836E8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部署</a:t>
            </a:r>
            <a:r>
              <a:rPr kumimoji="1" lang="en-US" altLang="zh-CN" dirty="0"/>
              <a:t>service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apply -f nginx-</a:t>
            </a:r>
            <a:r>
              <a:rPr kumimoji="1" lang="en-US" altLang="zh-CN" dirty="0" err="1"/>
              <a:t>service.yaml</a:t>
            </a:r>
            <a:r>
              <a:rPr kumimoji="1" lang="en-US" altLang="zh-CN" dirty="0"/>
              <a:t>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TW" altLang="en-US" dirty="0"/>
              <a:t>連線驗證，瀏覽器開啟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http://{k8s node (vm2) </a:t>
            </a:r>
            <a:r>
              <a:rPr kumimoji="1" lang="en-US" altLang="zh-TW" dirty="0" err="1"/>
              <a:t>ip</a:t>
            </a:r>
            <a:r>
              <a:rPr kumimoji="1" lang="en-US" altLang="zh-TW" dirty="0"/>
              <a:t>}:30060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19F54F-46E6-8443-8D2C-E3754B9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8" y="3094591"/>
            <a:ext cx="8002515" cy="12354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A569F6-E25C-E8D7-B3B1-B2D89800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105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60D37E97-0C55-354B-A0CA-EC0CC931F2B9}"/>
              </a:ext>
            </a:extLst>
          </p:cNvPr>
          <p:cNvSpPr>
            <a:spLocks/>
          </p:cNvSpPr>
          <p:nvPr/>
        </p:nvSpPr>
        <p:spPr bwMode="auto">
          <a:xfrm>
            <a:off x="1703389" y="2299855"/>
            <a:ext cx="5494337" cy="3381809"/>
          </a:xfrm>
          <a:custGeom>
            <a:avLst/>
            <a:gdLst>
              <a:gd name="T0" fmla="*/ 3496 w 3496"/>
              <a:gd name="T1" fmla="*/ 2080 h 2120"/>
              <a:gd name="T2" fmla="*/ 3456 w 3496"/>
              <a:gd name="T3" fmla="*/ 2120 h 2120"/>
              <a:gd name="T4" fmla="*/ 40 w 3496"/>
              <a:gd name="T5" fmla="*/ 2120 h 2120"/>
              <a:gd name="T6" fmla="*/ 0 w 3496"/>
              <a:gd name="T7" fmla="*/ 2080 h 2120"/>
              <a:gd name="T8" fmla="*/ 0 w 3496"/>
              <a:gd name="T9" fmla="*/ 40 h 2120"/>
              <a:gd name="T10" fmla="*/ 40 w 3496"/>
              <a:gd name="T11" fmla="*/ 0 h 2120"/>
              <a:gd name="T12" fmla="*/ 3456 w 3496"/>
              <a:gd name="T13" fmla="*/ 0 h 2120"/>
              <a:gd name="T14" fmla="*/ 3496 w 3496"/>
              <a:gd name="T15" fmla="*/ 40 h 2120"/>
              <a:gd name="T16" fmla="*/ 3496 w 3496"/>
              <a:gd name="T17" fmla="*/ 2080 h 2120"/>
              <a:gd name="T18" fmla="*/ 3496 w 3496"/>
              <a:gd name="T19" fmla="*/ 2080 h 2120"/>
              <a:gd name="T20" fmla="*/ 3496 w 3496"/>
              <a:gd name="T21" fmla="*/ 2080 h 2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96" h="2120">
                <a:moveTo>
                  <a:pt x="3496" y="2080"/>
                </a:moveTo>
                <a:cubicBezTo>
                  <a:pt x="3496" y="2106"/>
                  <a:pt x="3482" y="2120"/>
                  <a:pt x="3456" y="2120"/>
                </a:cubicBezTo>
                <a:lnTo>
                  <a:pt x="40" y="2120"/>
                </a:lnTo>
                <a:cubicBezTo>
                  <a:pt x="13" y="2120"/>
                  <a:pt x="0" y="2106"/>
                  <a:pt x="0" y="208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3456" y="0"/>
                </a:lnTo>
                <a:cubicBezTo>
                  <a:pt x="3482" y="0"/>
                  <a:pt x="3496" y="13"/>
                  <a:pt x="3496" y="40"/>
                </a:cubicBezTo>
                <a:lnTo>
                  <a:pt x="3496" y="2080"/>
                </a:lnTo>
                <a:lnTo>
                  <a:pt x="3496" y="2080"/>
                </a:lnTo>
                <a:lnTo>
                  <a:pt x="3496" y="2080"/>
                </a:lnTo>
                <a:close/>
              </a:path>
            </a:pathLst>
          </a:custGeom>
          <a:solidFill>
            <a:srgbClr val="FFFFFF"/>
          </a:solidFill>
          <a:ln w="24094">
            <a:solidFill>
              <a:srgbClr val="0079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84FEC9BE-34C2-F246-90D5-E92390CC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9" y="3915361"/>
            <a:ext cx="5240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3D2CC538-C2C4-104A-A301-5D7A898CC44F}"/>
              </a:ext>
            </a:extLst>
          </p:cNvPr>
          <p:cNvSpPr>
            <a:spLocks/>
          </p:cNvSpPr>
          <p:nvPr/>
        </p:nvSpPr>
        <p:spPr bwMode="auto">
          <a:xfrm>
            <a:off x="212566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DDA5648C-21C7-D040-97C8-8981E481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2" name="Freeform 6">
            <a:extLst>
              <a:ext uri="{FF2B5EF4-FFF2-40B4-BE49-F238E27FC236}">
                <a16:creationId xmlns:a16="http://schemas.microsoft.com/office/drawing/2014/main" id="{94FDDEB3-D70F-8944-821B-5A753572D20E}"/>
              </a:ext>
            </a:extLst>
          </p:cNvPr>
          <p:cNvSpPr>
            <a:spLocks/>
          </p:cNvSpPr>
          <p:nvPr/>
        </p:nvSpPr>
        <p:spPr bwMode="auto">
          <a:xfrm>
            <a:off x="3311526" y="4403726"/>
            <a:ext cx="842963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73F59A0F-B1C6-9E43-A9F9-D808A8E6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4" name="Freeform 8">
            <a:extLst>
              <a:ext uri="{FF2B5EF4-FFF2-40B4-BE49-F238E27FC236}">
                <a16:creationId xmlns:a16="http://schemas.microsoft.com/office/drawing/2014/main" id="{EBA7DA2B-181D-DE4C-80F4-8D9D6D0697AB}"/>
              </a:ext>
            </a:extLst>
          </p:cNvPr>
          <p:cNvSpPr>
            <a:spLocks/>
          </p:cNvSpPr>
          <p:nvPr/>
        </p:nvSpPr>
        <p:spPr bwMode="auto">
          <a:xfrm>
            <a:off x="575151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06542EAF-D99B-B94B-A777-1DE554D32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6" name="Freeform 10">
            <a:extLst>
              <a:ext uri="{FF2B5EF4-FFF2-40B4-BE49-F238E27FC236}">
                <a16:creationId xmlns:a16="http://schemas.microsoft.com/office/drawing/2014/main" id="{0DDADDB5-A6CC-0543-B151-49C5BC22ED5C}"/>
              </a:ext>
            </a:extLst>
          </p:cNvPr>
          <p:cNvSpPr>
            <a:spLocks/>
          </p:cNvSpPr>
          <p:nvPr/>
        </p:nvSpPr>
        <p:spPr bwMode="auto">
          <a:xfrm>
            <a:off x="4541838" y="4403726"/>
            <a:ext cx="844550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B7138F90-D8EA-D843-A5F3-0A988329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8" name="Freeform 12">
            <a:extLst>
              <a:ext uri="{FF2B5EF4-FFF2-40B4-BE49-F238E27FC236}">
                <a16:creationId xmlns:a16="http://schemas.microsoft.com/office/drawing/2014/main" id="{E4050AA7-B2D5-5C48-8855-A3E35FA1825F}"/>
              </a:ext>
            </a:extLst>
          </p:cNvPr>
          <p:cNvSpPr>
            <a:spLocks/>
          </p:cNvSpPr>
          <p:nvPr/>
        </p:nvSpPr>
        <p:spPr bwMode="auto">
          <a:xfrm>
            <a:off x="3065464" y="2681288"/>
            <a:ext cx="3101975" cy="900112"/>
          </a:xfrm>
          <a:custGeom>
            <a:avLst/>
            <a:gdLst>
              <a:gd name="T0" fmla="*/ 2060 w 2060"/>
              <a:gd name="T1" fmla="*/ 557 h 597"/>
              <a:gd name="T2" fmla="*/ 2020 w 2060"/>
              <a:gd name="T3" fmla="*/ 597 h 597"/>
              <a:gd name="T4" fmla="*/ 40 w 2060"/>
              <a:gd name="T5" fmla="*/ 597 h 597"/>
              <a:gd name="T6" fmla="*/ 0 w 2060"/>
              <a:gd name="T7" fmla="*/ 557 h 597"/>
              <a:gd name="T8" fmla="*/ 0 w 2060"/>
              <a:gd name="T9" fmla="*/ 40 h 597"/>
              <a:gd name="T10" fmla="*/ 40 w 2060"/>
              <a:gd name="T11" fmla="*/ 0 h 597"/>
              <a:gd name="T12" fmla="*/ 2020 w 2060"/>
              <a:gd name="T13" fmla="*/ 0 h 597"/>
              <a:gd name="T14" fmla="*/ 2060 w 2060"/>
              <a:gd name="T15" fmla="*/ 40 h 597"/>
              <a:gd name="T16" fmla="*/ 2060 w 2060"/>
              <a:gd name="T17" fmla="*/ 557 h 597"/>
              <a:gd name="T18" fmla="*/ 2060 w 2060"/>
              <a:gd name="T19" fmla="*/ 557 h 597"/>
              <a:gd name="T20" fmla="*/ 2060 w 2060"/>
              <a:gd name="T21" fmla="*/ 55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0" h="597">
                <a:moveTo>
                  <a:pt x="2060" y="557"/>
                </a:moveTo>
                <a:cubicBezTo>
                  <a:pt x="2060" y="584"/>
                  <a:pt x="2046" y="597"/>
                  <a:pt x="2020" y="597"/>
                </a:cubicBezTo>
                <a:lnTo>
                  <a:pt x="40" y="597"/>
                </a:lnTo>
                <a:cubicBezTo>
                  <a:pt x="13" y="597"/>
                  <a:pt x="0" y="584"/>
                  <a:pt x="0" y="557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2020" y="0"/>
                </a:lnTo>
                <a:cubicBezTo>
                  <a:pt x="2046" y="0"/>
                  <a:pt x="2060" y="13"/>
                  <a:pt x="2060" y="40"/>
                </a:cubicBezTo>
                <a:lnTo>
                  <a:pt x="2060" y="557"/>
                </a:lnTo>
                <a:lnTo>
                  <a:pt x="2060" y="557"/>
                </a:lnTo>
                <a:lnTo>
                  <a:pt x="2060" y="557"/>
                </a:lnTo>
                <a:close/>
              </a:path>
            </a:pathLst>
          </a:custGeom>
          <a:solidFill>
            <a:srgbClr val="FFFFFF"/>
          </a:solidFill>
          <a:ln w="36142">
            <a:solidFill>
              <a:srgbClr val="1A76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EA98EC9F-C614-E74F-B206-A4E1E806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6" y="2610506"/>
            <a:ext cx="3084513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3400" dirty="0">
                <a:solidFill>
                  <a:srgbClr val="1A76D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Service (10.43.x.x)</a:t>
            </a:r>
          </a:p>
        </p:txBody>
      </p:sp>
      <p:sp>
        <p:nvSpPr>
          <p:cNvPr id="4110" name="Freeform 14">
            <a:extLst>
              <a:ext uri="{FF2B5EF4-FFF2-40B4-BE49-F238E27FC236}">
                <a16:creationId xmlns:a16="http://schemas.microsoft.com/office/drawing/2014/main" id="{00A0EE25-9FBB-2143-993F-D39F3930CAA3}"/>
              </a:ext>
            </a:extLst>
          </p:cNvPr>
          <p:cNvSpPr>
            <a:spLocks/>
          </p:cNvSpPr>
          <p:nvPr/>
        </p:nvSpPr>
        <p:spPr bwMode="auto">
          <a:xfrm>
            <a:off x="4964113" y="4143375"/>
            <a:ext cx="0" cy="260350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Freeform 15">
            <a:extLst>
              <a:ext uri="{FF2B5EF4-FFF2-40B4-BE49-F238E27FC236}">
                <a16:creationId xmlns:a16="http://schemas.microsoft.com/office/drawing/2014/main" id="{364EB0A3-A5B9-174C-AAEA-F375F8FF1CE1}"/>
              </a:ext>
            </a:extLst>
          </p:cNvPr>
          <p:cNvSpPr>
            <a:spLocks/>
          </p:cNvSpPr>
          <p:nvPr/>
        </p:nvSpPr>
        <p:spPr bwMode="auto">
          <a:xfrm>
            <a:off x="5392738" y="1778000"/>
            <a:ext cx="0" cy="903288"/>
          </a:xfrm>
          <a:custGeom>
            <a:avLst/>
            <a:gdLst>
              <a:gd name="T0" fmla="*/ 600 h 600"/>
              <a:gd name="T1" fmla="*/ 0 h 6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600">
                <a:moveTo>
                  <a:pt x="0" y="600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3" name="Freeform 17">
            <a:extLst>
              <a:ext uri="{FF2B5EF4-FFF2-40B4-BE49-F238E27FC236}">
                <a16:creationId xmlns:a16="http://schemas.microsoft.com/office/drawing/2014/main" id="{FC5C1385-CD37-9645-912A-49E7EC0FB76E}"/>
              </a:ext>
            </a:extLst>
          </p:cNvPr>
          <p:cNvSpPr>
            <a:spLocks/>
          </p:cNvSpPr>
          <p:nvPr/>
        </p:nvSpPr>
        <p:spPr bwMode="auto">
          <a:xfrm>
            <a:off x="5595939" y="1439863"/>
            <a:ext cx="1360487" cy="385762"/>
          </a:xfrm>
          <a:custGeom>
            <a:avLst/>
            <a:gdLst>
              <a:gd name="T0" fmla="*/ 904 w 904"/>
              <a:gd name="T1" fmla="*/ 0 h 256"/>
              <a:gd name="T2" fmla="*/ 0 w 904"/>
              <a:gd name="T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4" h="256">
                <a:moveTo>
                  <a:pt x="904" y="0"/>
                </a:moveTo>
                <a:lnTo>
                  <a:pt x="0" y="256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4" name="Freeform 18">
            <a:extLst>
              <a:ext uri="{FF2B5EF4-FFF2-40B4-BE49-F238E27FC236}">
                <a16:creationId xmlns:a16="http://schemas.microsoft.com/office/drawing/2014/main" id="{CBB81F74-B232-D648-B60D-67EA443CD3BB}"/>
              </a:ext>
            </a:extLst>
          </p:cNvPr>
          <p:cNvSpPr>
            <a:spLocks/>
          </p:cNvSpPr>
          <p:nvPr/>
        </p:nvSpPr>
        <p:spPr bwMode="auto">
          <a:xfrm>
            <a:off x="5595938" y="1698626"/>
            <a:ext cx="184150" cy="161925"/>
          </a:xfrm>
          <a:custGeom>
            <a:avLst/>
            <a:gdLst>
              <a:gd name="T0" fmla="*/ 0 w 123"/>
              <a:gd name="T1" fmla="*/ 84 h 107"/>
              <a:gd name="T2" fmla="*/ 92 w 123"/>
              <a:gd name="T3" fmla="*/ 0 h 107"/>
              <a:gd name="T4" fmla="*/ 123 w 123"/>
              <a:gd name="T5" fmla="*/ 107 h 107"/>
              <a:gd name="T6" fmla="*/ 0 w 123"/>
              <a:gd name="T7" fmla="*/ 84 h 107"/>
              <a:gd name="T8" fmla="*/ 0 w 123"/>
              <a:gd name="T9" fmla="*/ 8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07">
                <a:moveTo>
                  <a:pt x="0" y="84"/>
                </a:moveTo>
                <a:lnTo>
                  <a:pt x="92" y="0"/>
                </a:lnTo>
                <a:lnTo>
                  <a:pt x="123" y="107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5" name="Text Box 19">
            <a:extLst>
              <a:ext uri="{FF2B5EF4-FFF2-40B4-BE49-F238E27FC236}">
                <a16:creationId xmlns:a16="http://schemas.microsoft.com/office/drawing/2014/main" id="{E8EEB7EC-9944-5B46-B617-E42B09D7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6" y="1174750"/>
            <a:ext cx="2011363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nodePort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32000~32767</a:t>
            </a:r>
          </a:p>
        </p:txBody>
      </p:sp>
      <p:sp>
        <p:nvSpPr>
          <p:cNvPr id="4116" name="Freeform 20">
            <a:extLst>
              <a:ext uri="{FF2B5EF4-FFF2-40B4-BE49-F238E27FC236}">
                <a16:creationId xmlns:a16="http://schemas.microsoft.com/office/drawing/2014/main" id="{1515527E-97DF-F142-BE12-E524EA02D337}"/>
              </a:ext>
            </a:extLst>
          </p:cNvPr>
          <p:cNvSpPr>
            <a:spLocks/>
          </p:cNvSpPr>
          <p:nvPr/>
        </p:nvSpPr>
        <p:spPr bwMode="auto">
          <a:xfrm>
            <a:off x="6359525" y="4259263"/>
            <a:ext cx="2482850" cy="254000"/>
          </a:xfrm>
          <a:custGeom>
            <a:avLst/>
            <a:gdLst>
              <a:gd name="T0" fmla="*/ 1648 w 1648"/>
              <a:gd name="T1" fmla="*/ 168 h 168"/>
              <a:gd name="T2" fmla="*/ 0 w 1648"/>
              <a:gd name="T3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68">
                <a:moveTo>
                  <a:pt x="1648" y="16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7" name="Freeform 21">
            <a:extLst>
              <a:ext uri="{FF2B5EF4-FFF2-40B4-BE49-F238E27FC236}">
                <a16:creationId xmlns:a16="http://schemas.microsoft.com/office/drawing/2014/main" id="{CAAB7448-80B3-0F4F-BF4D-614994DC003C}"/>
              </a:ext>
            </a:extLst>
          </p:cNvPr>
          <p:cNvSpPr>
            <a:spLocks/>
          </p:cNvSpPr>
          <p:nvPr/>
        </p:nvSpPr>
        <p:spPr bwMode="auto">
          <a:xfrm>
            <a:off x="6359525" y="4192589"/>
            <a:ext cx="177800" cy="168275"/>
          </a:xfrm>
          <a:custGeom>
            <a:avLst/>
            <a:gdLst>
              <a:gd name="T0" fmla="*/ 0 w 117"/>
              <a:gd name="T1" fmla="*/ 44 h 111"/>
              <a:gd name="T2" fmla="*/ 117 w 117"/>
              <a:gd name="T3" fmla="*/ 0 h 111"/>
              <a:gd name="T4" fmla="*/ 105 w 117"/>
              <a:gd name="T5" fmla="*/ 111 h 111"/>
              <a:gd name="T6" fmla="*/ 0 w 117"/>
              <a:gd name="T7" fmla="*/ 44 h 111"/>
              <a:gd name="T8" fmla="*/ 0 w 117"/>
              <a:gd name="T9" fmla="*/ 44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111">
                <a:moveTo>
                  <a:pt x="0" y="44"/>
                </a:moveTo>
                <a:lnTo>
                  <a:pt x="117" y="0"/>
                </a:lnTo>
                <a:lnTo>
                  <a:pt x="105" y="111"/>
                </a:lnTo>
                <a:lnTo>
                  <a:pt x="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8" name="Text Box 22">
            <a:extLst>
              <a:ext uri="{FF2B5EF4-FFF2-40B4-BE49-F238E27FC236}">
                <a16:creationId xmlns:a16="http://schemas.microsoft.com/office/drawing/2014/main" id="{D6AC59BE-4B08-C346-B3EE-4935BAFB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325" y="4235450"/>
            <a:ext cx="1409700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targetPort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19" name="Freeform 23">
            <a:extLst>
              <a:ext uri="{FF2B5EF4-FFF2-40B4-BE49-F238E27FC236}">
                <a16:creationId xmlns:a16="http://schemas.microsoft.com/office/drawing/2014/main" id="{5D2D132E-BE29-2244-8EC8-86DE2E9BCDB9}"/>
              </a:ext>
            </a:extLst>
          </p:cNvPr>
          <p:cNvSpPr>
            <a:spLocks/>
          </p:cNvSpPr>
          <p:nvPr/>
        </p:nvSpPr>
        <p:spPr bwMode="auto">
          <a:xfrm>
            <a:off x="6270625" y="4138614"/>
            <a:ext cx="0" cy="261937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0" name="Freeform 24">
            <a:extLst>
              <a:ext uri="{FF2B5EF4-FFF2-40B4-BE49-F238E27FC236}">
                <a16:creationId xmlns:a16="http://schemas.microsoft.com/office/drawing/2014/main" id="{E2E1DACC-2568-524B-B73D-7C2FC010A591}"/>
              </a:ext>
            </a:extLst>
          </p:cNvPr>
          <p:cNvSpPr>
            <a:spLocks/>
          </p:cNvSpPr>
          <p:nvPr/>
        </p:nvSpPr>
        <p:spPr bwMode="auto">
          <a:xfrm>
            <a:off x="5392738" y="3581400"/>
            <a:ext cx="0" cy="312738"/>
          </a:xfrm>
          <a:custGeom>
            <a:avLst/>
            <a:gdLst>
              <a:gd name="T0" fmla="*/ 208 h 208"/>
              <a:gd name="T1" fmla="*/ 0 h 20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8">
                <a:moveTo>
                  <a:pt x="0" y="20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1A7096F5-EA0B-FF4F-9E79-F3727326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3127375"/>
            <a:ext cx="1409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Port</a:t>
            </a: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22" name="Freeform 26">
            <a:extLst>
              <a:ext uri="{FF2B5EF4-FFF2-40B4-BE49-F238E27FC236}">
                <a16:creationId xmlns:a16="http://schemas.microsoft.com/office/drawing/2014/main" id="{6519816C-AA88-0A4E-AA78-896C41E37A09}"/>
              </a:ext>
            </a:extLst>
          </p:cNvPr>
          <p:cNvSpPr>
            <a:spLocks/>
          </p:cNvSpPr>
          <p:nvPr/>
        </p:nvSpPr>
        <p:spPr bwMode="auto">
          <a:xfrm>
            <a:off x="5510213" y="3584575"/>
            <a:ext cx="2482850" cy="228600"/>
          </a:xfrm>
          <a:custGeom>
            <a:avLst/>
            <a:gdLst>
              <a:gd name="T0" fmla="*/ 1648 w 1648"/>
              <a:gd name="T1" fmla="*/ 0 h 152"/>
              <a:gd name="T2" fmla="*/ 0 w 1648"/>
              <a:gd name="T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52">
                <a:moveTo>
                  <a:pt x="1648" y="0"/>
                </a:moveTo>
                <a:lnTo>
                  <a:pt x="0" y="152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3" name="Freeform 27">
            <a:extLst>
              <a:ext uri="{FF2B5EF4-FFF2-40B4-BE49-F238E27FC236}">
                <a16:creationId xmlns:a16="http://schemas.microsoft.com/office/drawing/2014/main" id="{54AB5414-B4AB-ED48-A11B-7FBD62C1BA37}"/>
              </a:ext>
            </a:extLst>
          </p:cNvPr>
          <p:cNvSpPr>
            <a:spLocks/>
          </p:cNvSpPr>
          <p:nvPr/>
        </p:nvSpPr>
        <p:spPr bwMode="auto">
          <a:xfrm>
            <a:off x="5510213" y="3714750"/>
            <a:ext cx="176212" cy="166688"/>
          </a:xfrm>
          <a:custGeom>
            <a:avLst/>
            <a:gdLst>
              <a:gd name="T0" fmla="*/ 0 w 116"/>
              <a:gd name="T1" fmla="*/ 66 h 111"/>
              <a:gd name="T2" fmla="*/ 106 w 116"/>
              <a:gd name="T3" fmla="*/ 0 h 111"/>
              <a:gd name="T4" fmla="*/ 116 w 116"/>
              <a:gd name="T5" fmla="*/ 111 h 111"/>
              <a:gd name="T6" fmla="*/ 0 w 116"/>
              <a:gd name="T7" fmla="*/ 66 h 111"/>
              <a:gd name="T8" fmla="*/ 0 w 116"/>
              <a:gd name="T9" fmla="*/ 66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" h="111">
                <a:moveTo>
                  <a:pt x="0" y="66"/>
                </a:moveTo>
                <a:lnTo>
                  <a:pt x="106" y="0"/>
                </a:lnTo>
                <a:lnTo>
                  <a:pt x="116" y="111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2A8CA4-9589-3D42-95D4-94763571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Service ports </a:t>
            </a:r>
            <a:r>
              <a:rPr lang="zh-CN" altLang="en-US" dirty="0"/>
              <a:t>介紹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CF1FD0-400B-3977-B806-44A8B711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1647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5108361-29DF-CD44-88DC-2E9F51F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</a:t>
            </a:r>
            <a:r>
              <a:rPr lang="zh-CN" altLang="en-US" dirty="0"/>
              <a:t>間互相呼叫，已</a:t>
            </a:r>
            <a:r>
              <a:rPr lang="en-US" altLang="zh-CN" dirty="0"/>
              <a:t>Web </a:t>
            </a:r>
            <a:r>
              <a:rPr lang="zh-CN" altLang="en-US" dirty="0"/>
              <a:t>呼叫</a:t>
            </a:r>
            <a:r>
              <a:rPr lang="en-US" altLang="zh-CN" dirty="0"/>
              <a:t>API</a:t>
            </a:r>
            <a:r>
              <a:rPr lang="zh-CN" altLang="en-US" dirty="0"/>
              <a:t>為例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19DABC-0E95-594F-A5D0-44E990AA0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68629"/>
            <a:ext cx="10515600" cy="3265329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877361-88A6-FD64-7A4E-10BF68A0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16062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13693-95B1-434D-90C7-893BBE94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查看</a:t>
            </a:r>
            <a:r>
              <a:rPr kumimoji="1" lang="zh-TW" altLang="en-US" dirty="0"/>
              <a:t> </a:t>
            </a:r>
            <a:r>
              <a:rPr kumimoji="1" lang="en-US" altLang="zh-TW" dirty="0"/>
              <a:t>k</a:t>
            </a:r>
            <a:r>
              <a:rPr kumimoji="1" lang="en-US" altLang="zh-CN" dirty="0"/>
              <a:t>8s Service </a:t>
            </a:r>
            <a:r>
              <a:rPr kumimoji="1" lang="zh-CN" altLang="en-US" dirty="0"/>
              <a:t>詳細資訊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AFE1AB-392C-2944-809A-42A4D603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describe svc nginx-service</a:t>
            </a:r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32E69-888D-3844-A1DB-A1A3248F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264"/>
            <a:ext cx="12085320" cy="220206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8EEB3-C766-CCED-4723-73DEDFAD1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6593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1425C-2502-1B4D-813C-697CDE6D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系統資訊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48203-89B0-204B-A7AF-5F097187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--show-all=true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75A3D8-F426-334D-891C-157C9565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371388"/>
            <a:ext cx="9372600" cy="2298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8823E-27A3-CA2F-FB5B-F536D2C5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66710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1323A-F65E-3B75-67B6-74C1312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縮寫：</a:t>
            </a:r>
            <a:r>
              <a:rPr kumimoji="1" lang="en-US" altLang="zh-TW" dirty="0"/>
              <a:t>ns)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628982-D539-FEF8-8D62-7744C160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命名空間，目的將資源進行區隔</a:t>
            </a:r>
            <a:endParaRPr kumimoji="1" lang="en-US" altLang="zh-TW" dirty="0"/>
          </a:p>
          <a:p>
            <a:r>
              <a:rPr kumimoji="1" lang="en-US" altLang="zh-TW" dirty="0"/>
              <a:t>Namespace list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ns</a:t>
            </a:r>
          </a:p>
          <a:p>
            <a:r>
              <a:rPr kumimoji="1" lang="en-US" altLang="zh-TW" dirty="0"/>
              <a:t>Create 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create ns </a:t>
            </a:r>
            <a:r>
              <a:rPr kumimoji="1" lang="en-US" altLang="zh-TW" dirty="0" err="1"/>
              <a:t>xxxxxxxx</a:t>
            </a:r>
            <a:endParaRPr kumimoji="1" lang="en-US" altLang="zh-TW" dirty="0"/>
          </a:p>
          <a:p>
            <a:r>
              <a:rPr kumimoji="1" lang="en-US" altLang="zh-TW" dirty="0"/>
              <a:t>Delete namespace (</a:t>
            </a:r>
            <a:r>
              <a:rPr kumimoji="1" lang="zh-TW" altLang="en-US" dirty="0"/>
              <a:t>刪除時，屬於此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上的資源也會依一起刪除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delete namespace</a:t>
            </a:r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DC2647-804C-B8B4-C295-98DFF571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9374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99E8A-5526-7229-76E5-C7D365B8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0ACE1-87C7-49CD-795B-363D00CDB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查詢指定</a:t>
            </a:r>
            <a:r>
              <a:rPr kumimoji="1" lang="en-US" altLang="zh-TW" dirty="0"/>
              <a:t>namespace</a:t>
            </a:r>
          </a:p>
          <a:p>
            <a:pPr lvl="1"/>
            <a:r>
              <a:rPr kumimoji="1" lang="en-US" altLang="zh-TW" dirty="0" err="1"/>
              <a:t>Kubect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r>
              <a:rPr kumimoji="1" lang="zh-TW" altLang="en-US" dirty="0"/>
              <a:t>取得全域資源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</a:t>
            </a:r>
            <a:r>
              <a:rPr kumimoji="1" lang="en-US" altLang="zh-TW" dirty="0"/>
              <a:t> get all -A</a:t>
            </a:r>
          </a:p>
          <a:p>
            <a:r>
              <a:rPr kumimoji="1" lang="zh-TW" altLang="en-US" dirty="0"/>
              <a:t>不指定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，預設使用名為</a:t>
            </a:r>
            <a:r>
              <a:rPr kumimoji="1" lang="en-US" altLang="zh-TW" dirty="0"/>
              <a:t>default namespace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7FA737-9255-3DE1-5A65-D686D152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86478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45E9-F69D-274C-A04A-CFCF101B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D712A-4975-C144-80C6-144FA70F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 </a:t>
            </a:r>
            <a:r>
              <a:rPr kumimoji="1" lang="zh-CN" altLang="en-US" dirty="0"/>
              <a:t>掛載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上的資料夾</a:t>
            </a:r>
            <a:endParaRPr kumimoji="1" lang="en-US" altLang="zh-CN" dirty="0"/>
          </a:p>
          <a:p>
            <a:r>
              <a:rPr kumimoji="1" lang="zh-TW" altLang="en-US" dirty="0"/>
              <a:t>當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消失資料遺失</a:t>
            </a:r>
            <a:endParaRPr kumimoji="1" lang="en-US" altLang="zh-CN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1E89F-D6FA-AF4C-9DC7-F192908C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729" y="0"/>
            <a:ext cx="4116567" cy="49121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622E59-D665-FA4A-9D37-A70829D6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9" y="5163990"/>
            <a:ext cx="10668000" cy="119380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42135DD-7938-A142-45F1-DFD737433F71}"/>
              </a:ext>
            </a:extLst>
          </p:cNvPr>
          <p:cNvSpPr txBox="1"/>
          <p:nvPr/>
        </p:nvSpPr>
        <p:spPr>
          <a:xfrm>
            <a:off x="838200" y="3148553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pods/nginx-</a:t>
            </a:r>
            <a:r>
              <a:rPr kumimoji="1" lang="en-US" altLang="zh-TW" dirty="0" err="1"/>
              <a:t>hostpath.yaml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A18F96-1E30-FD30-6E0F-5F29E6EE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3702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7D86D-3346-E245-A452-32802DA4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0BC302F-5770-9646-A6BB-37DAA0B4E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80" y="2048512"/>
            <a:ext cx="10817817" cy="126184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9519FE2-6DF0-AF45-93CA-13F70FC0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0" y="4048563"/>
            <a:ext cx="10817817" cy="93056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04F85D3-6D6F-8D80-B21C-A50065E7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8146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4CAD7-C840-E342-B1DA-D6BE3097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server on rancher server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A7ADEC-60AA-4845-BAE6-49AB7393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Install on VM1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lang="en-US" altLang="zh-TW" dirty="0" err="1"/>
              <a:t>nfs</a:t>
            </a:r>
            <a:r>
              <a:rPr lang="en-US" altLang="zh-TW" dirty="0"/>
              <a:t>-kernel-server -y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vim /</a:t>
            </a:r>
            <a:r>
              <a:rPr lang="en-US" altLang="zh-TW" dirty="0" err="1"/>
              <a:t>etc</a:t>
            </a:r>
            <a:r>
              <a:rPr lang="en-US" altLang="zh-TW" dirty="0"/>
              <a:t>/exports</a:t>
            </a:r>
          </a:p>
          <a:p>
            <a:pPr lvl="2"/>
            <a:r>
              <a:rPr lang="en-US" altLang="zh-TW" dirty="0"/>
              <a:t>/k8sNFS *(</a:t>
            </a:r>
            <a:r>
              <a:rPr lang="en-US" altLang="zh-TW" dirty="0" err="1"/>
              <a:t>no_root_squash,rw,sync,no_subtree_check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mkdir</a:t>
            </a:r>
            <a:r>
              <a:rPr lang="en-US" altLang="zh-TW" dirty="0"/>
              <a:t>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chmod</a:t>
            </a:r>
            <a:r>
              <a:rPr lang="en-US" altLang="zh-TW" dirty="0"/>
              <a:t> 777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nfs</a:t>
            </a:r>
            <a:r>
              <a:rPr lang="en-US" altLang="zh-TW" dirty="0"/>
              <a:t>-kernel-server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showmount</a:t>
            </a:r>
            <a:r>
              <a:rPr lang="en-US" altLang="zh-TW" dirty="0"/>
              <a:t> -e localhost</a:t>
            </a:r>
            <a:br>
              <a:rPr lang="en-US" altLang="zh-TW" dirty="0"/>
            </a:b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D310C52-FE25-8AF4-31FD-464772AC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6917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07BAA-D4B8-5C47-8A77-66571AF3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server install mount package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810C4-6F1F-054A-86CC-7FE392DE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Install on VM2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kumimoji="1" lang="en-US" altLang="zh-TW" dirty="0" err="1"/>
              <a:t>nfs</a:t>
            </a:r>
            <a:r>
              <a:rPr kumimoji="1" lang="en-US" altLang="zh-TW"/>
              <a:t>-common</a:t>
            </a:r>
            <a:endParaRPr kumimoji="1" lang="en-US" altLang="zh-TW" dirty="0"/>
          </a:p>
          <a:p>
            <a:r>
              <a:rPr kumimoji="1" lang="en-US" altLang="zh-TW" dirty="0"/>
              <a:t>Check</a:t>
            </a:r>
          </a:p>
          <a:p>
            <a:pPr lvl="1"/>
            <a:r>
              <a:rPr kumimoji="1" lang="en-US" altLang="zh-TW" dirty="0" err="1"/>
              <a:t>showmount</a:t>
            </a:r>
            <a:r>
              <a:rPr kumimoji="1" lang="en-US" altLang="zh-TW" dirty="0"/>
              <a:t> -e {VM1 </a:t>
            </a:r>
            <a:r>
              <a:rPr kumimoji="1" lang="zh-CN" altLang="en-US" dirty="0"/>
              <a:t>內網</a:t>
            </a:r>
            <a:r>
              <a:rPr kumimoji="1" lang="en-US" altLang="zh-TW" dirty="0"/>
              <a:t> IP}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FDDDD9-04E4-EE54-C8B7-9EC51526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13718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4B4251-20FB-1C45-8F5E-6BABB181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9C6641F-7419-0746-BF3A-FDFC2FA74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286" y="1212353"/>
            <a:ext cx="4165600" cy="546735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6887981-8D92-3039-01DC-3941E938FD43}"/>
              </a:ext>
            </a:extLst>
          </p:cNvPr>
          <p:cNvSpPr txBox="1"/>
          <p:nvPr/>
        </p:nvSpPr>
        <p:spPr>
          <a:xfrm>
            <a:off x="7967389" y="3429000"/>
            <a:ext cx="407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pods/nginx-</a:t>
            </a:r>
            <a:r>
              <a:rPr kumimoji="1" lang="en-US" altLang="zh-TW" dirty="0" err="1"/>
              <a:t>nfs.yaml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B767EF-616F-AD44-0D53-1B55CF8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3936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C02AB-F830-3D45-8E73-6C33DDE3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E9743A-2BEE-9440-94E4-AD8E63CAD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969" y="1825625"/>
            <a:ext cx="9172062" cy="4351338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8B4E9E7-690D-F498-1477-9944123E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74772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24F129D-87A5-224E-BDEE-75057368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 plugin </a:t>
            </a:r>
            <a:r>
              <a:rPr kumimoji="1" lang="zh-CN" altLang="en-US" dirty="0"/>
              <a:t>支援程度</a:t>
            </a:r>
            <a:r>
              <a:rPr kumimoji="1" lang="en-US" altLang="zh-TW" dirty="0"/>
              <a:t> 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DA216ED-B408-084D-9ED6-A1FA5D894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71" y="1825625"/>
            <a:ext cx="8624857" cy="4351338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CB96470-4F31-12DD-FCF4-0D32B618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61033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FEF4E-C298-6D44-A74B-21471D00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資源使用率</a:t>
            </a:r>
            <a:r>
              <a:rPr kumimoji="1" lang="en-US" altLang="zh-CN" dirty="0"/>
              <a:t>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6C420E-DEC5-1140-BF28-1ACE063A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nodes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pods</a:t>
            </a:r>
          </a:p>
          <a:p>
            <a:endParaRPr kumimoji="1"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3A186B-BF25-ED4A-BECD-CB7047E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24" y="2260405"/>
            <a:ext cx="9420514" cy="11390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33FF1D-0104-2443-8EC9-58886840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24" y="3962784"/>
            <a:ext cx="9171132" cy="165080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63594-1CF8-6685-F52E-9BAB487ED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29923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DevOps</a:t>
            </a:r>
          </a:p>
        </p:txBody>
      </p:sp>
      <p:sp>
        <p:nvSpPr>
          <p:cNvPr id="28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一種文化，開發團隊</a:t>
            </a:r>
            <a:r>
              <a:rPr dirty="0"/>
              <a:t>(Dev)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與維運團隊</a:t>
            </a:r>
            <a:r>
              <a:rPr dirty="0"/>
              <a:t>(Ops)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相互合作模式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自動化軟體交付、架構變更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提高軟體</a:t>
            </a:r>
            <a:r>
              <a:rPr dirty="0" err="1"/>
              <a:t>release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速度、穩定性及可維護性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避免開發出難維護、穩定性差的產品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。</a:t>
            </a:r>
          </a:p>
        </p:txBody>
      </p:sp>
      <p:sp>
        <p:nvSpPr>
          <p:cNvPr id="29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4A99D5B-9048-D6C9-0603-3859E0EF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0962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模式</a:t>
            </a:r>
            <a:r>
              <a:rPr dirty="0"/>
              <a:t> Dev + Ops</a:t>
            </a:r>
          </a:p>
        </p:txBody>
      </p:sp>
      <p:sp>
        <p:nvSpPr>
          <p:cNvPr id="2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0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79" y="1689278"/>
            <a:ext cx="722363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文字方塊 5"/>
          <p:cNvSpPr txBox="1"/>
          <p:nvPr/>
        </p:nvSpPr>
        <p:spPr>
          <a:xfrm>
            <a:off x="1186697" y="5721069"/>
            <a:ext cx="10144985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兩個團隊互相合作，而中間的交集即為</a:t>
            </a:r>
            <a:r>
              <a:t>DevOps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人員，暨了解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且同時了解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，當作</a:t>
            </a:r>
            <a:r>
              <a:t>Dev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Ops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間溝通的橋樑。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2871AD5-4533-FC33-63A4-92E50B13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66598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Agile vs Waterfall</a:t>
            </a:r>
          </a:p>
        </p:txBody>
      </p:sp>
      <p:pic>
        <p:nvPicPr>
          <p:cNvPr id="347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21" y="1493520"/>
            <a:ext cx="9413191" cy="5076777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350" name="文字方塊 7"/>
          <p:cNvSpPr txBox="1"/>
          <p:nvPr/>
        </p:nvSpPr>
        <p:spPr>
          <a:xfrm>
            <a:off x="916577" y="6545943"/>
            <a:ext cx="967667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Ref: https://www.linkedin.com/pulse/transforming-from-waterfall-agile-iqbal-ismailwala-/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5860C25-0522-A493-C616-1361A116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9144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</a:t>
            </a:r>
          </a:p>
        </p:txBody>
      </p:sp>
      <p:sp>
        <p:nvSpPr>
          <p:cNvPr id="3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持續整合、持續交付、持續部署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持續</a:t>
            </a:r>
            <a:r>
              <a:t> =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自動化</a:t>
            </a:r>
          </a:p>
          <a:p>
            <a:r>
              <a:rPr>
                <a:latin typeface="+mj-lt"/>
                <a:ea typeface="+mj-ea"/>
                <a:cs typeface="+mj-cs"/>
                <a:sym typeface="Helvetica"/>
              </a:rPr>
              <a:t>自動編譯、自動釋出版本、自動部署</a:t>
            </a:r>
          </a:p>
        </p:txBody>
      </p:sp>
      <p:sp>
        <p:nvSpPr>
          <p:cNvPr id="3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A80ABE-732E-FB62-AA36-8DF7E9ED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6687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CI/CD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步驟</a:t>
            </a:r>
          </a:p>
        </p:txBody>
      </p:sp>
      <p:pic>
        <p:nvPicPr>
          <p:cNvPr id="364" name="內容版面配置區 8" descr="內容版面配置區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484" y="1737049"/>
            <a:ext cx="5824256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367" name="文字方塊 9"/>
          <p:cNvSpPr txBox="1"/>
          <p:nvPr/>
        </p:nvSpPr>
        <p:spPr>
          <a:xfrm>
            <a:off x="2208112" y="6220616"/>
            <a:ext cx="714102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https://techblog.rakuten.co.jp/2018/02/06/cd-the-best-practice/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1D8C166-A56F-DF78-D128-EF694F06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85477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開發流程圖</a:t>
            </a:r>
          </a:p>
        </p:txBody>
      </p:sp>
      <p:pic>
        <p:nvPicPr>
          <p:cNvPr id="37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80" y="1493520"/>
            <a:ext cx="3740313" cy="4956727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373" name="文字方塊 2"/>
          <p:cNvSpPr txBox="1"/>
          <p:nvPr/>
        </p:nvSpPr>
        <p:spPr>
          <a:xfrm>
            <a:off x="4116568" y="6280922"/>
            <a:ext cx="702845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pPr>
            <a:r>
              <a:t>資料來源：nvie.com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3E7120-CAC1-09F4-D39F-395A8917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63902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分支定義</a:t>
            </a:r>
          </a:p>
        </p:txBody>
      </p:sp>
      <p:sp>
        <p:nvSpPr>
          <p:cNvPr id="37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長期存在分支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master: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核心分支，不開放工程師直接</a:t>
            </a:r>
            <a:r>
              <a:t>Commit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develop: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</a:t>
            </a:r>
          </a:p>
          <a:p>
            <a:pPr marL="315468" indent="-315468" defTabSz="420623">
              <a:spcBef>
                <a:spcPts val="900"/>
              </a:spcBef>
              <a:defRPr sz="2944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短期存在分支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Hotfixes: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 處理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產品的重大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Release branch: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在出版前，進行</a:t>
            </a:r>
            <a:r>
              <a:t>release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前測試。</a:t>
            </a:r>
          </a:p>
          <a:p>
            <a:pPr marL="683513" lvl="1" indent="-262890" defTabSz="420623">
              <a:spcBef>
                <a:spcPts val="900"/>
              </a:spcBef>
              <a:defRPr sz="2576"/>
            </a:pPr>
            <a:r>
              <a:t>Feature: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功能開發分支。</a:t>
            </a:r>
          </a:p>
        </p:txBody>
      </p:sp>
      <p:sp>
        <p:nvSpPr>
          <p:cNvPr id="37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3D6372-307F-1991-D9B8-4EECBCE7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8450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Gitflow</a:t>
            </a:r>
          </a:p>
        </p:txBody>
      </p:sp>
      <p:sp>
        <p:nvSpPr>
          <p:cNvPr id="38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除了</a:t>
            </a:r>
            <a:r>
              <a:t>master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develop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，其他</a:t>
            </a:r>
            <a:r>
              <a:t>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建議勿長期存在，特別是</a:t>
            </a:r>
            <a:r>
              <a:t>feature</a:t>
            </a:r>
          </a:p>
          <a:p>
            <a:r>
              <a:t>Release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與</a:t>
            </a:r>
            <a:r>
              <a:t>Hotfix branch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只能修</a:t>
            </a:r>
            <a:r>
              <a:t>Bug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，不能增加新功能。</a:t>
            </a:r>
          </a:p>
        </p:txBody>
      </p:sp>
      <p:sp>
        <p:nvSpPr>
          <p:cNvPr id="38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0B45CD-0B58-EA00-C359-40667821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2178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標題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t>Gitlab</a:t>
            </a:r>
          </a:p>
        </p:txBody>
      </p:sp>
      <p:pic>
        <p:nvPicPr>
          <p:cNvPr id="3" name="內容版面配置區 2">
            <a:extLst>
              <a:ext uri="{FF2B5EF4-FFF2-40B4-BE49-F238E27FC236}">
                <a16:creationId xmlns:a16="http://schemas.microsoft.com/office/drawing/2014/main" id="{9EDD69E8-11F0-BE9F-589F-3E62117B8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143" y="2510463"/>
            <a:ext cx="8449483" cy="2854555"/>
          </a:xfrm>
          <a:prstGeom prst="rect">
            <a:avLst/>
          </a:prstGeom>
        </p:spPr>
      </p:pic>
      <p:sp>
        <p:nvSpPr>
          <p:cNvPr id="65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EF74C4F-1066-D8B3-71F2-731731E8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39361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Deploy GitLab server on VM1 docker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docker run -e GITLAB_OMNIBUS_CONFIG="</a:t>
            </a:r>
            <a:r>
              <a:rPr lang="en-US" altLang="zh-TW" dirty="0" err="1"/>
              <a:t>external_url</a:t>
            </a:r>
            <a:r>
              <a:rPr lang="en-US" altLang="zh-TW" dirty="0"/>
              <a:t> 'http://{VM1</a:t>
            </a:r>
            <a:r>
              <a:rPr lang="zh-TW" altLang="en-US" dirty="0"/>
              <a:t>外部</a:t>
            </a:r>
            <a:r>
              <a:rPr lang="en-US" altLang="zh-TW" dirty="0"/>
              <a:t>IP}';</a:t>
            </a:r>
            <a:r>
              <a:rPr lang="en-US" altLang="zh-TW" dirty="0" err="1"/>
              <a:t>prometheus_monitoring</a:t>
            </a:r>
            <a:r>
              <a:rPr lang="en-US" altLang="zh-TW" dirty="0"/>
              <a:t>['enable'] = </a:t>
            </a:r>
            <a:r>
              <a:rPr lang="en-US" altLang="zh-TW" dirty="0" err="1"/>
              <a:t>false;gitlab_kas</a:t>
            </a:r>
            <a:r>
              <a:rPr lang="en-US" altLang="zh-TW" dirty="0"/>
              <a:t>['enable'] = true;" -d -p 443:443 -p 80:80 -p 10022:22 --name </a:t>
            </a:r>
            <a:r>
              <a:rPr lang="en-US" altLang="zh-TW" dirty="0" err="1"/>
              <a:t>gitlab</a:t>
            </a:r>
            <a:r>
              <a:rPr lang="en-US" altLang="zh-TW" dirty="0"/>
              <a:t> --restart always -v $HOME/</a:t>
            </a:r>
            <a:r>
              <a:rPr lang="en-US" altLang="zh-TW" dirty="0" err="1"/>
              <a:t>gitlab</a:t>
            </a:r>
            <a:r>
              <a:rPr lang="en-US" altLang="zh-TW" dirty="0"/>
              <a:t>/config:/</a:t>
            </a:r>
            <a:r>
              <a:rPr lang="en-US" altLang="zh-TW" dirty="0" err="1"/>
              <a:t>etc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 -v $HOME/</a:t>
            </a:r>
            <a:r>
              <a:rPr lang="en-US" altLang="zh-TW" dirty="0" err="1"/>
              <a:t>gitlab</a:t>
            </a:r>
            <a:r>
              <a:rPr lang="en-US" altLang="zh-TW" dirty="0"/>
              <a:t>/logs:/var/log/</a:t>
            </a:r>
            <a:r>
              <a:rPr lang="en-US" altLang="zh-TW" dirty="0" err="1"/>
              <a:t>gitlab</a:t>
            </a:r>
            <a:r>
              <a:rPr lang="en-US" altLang="zh-TW" dirty="0"/>
              <a:t> -v $HOME/</a:t>
            </a:r>
            <a:r>
              <a:rPr lang="en-US" altLang="zh-TW" dirty="0" err="1"/>
              <a:t>gitlab</a:t>
            </a:r>
            <a:r>
              <a:rPr lang="en-US" altLang="zh-TW" dirty="0"/>
              <a:t>/data:/var/opt/</a:t>
            </a:r>
            <a:r>
              <a:rPr lang="en-US" altLang="zh-TW" dirty="0" err="1"/>
              <a:t>gitlab</a:t>
            </a:r>
            <a:r>
              <a:rPr lang="en-US" altLang="zh-TW" dirty="0"/>
              <a:t> </a:t>
            </a:r>
            <a:r>
              <a:rPr lang="en-US" altLang="zh-TW" dirty="0" err="1"/>
              <a:t>gitlab</a:t>
            </a:r>
            <a:r>
              <a:rPr lang="en-US" altLang="zh-TW" dirty="0"/>
              <a:t>/gitlab-ce:17.10.1-ce.0</a:t>
            </a:r>
          </a:p>
          <a:p>
            <a:r>
              <a:rPr lang="zh-TW" altLang="en-US" dirty="0"/>
              <a:t>把 </a:t>
            </a:r>
            <a:r>
              <a:rPr lang="en-US" altLang="zh-TW" dirty="0"/>
              <a:t>{VM1</a:t>
            </a:r>
            <a:r>
              <a:rPr lang="zh-TW" altLang="en-US" dirty="0"/>
              <a:t>外部</a:t>
            </a:r>
            <a:r>
              <a:rPr lang="en-US" altLang="zh-TW" dirty="0"/>
              <a:t>IP} </a:t>
            </a:r>
            <a:r>
              <a:rPr lang="zh-TW" altLang="en-US" dirty="0"/>
              <a:t>替換成自己的</a:t>
            </a:r>
            <a:r>
              <a:rPr lang="en-US" altLang="zh-TW" dirty="0"/>
              <a:t>VM1</a:t>
            </a:r>
            <a:r>
              <a:rPr lang="zh-TW" altLang="en-US" dirty="0"/>
              <a:t>的外部</a:t>
            </a:r>
            <a:r>
              <a:rPr lang="en-US" altLang="zh-TW" dirty="0"/>
              <a:t>IP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30A8C8-C117-98BD-8825-C6B222AA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2577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-1</a:t>
            </a:r>
          </a:p>
        </p:txBody>
      </p:sp>
      <p:sp>
        <p:nvSpPr>
          <p:cNvPr id="66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ENV (-e)</a:t>
            </a:r>
          </a:p>
          <a:p>
            <a:pPr marL="742950" lvl="1" indent="-285750">
              <a:defRPr sz="2800"/>
            </a:pPr>
            <a:r>
              <a:rPr dirty="0" err="1"/>
              <a:t>external_url</a:t>
            </a:r>
            <a:r>
              <a:rPr dirty="0"/>
              <a:t> </a:t>
            </a:r>
          </a:p>
          <a:p>
            <a:pPr marL="1143000" lvl="2" indent="-228600">
              <a:defRPr sz="2400"/>
            </a:pPr>
            <a:r>
              <a:rPr dirty="0"/>
              <a:t>'http://{vm1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外部</a:t>
            </a:r>
            <a:r>
              <a:rPr dirty="0"/>
              <a:t>ip}';</a:t>
            </a:r>
          </a:p>
          <a:p>
            <a:pPr lvl="1">
              <a:defRPr sz="2400"/>
            </a:pPr>
            <a:r>
              <a:rPr dirty="0" err="1"/>
              <a:t>prometheus_monitoring</a:t>
            </a:r>
            <a:r>
              <a:rPr dirty="0"/>
              <a:t>['enable'] = false;</a:t>
            </a:r>
            <a:endParaRPr lang="en-US" dirty="0"/>
          </a:p>
          <a:p>
            <a:pPr lvl="2">
              <a:defRPr sz="2400"/>
            </a:pPr>
            <a:r>
              <a:rPr lang="zh-TW" altLang="en-US" dirty="0"/>
              <a:t>監控不啟用</a:t>
            </a:r>
            <a:r>
              <a:rPr lang="en-US" altLang="zh-TW" dirty="0"/>
              <a:t>(</a:t>
            </a:r>
            <a:r>
              <a:rPr lang="zh-TW" altLang="en-US" dirty="0"/>
              <a:t>資源使用較高</a:t>
            </a:r>
            <a:r>
              <a:rPr lang="en-US" altLang="zh-TW" dirty="0"/>
              <a:t>)</a:t>
            </a:r>
            <a:endParaRPr lang="en-US" dirty="0"/>
          </a:p>
          <a:p>
            <a:pPr lvl="1">
              <a:defRPr sz="2400"/>
            </a:pPr>
            <a:r>
              <a:rPr lang="en-US" altLang="zh-TW" dirty="0" err="1"/>
              <a:t>gitlab_kas</a:t>
            </a:r>
            <a:r>
              <a:rPr lang="en-US" altLang="zh-TW" dirty="0"/>
              <a:t>['enable'] = true;</a:t>
            </a:r>
          </a:p>
          <a:p>
            <a:pPr lvl="2">
              <a:defRPr sz="2400"/>
            </a:pPr>
            <a:r>
              <a:rPr lang="zh-TW" altLang="en-US" dirty="0"/>
              <a:t>啟用</a:t>
            </a:r>
            <a:r>
              <a:rPr lang="en-US" altLang="zh-TW" dirty="0"/>
              <a:t>Agent server for </a:t>
            </a:r>
            <a:r>
              <a:rPr lang="en-US" altLang="zh-TW" dirty="0" err="1"/>
              <a:t>kubernetes</a:t>
            </a:r>
            <a:endParaRPr dirty="0"/>
          </a:p>
          <a:p>
            <a:r>
              <a:rPr dirty="0"/>
              <a:t>Detach (-d)</a:t>
            </a:r>
          </a:p>
          <a:p>
            <a:pPr marL="742950" lvl="1" indent="-285750">
              <a:defRPr sz="28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背景執行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6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61591C8-B405-A123-E73E-9869978F9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042833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-2</a:t>
            </a:r>
          </a:p>
        </p:txBody>
      </p:sp>
      <p:sp>
        <p:nvSpPr>
          <p:cNvPr id="666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t>Port (-p)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t>80:80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t>443:443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t>10022:22</a:t>
            </a:r>
          </a:p>
          <a:p>
            <a:pPr>
              <a:lnSpc>
                <a:spcPct val="90000"/>
              </a:lnSpc>
              <a:defRPr sz="2900"/>
            </a:pPr>
            <a:r>
              <a:t>--restart always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永遠啟動此</a:t>
            </a:r>
            <a:r>
              <a:t>Container</a:t>
            </a:r>
          </a:p>
          <a:p>
            <a:pPr>
              <a:lnSpc>
                <a:spcPct val="90000"/>
              </a:lnSpc>
              <a:defRPr sz="2900"/>
            </a:pPr>
            <a:r>
              <a:t>--name gitlab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t>containe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名稱</a:t>
            </a:r>
          </a:p>
        </p:txBody>
      </p:sp>
      <p:sp>
        <p:nvSpPr>
          <p:cNvPr id="66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8E8A6E-8969-2BFC-04D1-056938D80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56609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參數講解</a:t>
            </a:r>
            <a:r>
              <a:t> -3</a:t>
            </a:r>
          </a:p>
        </p:txBody>
      </p:sp>
      <p:sp>
        <p:nvSpPr>
          <p:cNvPr id="671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-v (volume)</a:t>
            </a:r>
          </a:p>
          <a:p>
            <a:pPr marL="742950" lvl="1" indent="-285750">
              <a:defRPr sz="2800"/>
            </a:pPr>
            <a:r>
              <a:t>$HOME/gitlab/config:/etc/gitlab</a:t>
            </a:r>
          </a:p>
          <a:p>
            <a:pPr marL="1143000" lvl="2" indent="-228600">
              <a:defRPr sz="2400"/>
            </a:pPr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設定檔</a:t>
            </a:r>
          </a:p>
          <a:p>
            <a:pPr marL="742950" lvl="1" indent="-285750">
              <a:defRPr sz="2800"/>
            </a:pPr>
            <a:r>
              <a:t>$HOME/gitlab/logs:/var/log/gitlab</a:t>
            </a:r>
          </a:p>
          <a:p>
            <a:pPr marL="1143000" lvl="2" indent="-228600">
              <a:defRPr sz="2400"/>
            </a:pPr>
            <a:r>
              <a:t>Gitlab log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檔</a:t>
            </a:r>
          </a:p>
          <a:p>
            <a:pPr marL="742950" lvl="1" indent="-285750">
              <a:defRPr sz="2800"/>
            </a:pPr>
            <a:r>
              <a:t>$HOME/gitlab/data:/var/opt/gitlab</a:t>
            </a:r>
          </a:p>
          <a:p>
            <a:pPr marL="1143000" lvl="2" indent="-228600">
              <a:defRPr sz="2400"/>
            </a:pPr>
            <a:r>
              <a:t>Gitlab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資料儲存位置</a:t>
            </a:r>
          </a:p>
        </p:txBody>
      </p:sp>
      <p:sp>
        <p:nvSpPr>
          <p:cNvPr id="672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F720D62-FD9A-4E09-AE0E-E71C931CE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8565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9FEC3-3617-5483-2BBA-C166DBCF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等待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ready 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E02231F-C8C9-3F06-84ED-2E2E25985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24355"/>
            <a:ext cx="8264703" cy="1601505"/>
          </a:xfr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D9E1D30-B088-4E3F-ACCC-E82F6A5FB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19252"/>
            <a:ext cx="8367863" cy="1217358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F0F60C64-58E8-739B-FFC1-149A7708CF29}"/>
              </a:ext>
            </a:extLst>
          </p:cNvPr>
          <p:cNvSpPr txBox="1"/>
          <p:nvPr/>
        </p:nvSpPr>
        <p:spPr>
          <a:xfrm>
            <a:off x="2506894" y="4695290"/>
            <a:ext cx="757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Ready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E1B88BF-5800-01F1-CCB9-B44AAEBDD7F7}"/>
              </a:ext>
            </a:extLst>
          </p:cNvPr>
          <p:cNvSpPr txBox="1"/>
          <p:nvPr/>
        </p:nvSpPr>
        <p:spPr>
          <a:xfrm>
            <a:off x="2363057" y="1772855"/>
            <a:ext cx="1218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In progress</a:t>
            </a:r>
            <a:endParaRPr kumimoji="1"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19C863C-7C18-7C15-01CE-135B5949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4848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err="1"/>
              <a:t>gitlab</a:t>
            </a:r>
            <a:r>
              <a:rPr dirty="0"/>
              <a:t> </a:t>
            </a:r>
            <a:r>
              <a:rPr dirty="0" err="1"/>
              <a:t>init</a:t>
            </a:r>
            <a:r>
              <a:rPr dirty="0"/>
              <a:t> password</a:t>
            </a:r>
          </a:p>
        </p:txBody>
      </p:sp>
      <p:sp>
        <p:nvSpPr>
          <p:cNvPr id="67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A717F83-C145-94DA-DB46-64FF57123667}"/>
              </a:ext>
            </a:extLst>
          </p:cNvPr>
          <p:cNvSpPr txBox="1"/>
          <p:nvPr/>
        </p:nvSpPr>
        <p:spPr>
          <a:xfrm>
            <a:off x="719191" y="2044557"/>
            <a:ext cx="1034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cat ~/</a:t>
            </a:r>
            <a:r>
              <a:rPr kumimoji="1" lang="en" altLang="zh-TW" dirty="0" err="1"/>
              <a:t>gitlab</a:t>
            </a:r>
            <a:r>
              <a:rPr kumimoji="1" lang="en" altLang="zh-TW" dirty="0"/>
              <a:t>/config/</a:t>
            </a:r>
            <a:r>
              <a:rPr kumimoji="1" lang="en" altLang="zh-TW" dirty="0" err="1"/>
              <a:t>initial_root_password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70A3CE-6ACE-7F29-262E-5630E4E54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51" y="2808582"/>
            <a:ext cx="11471902" cy="293467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52BF45-265E-6A96-E507-76F057C4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90447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login</a:t>
            </a:r>
            <a:r>
              <a:rPr lang="en-US" dirty="0"/>
              <a:t>, username: root</a:t>
            </a:r>
            <a:endParaRPr dirty="0"/>
          </a:p>
        </p:txBody>
      </p:sp>
      <p:sp>
        <p:nvSpPr>
          <p:cNvPr id="68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37F42CC-03E7-D27F-8EDF-398A665CE804}"/>
              </a:ext>
            </a:extLst>
          </p:cNvPr>
          <p:cNvSpPr txBox="1"/>
          <p:nvPr/>
        </p:nvSpPr>
        <p:spPr>
          <a:xfrm>
            <a:off x="2167847" y="1690688"/>
            <a:ext cx="209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 err="1"/>
              <a:t>ip</a:t>
            </a:r>
            <a:r>
              <a:rPr kumimoji="1" lang="en" altLang="zh-TW" dirty="0"/>
              <a:t>}/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AA4AA7-D6B0-5314-0E38-183D442E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41" y="2245639"/>
            <a:ext cx="7137400" cy="38862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F3FEBCE-86CB-E984-A09D-9A695E7E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169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1662E-C8F6-F0E7-F526-DB0BD672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啟用</a:t>
            </a:r>
            <a:r>
              <a:rPr kumimoji="1" lang="en-US" altLang="zh-TW" dirty="0"/>
              <a:t> import project </a:t>
            </a:r>
            <a:r>
              <a:rPr kumimoji="1" lang="zh-TW" altLang="en-US" dirty="0"/>
              <a:t>功能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EF07244-5CE3-ECE3-6756-0C9E1B2C7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27107"/>
            <a:ext cx="2007742" cy="51239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08622EB-ECDE-4D3D-7D9A-DCFCEBB27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765" y="1318153"/>
            <a:ext cx="5360470" cy="503819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DBD4186-6E23-54FE-DDDE-F834C6DE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00682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1BAA2-0C61-7C74-65B7-C2877210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勾選</a:t>
            </a:r>
            <a:r>
              <a:rPr kumimoji="1" lang="en" altLang="zh-TW" dirty="0"/>
              <a:t>Repository by URL</a:t>
            </a:r>
            <a:r>
              <a:rPr kumimoji="1" lang="zh-TW" altLang="en-US" dirty="0"/>
              <a:t>，並</a:t>
            </a:r>
            <a:r>
              <a:rPr kumimoji="1" lang="en-US" altLang="zh-TW" dirty="0"/>
              <a:t>Save changes</a:t>
            </a:r>
            <a:r>
              <a:rPr kumimoji="1" lang="zh-TW" altLang="en-US" dirty="0"/>
              <a:t> 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7BCCD57-AFF0-F4AC-5D73-7EDFB89D8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692" y="2346726"/>
            <a:ext cx="4876800" cy="31242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F08BB62-E911-ED12-40F8-F99495281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912" y="1823538"/>
            <a:ext cx="3635054" cy="466933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9F13169-0D84-3348-E85A-444B973D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01271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UI </a:t>
            </a:r>
          </a:p>
        </p:txBody>
      </p:sp>
      <p:sp>
        <p:nvSpPr>
          <p:cNvPr id="68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673AFDD-3345-6923-8780-A00C158AE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786" y="1791404"/>
            <a:ext cx="9629553" cy="3862953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509DA4-99B9-BA09-6363-0053652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4855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– </a:t>
            </a:r>
            <a:r>
              <a:rPr lang="en-US" dirty="0">
                <a:sym typeface="Helvetica"/>
              </a:rPr>
              <a:t>Import </a:t>
            </a:r>
            <a:r>
              <a:rPr lang="en-US" dirty="0" err="1">
                <a:sym typeface="Helvetica"/>
              </a:rPr>
              <a:t>Porject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，</a:t>
            </a:r>
            <a:r>
              <a:rPr lang="en-US" dirty="0" err="1">
                <a:sym typeface="Helvetica"/>
              </a:rPr>
              <a:t>選擇Repo</a:t>
            </a:r>
            <a:r>
              <a:rPr lang="en-US" dirty="0">
                <a:sym typeface="Helvetica"/>
              </a:rPr>
              <a:t> by</a:t>
            </a:r>
            <a:r>
              <a:rPr dirty="0"/>
              <a:t> URL</a:t>
            </a:r>
          </a:p>
        </p:txBody>
      </p:sp>
      <p:sp>
        <p:nvSpPr>
          <p:cNvPr id="69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453F86A-FC72-5450-359D-55AE63DC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539" y="1383803"/>
            <a:ext cx="6385260" cy="263971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925B09E-6BEC-1007-62F5-3EE539EB95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249" y="4166097"/>
            <a:ext cx="7213600" cy="26162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1C5D8FB-4593-90E2-5863-7C2F06D8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3296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這邊用課程docker-devops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作為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 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import repo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69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079B126-42BC-909B-4991-793C6BFFFB82}"/>
              </a:ext>
            </a:extLst>
          </p:cNvPr>
          <p:cNvSpPr txBox="1"/>
          <p:nvPr/>
        </p:nvSpPr>
        <p:spPr>
          <a:xfrm>
            <a:off x="246580" y="1493520"/>
            <a:ext cx="11013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hlinkClick r:id="rId2"/>
              </a:rPr>
              <a:t>Git repository URL: https://github.com/demoyuw/docker-devops.git</a:t>
            </a:r>
            <a:endParaRPr kumimoji="1" lang="en" altLang="zh-TW" dirty="0"/>
          </a:p>
          <a:p>
            <a:endParaRPr kumimoji="1" lang="en" altLang="zh-TW" dirty="0"/>
          </a:p>
          <a:p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05C1B9-E2EC-0EE3-184C-8A9B8AE0B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283" y="2054831"/>
            <a:ext cx="7519435" cy="443804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7D1568-94CA-9235-BB91-7BCD8450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61854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選擇建立專案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0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B99B322-3FB2-03C3-56B3-C2FB7B9F8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936" y="1943100"/>
            <a:ext cx="5892800" cy="435610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7A8915-5C7F-514D-F988-69B6AAD5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984991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1732C-1E60-6AA5-B860-063D0616C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專案建立後，準備設定</a:t>
            </a:r>
            <a:r>
              <a:rPr kumimoji="1" lang="en-US" altLang="zh-TW" dirty="0"/>
              <a:t>Runner </a:t>
            </a:r>
            <a:br>
              <a:rPr kumimoji="1" lang="en-US" altLang="zh-TW" dirty="0"/>
            </a:br>
            <a:r>
              <a:rPr kumimoji="1" lang="zh-TW" altLang="en-US" dirty="0"/>
              <a:t>到</a:t>
            </a:r>
            <a:r>
              <a:rPr kumimoji="1" lang="en-US" altLang="zh-TW" dirty="0"/>
              <a:t>Settings -&gt; CI/CD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8AD71A0-A79B-E7A0-7195-DB3FD16DC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160" y="1774254"/>
            <a:ext cx="3121801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2BDE55-CBD6-C47F-CD82-50245F1B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709712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11972D-E66A-B4E2-AAB9-C99CFC857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點擊</a:t>
            </a:r>
            <a:r>
              <a:rPr kumimoji="1" lang="en-US" altLang="zh-TW" dirty="0"/>
              <a:t>Runners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保存下來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4DD94FC-40B2-D8FD-FA45-FD6482196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E0CCE3-B74F-79B2-C6F0-398F6BBB7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39938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949A88-19DF-E3C2-FA8C-BF054601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Install Gitlab CI/CD Kubernetes Runner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105CAEE-44A9-3EE5-9E14-6F1A00BAE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6500" y="2076119"/>
            <a:ext cx="8531939" cy="392008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18DDA46-59FD-4DC9-8F8C-5793A6B2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20982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40A0FCF-03EB-3F36-455D-4828EDCD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安裝</a:t>
            </a:r>
            <a:r>
              <a:rPr lang="en-US" altLang="zh-TW" dirty="0"/>
              <a:t>Runner </a:t>
            </a:r>
            <a:r>
              <a:rPr lang="zh-TW" altLang="en-US" dirty="0"/>
              <a:t>前準備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7341A6F-F06F-1889-9146-27C5D228E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helm repo add </a:t>
            </a:r>
            <a:r>
              <a:rPr lang="en-US" altLang="zh-TW" dirty="0" err="1"/>
              <a:t>gitlab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https://charts.gitlab.io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create ns </a:t>
            </a:r>
            <a:r>
              <a:rPr lang="en-US" altLang="zh-TW" dirty="0" err="1"/>
              <a:t>gitlab</a:t>
            </a:r>
            <a:r>
              <a:rPr lang="en-US" altLang="zh-TW" dirty="0"/>
              <a:t>-runner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8644571-2841-2C55-339D-DAE9E9E2E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535" y="2246968"/>
            <a:ext cx="8775700" cy="736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E6E6CB9-E4B3-91E3-926A-845C3CBCC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74433"/>
            <a:ext cx="12192000" cy="107203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B12C0A-B755-298C-2788-EBCFD2614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0400" y="5491163"/>
            <a:ext cx="8331200" cy="685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1D71D5-DA10-F27E-F63B-210BB7ED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37970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8795DF-BE9D-A028-C8B2-135DF9A1F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/>
              <a:t>runner </a:t>
            </a:r>
            <a:r>
              <a:rPr kumimoji="1" lang="zh-TW" altLang="en-US" dirty="0"/>
              <a:t>版本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620F10-B960-9D9E-875A-54B11FF30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repo -l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8667EEC4-0DE5-7911-A8B8-CEFBBD1A0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19" y="2483920"/>
            <a:ext cx="8513510" cy="387243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35FDD4-2B1C-EBBD-C1F9-23727CAF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13188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docker-devops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 err="1"/>
              <a:t>gitlabUrl</a:t>
            </a:r>
            <a:r>
              <a:rPr lang="en-US" altLang="zh-TW" dirty="0"/>
              <a:t>: </a:t>
            </a:r>
            <a:r>
              <a:rPr lang="en-US" altLang="zh-TW" dirty="0">
                <a:hlinkClick r:id="rId2"/>
              </a:rPr>
              <a:t>http://10.128.0.10/</a:t>
            </a:r>
            <a:endParaRPr lang="en-US" altLang="zh-TW" dirty="0"/>
          </a:p>
          <a:p>
            <a:pPr lvl="2"/>
            <a:r>
              <a:rPr lang="en-US" altLang="zh-TW" dirty="0" err="1"/>
              <a:t>GitLab</a:t>
            </a:r>
            <a:r>
              <a:rPr lang="en-US" altLang="zh-TW" dirty="0"/>
              <a:t> server </a:t>
            </a:r>
            <a:r>
              <a:rPr lang="zh-TW" altLang="en-US" dirty="0"/>
              <a:t>所在位置</a:t>
            </a:r>
            <a:endParaRPr lang="en-US" altLang="zh-TW" dirty="0"/>
          </a:p>
          <a:p>
            <a:pPr lvl="1"/>
            <a:r>
              <a:rPr lang="en-US" altLang="zh-TW" dirty="0" err="1"/>
              <a:t>runnerRegistrationToken</a:t>
            </a:r>
            <a:r>
              <a:rPr lang="en-US" altLang="zh-TW" dirty="0"/>
              <a:t>: "GR1348941x2KCqWDm-Brpep587ZfC"</a:t>
            </a:r>
          </a:p>
          <a:p>
            <a:pPr lvl="2"/>
            <a:r>
              <a:rPr lang="en-US" altLang="zh-TW" dirty="0"/>
              <a:t>Runner token</a:t>
            </a:r>
          </a:p>
          <a:p>
            <a:pPr lvl="1"/>
            <a:r>
              <a:rPr lang="en-US" altLang="zh-TW" dirty="0" err="1"/>
              <a:t>rbac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create: true</a:t>
            </a:r>
          </a:p>
          <a:p>
            <a:pPr lvl="3"/>
            <a:r>
              <a:rPr lang="zh-TW" altLang="en-US" dirty="0"/>
              <a:t>啟用</a:t>
            </a:r>
            <a:r>
              <a:rPr lang="en-US" altLang="zh-TW" dirty="0" err="1"/>
              <a:t>rbac</a:t>
            </a:r>
            <a:endParaRPr lang="en-US" altLang="zh-TW" dirty="0"/>
          </a:p>
          <a:p>
            <a:pPr lvl="2"/>
            <a:r>
              <a:rPr lang="en-US" altLang="zh-TW" dirty="0" err="1"/>
              <a:t>clusterWideAccess</a:t>
            </a:r>
            <a:r>
              <a:rPr lang="en-US" altLang="zh-TW" dirty="0"/>
              <a:t>: true</a:t>
            </a:r>
          </a:p>
          <a:p>
            <a:pPr lvl="1"/>
            <a:endParaRPr lang="en-US" altLang="zh-TW" dirty="0"/>
          </a:p>
          <a:p>
            <a:pPr lvl="3"/>
            <a:endParaRPr lang="en-US" altLang="zh-TW" dirty="0"/>
          </a:p>
          <a:p>
            <a:pPr lvl="1"/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958E24F-6110-B84F-49B5-DA5CF5B2C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629025"/>
            <a:ext cx="2660900" cy="286385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7A01A71-0F94-2283-750B-DDE428B2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42593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runner </a:t>
            </a:r>
            <a:r>
              <a:rPr lang="zh-TW" altLang="en-US" dirty="0"/>
              <a:t>設定檔 </a:t>
            </a:r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docker-</a:t>
            </a:r>
            <a:r>
              <a:rPr lang="en-US" altLang="zh-TW" dirty="0" err="1"/>
              <a:t>devops</a:t>
            </a:r>
            <a:r>
              <a:rPr lang="en-US" altLang="zh-TW" dirty="0"/>
              <a:t>/</a:t>
            </a:r>
            <a:r>
              <a:rPr lang="en-US" altLang="zh-TW" dirty="0" err="1"/>
              <a:t>gitlab</a:t>
            </a:r>
            <a:r>
              <a:rPr lang="en-US" altLang="zh-TW" dirty="0"/>
              <a:t>-runner/</a:t>
            </a:r>
            <a:r>
              <a:rPr lang="en-US" altLang="zh-TW" dirty="0" err="1"/>
              <a:t>values.yaml</a:t>
            </a:r>
            <a:endParaRPr lang="en-US" altLang="zh-TW" dirty="0"/>
          </a:p>
          <a:p>
            <a:pPr lvl="1"/>
            <a:r>
              <a:rPr lang="en-US" altLang="zh-TW" dirty="0"/>
              <a:t>runners:</a:t>
            </a:r>
          </a:p>
          <a:p>
            <a:pPr lvl="2"/>
            <a:r>
              <a:rPr lang="en-US" altLang="zh-TW" dirty="0" err="1"/>
              <a:t>config</a:t>
            </a:r>
            <a:r>
              <a:rPr lang="en-US" altLang="zh-TW" dirty="0"/>
              <a:t>: </a:t>
            </a:r>
          </a:p>
          <a:p>
            <a:pPr lvl="3"/>
            <a:r>
              <a:rPr lang="en-US" altLang="zh-TW" dirty="0"/>
              <a:t>[[</a:t>
            </a:r>
            <a:r>
              <a:rPr lang="en-US" altLang="zh-TW" dirty="0" err="1"/>
              <a:t>runners.kubernetes.volumes.host_path</a:t>
            </a:r>
            <a:r>
              <a:rPr lang="en-US" altLang="zh-TW" dirty="0"/>
              <a:t>]]</a:t>
            </a:r>
          </a:p>
          <a:p>
            <a:pPr lvl="3"/>
            <a:r>
              <a:rPr lang="en-US" altLang="zh-TW" dirty="0"/>
              <a:t>  name = "</a:t>
            </a:r>
            <a:r>
              <a:rPr lang="en-US" altLang="zh-TW" dirty="0" err="1"/>
              <a:t>docker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mount_path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read_only</a:t>
            </a:r>
            <a:r>
              <a:rPr lang="en-US" altLang="zh-TW" dirty="0"/>
              <a:t> = true</a:t>
            </a:r>
          </a:p>
          <a:p>
            <a:pPr lvl="3"/>
            <a:r>
              <a:rPr lang="en-US" altLang="zh-TW" dirty="0"/>
              <a:t>  </a:t>
            </a:r>
            <a:r>
              <a:rPr lang="en-US" altLang="zh-TW" dirty="0" err="1"/>
              <a:t>host_path</a:t>
            </a:r>
            <a:r>
              <a:rPr lang="en-US" altLang="zh-TW" dirty="0"/>
              <a:t> = "/</a:t>
            </a:r>
            <a:r>
              <a:rPr lang="en-US" altLang="zh-TW" dirty="0" err="1"/>
              <a:t>var</a:t>
            </a:r>
            <a:r>
              <a:rPr lang="en-US" altLang="zh-TW" dirty="0"/>
              <a:t>/run/</a:t>
            </a:r>
            <a:r>
              <a:rPr lang="en-US" altLang="zh-TW" dirty="0" err="1"/>
              <a:t>docker.sock</a:t>
            </a:r>
            <a:r>
              <a:rPr lang="en-US" altLang="zh-TW" dirty="0"/>
              <a:t>“</a:t>
            </a:r>
          </a:p>
          <a:p>
            <a:pPr lvl="4"/>
            <a:r>
              <a:rPr lang="zh-TW" altLang="en-US" dirty="0"/>
              <a:t>讓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en-US" altLang="zh-TW" dirty="0" err="1"/>
              <a:t>paththrouh</a:t>
            </a:r>
            <a:r>
              <a:rPr lang="en-US" altLang="zh-TW" dirty="0"/>
              <a:t> </a:t>
            </a:r>
            <a:r>
              <a:rPr lang="zh-TW" altLang="en-US" dirty="0"/>
              <a:t>到底下</a:t>
            </a:r>
            <a:r>
              <a:rPr lang="en-US" altLang="zh-TW" dirty="0"/>
              <a:t>VM2</a:t>
            </a:r>
            <a:r>
              <a:rPr lang="zh-TW" altLang="en-US" dirty="0"/>
              <a:t>執行</a:t>
            </a:r>
            <a:r>
              <a:rPr lang="en-US" altLang="zh-TW" dirty="0" err="1"/>
              <a:t>docker</a:t>
            </a:r>
            <a:r>
              <a:rPr lang="en-US" altLang="zh-TW" dirty="0"/>
              <a:t> 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2"/>
            <a:r>
              <a:rPr lang="en-US" altLang="zh-TW" dirty="0"/>
              <a:t>tags: "vm2-k8s“</a:t>
            </a:r>
          </a:p>
          <a:p>
            <a:pPr lvl="3"/>
            <a:r>
              <a:rPr lang="zh-TW" altLang="en-US" dirty="0"/>
              <a:t>幫此</a:t>
            </a:r>
            <a:r>
              <a:rPr lang="en-US" altLang="zh-TW" dirty="0"/>
              <a:t>runner </a:t>
            </a:r>
            <a:r>
              <a:rPr lang="zh-TW" altLang="en-US" dirty="0"/>
              <a:t>加</a:t>
            </a:r>
            <a:r>
              <a:rPr lang="en-US" altLang="zh-TW" dirty="0"/>
              <a:t>tags</a:t>
            </a:r>
            <a:r>
              <a:rPr lang="zh-TW" altLang="en-US" dirty="0"/>
              <a:t>好選擇不同環境</a:t>
            </a:r>
            <a:endParaRPr lang="en-US" altLang="zh-TW" dirty="0"/>
          </a:p>
          <a:p>
            <a:pPr lvl="2"/>
            <a:r>
              <a:rPr lang="en-US" altLang="zh-TW" dirty="0"/>
              <a:t>privileged: true</a:t>
            </a:r>
          </a:p>
          <a:p>
            <a:pPr lvl="3"/>
            <a:r>
              <a:rPr lang="zh-TW" altLang="en-US" dirty="0"/>
              <a:t>開啟特權，用來執行</a:t>
            </a:r>
            <a:r>
              <a:rPr lang="en-US" altLang="zh-TW" dirty="0" err="1"/>
              <a:t>docker</a:t>
            </a:r>
            <a:r>
              <a:rPr lang="zh-TW" altLang="en-US" dirty="0"/>
              <a:t>指令</a:t>
            </a:r>
            <a:endParaRPr lang="en-US" altLang="zh-TW" dirty="0"/>
          </a:p>
          <a:p>
            <a:pPr lvl="3"/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312865-CDFC-BDE8-996A-55760F12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62640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6D176A-4F2A-7DA0-91BD-215BD18DD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runner on k8s by 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459903-2E1B-D401-F744-F624BD923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install ci-cd-runner --namespace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-f ~/docker-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 --version 0.75.1</a:t>
            </a:r>
            <a:endParaRPr kumimoji="1"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62CA690-D394-2D59-D998-08DF35B04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54543"/>
            <a:ext cx="9669231" cy="366693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D9E4D9-DF2C-F355-0E9E-5A2D40E4A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33834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403801-7D92-30FC-F7B9-617FF3EBB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確認</a:t>
            </a:r>
            <a:r>
              <a:rPr kumimoji="1" lang="en-US" altLang="zh-TW" dirty="0" err="1"/>
              <a:t>kubernetes</a:t>
            </a:r>
            <a:r>
              <a:rPr kumimoji="1" lang="en-US" altLang="zh-TW" dirty="0"/>
              <a:t> runner </a:t>
            </a:r>
            <a:r>
              <a:rPr kumimoji="1" lang="zh-TW" altLang="en-US" dirty="0"/>
              <a:t>狀態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B59F51-FBD1-6903-4E4B-6A02C316C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 --all-namespaces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-runner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368D599-2F3B-8AE7-FCB5-1AC99F04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2345060"/>
            <a:ext cx="7772400" cy="1453554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A720A55-25E0-D034-01A3-EDF71382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08" y="4613216"/>
            <a:ext cx="7772400" cy="1453554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CE29BB-DAA1-54BF-130C-A4C1D3AB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50934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0AF08-C134-9960-5BFF-3349ED17F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Runner </a:t>
            </a:r>
            <a:r>
              <a:rPr kumimoji="1" lang="zh-TW" altLang="en-US"/>
              <a:t>準備完成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9FD16BD-89DF-E83B-6DEC-711D9A256C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415" y="1825625"/>
            <a:ext cx="525316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ADB769-1539-387F-3D97-5CD61977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05990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步驟</a:t>
            </a:r>
            <a:r>
              <a:rPr lang="en-US" altLang="zh-TW" dirty="0"/>
              <a:t>2. </a:t>
            </a:r>
            <a:r>
              <a:rPr lang="zh-TW" altLang="en-US" dirty="0"/>
              <a:t>匯入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到 </a:t>
            </a:r>
            <a:r>
              <a:rPr lang="en-US" altLang="zh-TW" dirty="0"/>
              <a:t>GitLab repo variables</a:t>
            </a:r>
            <a:endParaRPr lang="zh-TW" alt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GitLab server</a:t>
            </a:r>
            <a:r>
              <a:rPr lang="zh-TW" altLang="en-US" dirty="0">
                <a:solidFill>
                  <a:schemeClr val="tx1"/>
                </a:solidFill>
              </a:rPr>
              <a:t>在我們有推上新的</a:t>
            </a:r>
            <a:r>
              <a:rPr lang="en-US" altLang="zh-TW" dirty="0">
                <a:solidFill>
                  <a:schemeClr val="tx1"/>
                </a:solidFill>
              </a:rPr>
              <a:t>commit</a:t>
            </a:r>
            <a:r>
              <a:rPr lang="zh-TW" altLang="en-US" dirty="0">
                <a:solidFill>
                  <a:schemeClr val="tx1"/>
                </a:solidFill>
              </a:rPr>
              <a:t>後，要代替我們在</a:t>
            </a:r>
            <a:r>
              <a:rPr lang="en-US" altLang="zh-TW" dirty="0">
                <a:solidFill>
                  <a:schemeClr val="tx1"/>
                </a:solidFill>
              </a:rPr>
              <a:t>k8s</a:t>
            </a:r>
            <a:r>
              <a:rPr lang="zh-TW" altLang="en-US" dirty="0">
                <a:solidFill>
                  <a:schemeClr val="tx1"/>
                </a:solidFill>
              </a:rPr>
              <a:t>上進行部署，所以我們需要提供</a:t>
            </a:r>
            <a:r>
              <a:rPr lang="en-US" altLang="zh-TW" dirty="0" err="1">
                <a:solidFill>
                  <a:schemeClr val="tx1"/>
                </a:solidFill>
              </a:rPr>
              <a:t>kubeconfig</a:t>
            </a:r>
            <a:r>
              <a:rPr lang="zh-TW" altLang="en-US" dirty="0">
                <a:solidFill>
                  <a:schemeClr val="tx1"/>
                </a:solidFill>
              </a:rPr>
              <a:t>給</a:t>
            </a:r>
            <a:r>
              <a:rPr lang="en-US" altLang="zh-TW" dirty="0">
                <a:solidFill>
                  <a:schemeClr val="tx1"/>
                </a:solidFill>
              </a:rPr>
              <a:t>GitLab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F97933-A57E-F52A-2DA0-F4B5D5AA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782620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80263-A3A9-046D-A567-65D517EF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Kubeconfig</a:t>
            </a:r>
            <a:r>
              <a:rPr kumimoji="1" lang="en-US" altLang="zh-TW" dirty="0"/>
              <a:t> file </a:t>
            </a:r>
            <a:r>
              <a:rPr kumimoji="1" lang="zh-TW" altLang="en-US" dirty="0"/>
              <a:t>轉成</a:t>
            </a:r>
            <a:r>
              <a:rPr kumimoji="1" lang="en-US" altLang="zh-TW" dirty="0"/>
              <a:t>base64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57BE24-EEF2-51F6-0289-4E4B6E866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echo $(cat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/config | base64) | tr -d " "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4AE83DC-EF3C-3103-AA77-C433A70C5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" y="2844800"/>
            <a:ext cx="12026900" cy="40132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B0AD195-AC2F-559D-10AF-224C0E9E70A7}"/>
              </a:ext>
            </a:extLst>
          </p:cNvPr>
          <p:cNvSpPr txBox="1"/>
          <p:nvPr/>
        </p:nvSpPr>
        <p:spPr>
          <a:xfrm>
            <a:off x="8310520" y="812602"/>
            <a:ext cx="3155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因為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是</a:t>
            </a:r>
            <a:r>
              <a:rPr kumimoji="1" lang="en-US" altLang="zh-TW" dirty="0" err="1"/>
              <a:t>yaml</a:t>
            </a:r>
            <a:r>
              <a:rPr kumimoji="1" lang="zh-TW" altLang="en-US" dirty="0"/>
              <a:t>格式，用縮排來代表不同階層，為了避免複製貼上後縮排亂掉，所以先轉成</a:t>
            </a:r>
            <a:r>
              <a:rPr kumimoji="1" lang="en-US" altLang="zh-TW" dirty="0"/>
              <a:t>base64</a:t>
            </a:r>
            <a:r>
              <a:rPr kumimoji="1" lang="zh-TW" altLang="en-US" dirty="0"/>
              <a:t>，要使用時在</a:t>
            </a:r>
            <a:r>
              <a:rPr kumimoji="1" lang="en-US" altLang="zh-TW" dirty="0"/>
              <a:t>decode</a:t>
            </a:r>
            <a:r>
              <a:rPr kumimoji="1" lang="zh-TW" altLang="en-US" dirty="0"/>
              <a:t>回來。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6A8D5F0-914C-1A1A-A938-22E209ED2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49694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設定變數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36820C-48E8-3BC4-3982-D9890E4305CD}"/>
              </a:ext>
            </a:extLst>
          </p:cNvPr>
          <p:cNvSpPr txBox="1"/>
          <p:nvPr/>
        </p:nvSpPr>
        <p:spPr>
          <a:xfrm>
            <a:off x="1432291" y="1563093"/>
            <a:ext cx="10496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權限有關的設定</a:t>
            </a:r>
            <a:r>
              <a:rPr kumimoji="1" lang="en-US" altLang="zh-TW" dirty="0"/>
              <a:t>(</a:t>
            </a:r>
            <a:r>
              <a:rPr kumimoji="1" lang="zh-TW" altLang="en-US" dirty="0"/>
              <a:t>密碼</a:t>
            </a:r>
            <a:r>
              <a:rPr kumimoji="1" lang="en-US" altLang="zh-TW" dirty="0"/>
              <a:t>, token, auth file)</a:t>
            </a:r>
            <a:r>
              <a:rPr kumimoji="1" lang="zh-TW" altLang="en-US" dirty="0"/>
              <a:t>，建議把</a:t>
            </a:r>
            <a:r>
              <a:rPr kumimoji="1" lang="en-US" altLang="zh-TW" dirty="0"/>
              <a:t>key/value</a:t>
            </a:r>
            <a:r>
              <a:rPr kumimoji="1" lang="zh-TW" altLang="en-US" dirty="0"/>
              <a:t>值定義在</a:t>
            </a:r>
            <a:r>
              <a:rPr kumimoji="1" lang="en-US" altLang="zh-TW" dirty="0"/>
              <a:t>Variables</a:t>
            </a:r>
            <a:r>
              <a:rPr kumimoji="1" lang="zh-TW" altLang="en-US" dirty="0"/>
              <a:t>，不應該直接設定在</a:t>
            </a:r>
            <a:r>
              <a:rPr kumimoji="1" lang="en-US" altLang="zh-TW" dirty="0"/>
              <a:t>ci </a:t>
            </a:r>
            <a:r>
              <a:rPr kumimoji="1" lang="en-US" altLang="zh-TW" dirty="0" err="1"/>
              <a:t>yaml</a:t>
            </a:r>
            <a:endParaRPr kumimoji="1" lang="en-US" altLang="zh-TW" dirty="0"/>
          </a:p>
          <a:p>
            <a:r>
              <a:rPr kumimoji="1" lang="zh-TW" altLang="en-US" dirty="0"/>
              <a:t>或</a:t>
            </a:r>
            <a:r>
              <a:rPr kumimoji="1" lang="en-US" altLang="zh-TW" dirty="0"/>
              <a:t>repo code</a:t>
            </a:r>
            <a:r>
              <a:rPr kumimoji="1" lang="zh-TW" altLang="en-US" dirty="0"/>
              <a:t>裡面。</a:t>
            </a:r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F3339151-7218-A88D-EC36-51ADA0AE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313" y="2209424"/>
            <a:ext cx="8569374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837F8E-7C73-01DE-7A26-CFD4A543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278347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CC732-B975-DF64-D7B9-972604B0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 err="1"/>
              <a:t>kubeconfig</a:t>
            </a:r>
            <a:r>
              <a:rPr kumimoji="1" lang="zh-TW" altLang="en-US" dirty="0"/>
              <a:t>變數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651815A-FA80-2E45-A28C-4B73FC5F2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36525"/>
            <a:ext cx="2599944" cy="626818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D84274-CA0A-B3BB-4B03-9055B84A6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957803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變數設定完成</a:t>
            </a:r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F0469822-5D1C-9DF6-860B-20CEF9E0B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00" y="2134394"/>
            <a:ext cx="8178800" cy="37338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D026D1-20AB-4AAD-38E6-10353EF28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11491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CI </a:t>
            </a:r>
            <a:r>
              <a:rPr lang="zh-TW" altLang="en-US" dirty="0"/>
              <a:t>取用 </a:t>
            </a:r>
            <a:r>
              <a:rPr lang="en-US" altLang="zh-TW" dirty="0" err="1"/>
              <a:t>kubeconfig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  <a:r>
              <a:rPr lang="en-US" altLang="zh-TW" dirty="0"/>
              <a:t> $</a:t>
            </a:r>
            <a:r>
              <a:rPr lang="en-US" altLang="zh-TW" dirty="0" err="1"/>
              <a:t>kubeconfig</a:t>
            </a:r>
            <a:r>
              <a:rPr lang="en-US" altLang="zh-TW" dirty="0"/>
              <a:t> </a:t>
            </a:r>
            <a:r>
              <a:rPr lang="zh-TW" altLang="en-US" dirty="0"/>
              <a:t>用</a:t>
            </a:r>
            <a:r>
              <a:rPr lang="en-US" altLang="zh-TW" dirty="0"/>
              <a:t>base64 decode </a:t>
            </a:r>
            <a:r>
              <a:rPr lang="zh-TW" altLang="en-US" dirty="0"/>
              <a:t>並寫入到 </a:t>
            </a:r>
            <a:r>
              <a:rPr lang="en-US" altLang="zh-TW" dirty="0"/>
              <a:t>~/.</a:t>
            </a:r>
            <a:r>
              <a:rPr lang="en-US" altLang="zh-TW" dirty="0" err="1"/>
              <a:t>kube</a:t>
            </a:r>
            <a:r>
              <a:rPr lang="en-US" altLang="zh-TW" dirty="0"/>
              <a:t>/</a:t>
            </a:r>
            <a:r>
              <a:rPr lang="en-US" altLang="zh-TW" dirty="0" err="1"/>
              <a:t>config</a:t>
            </a:r>
            <a:endParaRPr lang="en-US" altLang="zh-TW" dirty="0"/>
          </a:p>
          <a:p>
            <a:r>
              <a:rPr lang="en-US" altLang="zh-TW" dirty="0"/>
              <a:t> </a:t>
            </a:r>
            <a:r>
              <a:rPr lang="en-US" altLang="zh-TW" dirty="0" err="1"/>
              <a:t>mkdir</a:t>
            </a:r>
            <a:r>
              <a:rPr lang="en-US" altLang="zh-TW" dirty="0"/>
              <a:t> .</a:t>
            </a:r>
            <a:r>
              <a:rPr lang="en-US" altLang="zh-TW" dirty="0" err="1"/>
              <a:t>kube</a:t>
            </a:r>
            <a:endParaRPr lang="en-US" altLang="zh-TW" dirty="0"/>
          </a:p>
          <a:p>
            <a:r>
              <a:rPr lang="en-US" altLang="zh-TW" dirty="0"/>
              <a:t> echo $</a:t>
            </a:r>
            <a:r>
              <a:rPr lang="en-US" altLang="zh-TW" dirty="0" err="1"/>
              <a:t>kubeconfig</a:t>
            </a:r>
            <a:r>
              <a:rPr lang="en-US" altLang="zh-TW" dirty="0"/>
              <a:t> |base64 -d &gt; ~/.</a:t>
            </a:r>
            <a:r>
              <a:rPr lang="en-US" altLang="zh-TW" dirty="0" err="1"/>
              <a:t>kube</a:t>
            </a:r>
            <a:r>
              <a:rPr lang="en-US" altLang="zh-TW" dirty="0"/>
              <a:t>/config</a:t>
            </a:r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48" y="3574636"/>
            <a:ext cx="6809224" cy="291823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F2E80D2-111D-4D57-D809-262697D41C63}"/>
              </a:ext>
            </a:extLst>
          </p:cNvPr>
          <p:cNvSpPr txBox="1"/>
          <p:nvPr/>
        </p:nvSpPr>
        <p:spPr>
          <a:xfrm>
            <a:off x="7411948" y="4369070"/>
            <a:ext cx="3941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https://</a:t>
            </a:r>
            <a:r>
              <a:rPr lang="en-US" altLang="zh-TW" dirty="0" err="1"/>
              <a:t>github.com</a:t>
            </a:r>
            <a:r>
              <a:rPr lang="en-US" altLang="zh-TW" dirty="0"/>
              <a:t>/</a:t>
            </a:r>
            <a:r>
              <a:rPr lang="en-US" altLang="zh-TW" dirty="0" err="1"/>
              <a:t>demoyuw</a:t>
            </a:r>
            <a:r>
              <a:rPr lang="en-US" altLang="zh-TW" dirty="0"/>
              <a:t>/docker-</a:t>
            </a:r>
            <a:r>
              <a:rPr lang="en-US" altLang="zh-TW" dirty="0" err="1"/>
              <a:t>devops</a:t>
            </a:r>
            <a:r>
              <a:rPr lang="en-US" altLang="zh-TW" dirty="0"/>
              <a:t>/blob/master/.gitlab-ci.yml#L55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2F7C514-8E33-4FEB-3CA3-790E37F1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633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查看</a:t>
            </a:r>
            <a:r>
              <a:rPr lang="en-US" altLang="zh-TW" dirty="0"/>
              <a:t>CI</a:t>
            </a:r>
            <a:r>
              <a:rPr lang="zh-TW" altLang="en-US" dirty="0"/>
              <a:t>執行結果結果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180" y="1825625"/>
            <a:ext cx="9133639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6F75EEE-C8DB-CE42-E608-3FFC3DF0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39018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3957374-34D6-B6C3-44E7-041A9165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 err="1"/>
              <a:t>dockerhub</a:t>
            </a:r>
            <a:r>
              <a:rPr lang="en-US" altLang="zh-TW" dirty="0"/>
              <a:t> username and password</a:t>
            </a: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22ADA38F-AA2A-D6D8-E017-523C978A0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6151"/>
            <a:ext cx="10123296" cy="348561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6351662-9711-2788-D3CE-9724C620912A}"/>
              </a:ext>
            </a:extLst>
          </p:cNvPr>
          <p:cNvSpPr txBox="1"/>
          <p:nvPr/>
        </p:nvSpPr>
        <p:spPr>
          <a:xfrm>
            <a:off x="2373330" y="1538250"/>
            <a:ext cx="6186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Key: REGISTRY_USERNAME,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帳號名稱</a:t>
            </a:r>
            <a:r>
              <a:rPr kumimoji="1" lang="en-US" altLang="zh-TW" dirty="0"/>
              <a:t>}</a:t>
            </a:r>
          </a:p>
          <a:p>
            <a:r>
              <a:rPr kumimoji="1" lang="en-US" altLang="zh-TW" dirty="0"/>
              <a:t>Key: REGISTRY_PASSWORD, value: {</a:t>
            </a:r>
            <a:r>
              <a:rPr kumimoji="1" lang="zh-TW" altLang="en-US" dirty="0"/>
              <a:t>你的</a:t>
            </a:r>
            <a:r>
              <a:rPr kumimoji="1" lang="en-US" altLang="zh-TW" dirty="0" err="1"/>
              <a:t>dockerhub</a:t>
            </a:r>
            <a:r>
              <a:rPr kumimoji="1" lang="zh-TW" altLang="en-US" dirty="0"/>
              <a:t>帳號密碼</a:t>
            </a:r>
            <a:r>
              <a:rPr kumimoji="1" lang="en-US" altLang="zh-TW" dirty="0"/>
              <a:t>}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E171B3-6E59-F9F9-D01A-3B27D76C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94678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Gitlab</a:t>
            </a:r>
            <a:r>
              <a:rPr lang="en-US" altLang="zh-TW" dirty="0"/>
              <a:t> CI YAML </a:t>
            </a:r>
            <a:r>
              <a:rPr lang="zh-TW" altLang="en-US" dirty="0"/>
              <a:t>說明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AB9698-C79C-374B-5AFA-6498E50D6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21430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sample</a:t>
            </a:r>
          </a:p>
        </p:txBody>
      </p:sp>
      <p:pic>
        <p:nvPicPr>
          <p:cNvPr id="103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916" y="1565607"/>
            <a:ext cx="2934210" cy="4680066"/>
          </a:xfrm>
          <a:prstGeom prst="rect">
            <a:avLst/>
          </a:prstGeom>
          <a:ln w="12700">
            <a:miter lim="400000"/>
          </a:ln>
        </p:spPr>
      </p:pic>
      <p:sp>
        <p:nvSpPr>
          <p:cNvPr id="103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F9E4B1B-4D83-24C1-84B3-CC1A0CE3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08668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</a:t>
            </a:r>
            <a:r>
              <a:rPr lang="en-US" dirty="0"/>
              <a:t>Global (</a:t>
            </a:r>
            <a:r>
              <a:rPr lang="en-US" dirty="0" err="1"/>
              <a:t>全域</a:t>
            </a:r>
            <a:r>
              <a:rPr lang="en-US" dirty="0"/>
              <a:t>) </a:t>
            </a:r>
            <a:r>
              <a:rPr dirty="0"/>
              <a:t>keyword -</a:t>
            </a:r>
            <a:r>
              <a:rPr lang="en-US" dirty="0"/>
              <a:t> stages</a:t>
            </a:r>
            <a:endParaRPr dirty="0"/>
          </a:p>
        </p:txBody>
      </p:sp>
      <p:sp>
        <p:nvSpPr>
          <p:cNvPr id="103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stages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決定</a:t>
            </a:r>
            <a:r>
              <a:rPr lang="en-US" altLang="zh-TW" dirty="0">
                <a:latin typeface="+mj-lt"/>
                <a:ea typeface="+mj-ea"/>
                <a:cs typeface="+mj-cs"/>
                <a:sym typeface="Helvetica"/>
              </a:rPr>
              <a:t>pipeline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執行順序</a:t>
            </a:r>
            <a:endParaRPr lang="en-US" altLang="zh-TW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自行定義每個stage的名稱</a:t>
            </a:r>
            <a:endParaRPr lang="en-US"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一個stage成功後，再執行下一個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735520" lvl="1" indent="-282892" defTabSz="452627">
              <a:spcBef>
                <a:spcPts val="900"/>
              </a:spcBef>
              <a:defRPr sz="2772"/>
            </a:pPr>
            <a:endParaRPr dirty="0"/>
          </a:p>
        </p:txBody>
      </p:sp>
      <p:sp>
        <p:nvSpPr>
          <p:cNvPr id="103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A71F392-4D4F-2DF8-4AC7-C40F5569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479" y="2189765"/>
            <a:ext cx="1823839" cy="16033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99BEE33-8686-E937-2DF8-9D3961DA0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97" y="4525471"/>
            <a:ext cx="6536705" cy="120369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862903-438A-EB59-D06F-2F199FDB8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04488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lang="en-US" dirty="0"/>
              <a:t> global</a:t>
            </a:r>
            <a:r>
              <a:rPr dirty="0"/>
              <a:t> keyword -2</a:t>
            </a:r>
          </a:p>
        </p:txBody>
      </p:sp>
      <p:sp>
        <p:nvSpPr>
          <p:cNvPr id="104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dirty="0"/>
              <a:t>variables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自定義環境變數</a:t>
            </a: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 for all jobs in pipeline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4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6E4E3A-C7DD-6D76-CA4A-700ACCA1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649223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Gitlab Ci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68" name="內容版面配置區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sz="2000" dirty="0"/>
              <a:t>CI_JOB_ID="50"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CI_COMMIT_SHA="1ecfd275763eff1d6b4844ea3168962458c9f27a" 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sz="2000" dirty="0"/>
              <a:t>CI_COMMIT_SHORT_SHA="1ecfd275"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CI_COMMIT_REF_NAME="master" </a:t>
            </a:r>
          </a:p>
          <a:p>
            <a:pPr>
              <a:lnSpc>
                <a:spcPct val="90000"/>
              </a:lnSpc>
            </a:pPr>
            <a:r>
              <a:rPr sz="2000" dirty="0"/>
              <a:t>CI_REPOSITORY_URL="https://</a:t>
            </a:r>
            <a:r>
              <a:rPr sz="2000" dirty="0" err="1"/>
              <a:t>gitlab</a:t>
            </a:r>
            <a:r>
              <a:rPr sz="2000" dirty="0"/>
              <a:t>-ci-token:[masked]@</a:t>
            </a:r>
            <a:r>
              <a:rPr sz="2000" dirty="0" err="1"/>
              <a:t>example.com</a:t>
            </a:r>
            <a:r>
              <a:rPr sz="2000" dirty="0"/>
              <a:t>/</a:t>
            </a:r>
            <a:r>
              <a:rPr sz="2000" dirty="0" err="1"/>
              <a:t>gitlab</a:t>
            </a:r>
            <a:r>
              <a:rPr sz="2000" dirty="0"/>
              <a:t>-org/</a:t>
            </a:r>
            <a:r>
              <a:rPr sz="2000" dirty="0" err="1"/>
              <a:t>gitlab-foss.git</a:t>
            </a:r>
            <a:r>
              <a:rPr sz="2000" dirty="0"/>
              <a:t>" </a:t>
            </a:r>
          </a:p>
          <a:p>
            <a:pPr>
              <a:lnSpc>
                <a:spcPct val="90000"/>
              </a:lnSpc>
            </a:pPr>
            <a:r>
              <a:rPr sz="2000" dirty="0"/>
              <a:t>CI_COMMIT_TAG="1.0.0" </a:t>
            </a:r>
          </a:p>
          <a:p>
            <a:pPr>
              <a:lnSpc>
                <a:spcPct val="90000"/>
              </a:lnSpc>
            </a:pPr>
            <a:r>
              <a:rPr sz="2000" dirty="0"/>
              <a:t>CI_JOB_NAME="</a:t>
            </a:r>
            <a:r>
              <a:rPr sz="2000" dirty="0" err="1"/>
              <a:t>spec:other</a:t>
            </a:r>
            <a:r>
              <a:rPr sz="2000" dirty="0"/>
              <a:t>" </a:t>
            </a:r>
            <a:endParaRPr lang="en-US" sz="2000" dirty="0"/>
          </a:p>
          <a:p>
            <a:pPr>
              <a:lnSpc>
                <a:spcPct val="90000"/>
              </a:lnSpc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完整預設變數</a:t>
            </a:r>
            <a:r>
              <a:rPr lang="en-US" sz="2000" dirty="0"/>
              <a:t>: https://</a:t>
            </a:r>
            <a:r>
              <a:rPr lang="en-US" sz="2000" dirty="0" err="1"/>
              <a:t>docs.gitlab.com</a:t>
            </a:r>
            <a:r>
              <a:rPr lang="en-US" sz="2000" dirty="0"/>
              <a:t>/</a:t>
            </a:r>
            <a:r>
              <a:rPr lang="en-US" sz="2000" dirty="0" err="1"/>
              <a:t>ee</a:t>
            </a:r>
            <a:r>
              <a:rPr lang="en-US" sz="2000" dirty="0"/>
              <a:t>/ci/variables/</a:t>
            </a:r>
          </a:p>
        </p:txBody>
      </p:sp>
      <p:sp>
        <p:nvSpPr>
          <p:cNvPr id="1069" name="內容版面配置區 5"/>
          <p:cNvSpPr txBox="1"/>
          <p:nvPr/>
        </p:nvSpPr>
        <p:spPr>
          <a:xfrm>
            <a:off x="5370699" y="1027906"/>
            <a:ext cx="4304902" cy="4200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342900" indent="-342900" defTabSz="457200">
              <a:lnSpc>
                <a:spcPct val="90000"/>
              </a:lnSpc>
              <a:spcBef>
                <a:spcPts val="1000"/>
              </a:spcBef>
              <a:buClr>
                <a:srgbClr val="8AD0D6"/>
              </a:buClr>
              <a:buSzPct val="80000"/>
              <a:buChar char=""/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07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1072" name="文字方塊 6"/>
          <p:cNvSpPr txBox="1"/>
          <p:nvPr/>
        </p:nvSpPr>
        <p:spPr>
          <a:xfrm>
            <a:off x="2240280" y="6405281"/>
            <a:ext cx="6406896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/>
              <a:t>Ref: https://</a:t>
            </a:r>
            <a:r>
              <a:rPr dirty="0" err="1"/>
              <a:t>docs.gitlab.com</a:t>
            </a:r>
            <a:r>
              <a:rPr dirty="0"/>
              <a:t>/</a:t>
            </a:r>
            <a:r>
              <a:rPr dirty="0" err="1"/>
              <a:t>ee</a:t>
            </a:r>
            <a:r>
              <a:rPr dirty="0"/>
              <a:t>/ci/variables/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D3C6DA7-F7B1-54AC-4144-82B6F17C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96998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</a:t>
            </a:r>
            <a:r>
              <a:rPr lang="en-US" dirty="0"/>
              <a:t>s</a:t>
            </a:r>
            <a:r>
              <a:rPr dirty="0"/>
              <a:t> keyword -1</a:t>
            </a:r>
          </a:p>
        </p:txBody>
      </p:sp>
      <p:sp>
        <p:nvSpPr>
          <p:cNvPr id="104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呼應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Stages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所設定，執行此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</a:p>
          <a:p>
            <a:pPr>
              <a:lnSpc>
                <a:spcPct val="90000"/>
              </a:lnSpc>
              <a:defRPr sz="2900"/>
            </a:pP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image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指定此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 </a:t>
            </a:r>
            <a:r>
              <a:rPr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使用何種</a:t>
            </a:r>
            <a:r>
              <a:rPr lang="en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docker image</a:t>
            </a:r>
            <a:endParaRPr 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>
              <a:lnSpc>
                <a:spcPct val="90000"/>
              </a:lnSpc>
              <a:defRPr sz="2900"/>
            </a:pP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script</a:t>
            </a:r>
          </a:p>
          <a:p>
            <a:pPr marL="742950" lvl="1" indent="-285750">
              <a:lnSpc>
                <a:spcPct val="90000"/>
              </a:lnSpc>
              <a:defRPr sz="2500"/>
            </a:pP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執行</a:t>
            </a:r>
            <a:r>
              <a:rPr 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 </a:t>
            </a:r>
            <a:r>
              <a:rPr lang="en-US"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command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，每個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</a:t>
            </a:r>
            <a:r>
              <a:rPr dirty="0" err="1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內必須要有</a:t>
            </a:r>
            <a:r>
              <a:rPr dirty="0">
                <a:latin typeface="Microsoft JhengHei" panose="020B0604030504040204" pitchFamily="34" charset="-120"/>
                <a:ea typeface="Microsoft JhengHei" panose="020B0604030504040204" pitchFamily="34" charset="-120"/>
                <a:cs typeface="+mj-cs"/>
                <a:sym typeface="Helvetica"/>
              </a:rPr>
              <a:t>。</a:t>
            </a:r>
          </a:p>
        </p:txBody>
      </p:sp>
      <p:sp>
        <p:nvSpPr>
          <p:cNvPr id="104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84BC18F-E4CA-BEDA-7069-E96849E1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39" y="2120792"/>
            <a:ext cx="5558861" cy="161166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BA19FE-3B4C-0598-9E9A-7B6EC2AF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82581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-2</a:t>
            </a:r>
          </a:p>
        </p:txBody>
      </p:sp>
      <p:sp>
        <p:nvSpPr>
          <p:cNvPr id="1053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39470" indent="-339470" defTabSz="452627">
              <a:spcBef>
                <a:spcPts val="900"/>
              </a:spcBef>
              <a:defRPr sz="3168"/>
            </a:pPr>
            <a:r>
              <a:rPr lang="en-US" altLang="zh-TW" dirty="0"/>
              <a:t>v</a:t>
            </a:r>
            <a:r>
              <a:rPr dirty="0"/>
              <a:t>ariables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定義</a:t>
            </a:r>
            <a:r>
              <a:rPr dirty="0" err="1"/>
              <a:t>job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內的環境變數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only &amp; except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設定執行或不執行當</a:t>
            </a:r>
            <a:r>
              <a:rPr dirty="0" err="1"/>
              <a:t>branch</a:t>
            </a:r>
            <a:r>
              <a:rPr dirty="0"/>
              <a:t> name</a:t>
            </a:r>
          </a:p>
          <a:p>
            <a:pPr marL="339470" indent="-339470" defTabSz="452627">
              <a:spcBef>
                <a:spcPts val="900"/>
              </a:spcBef>
              <a:defRPr sz="3168"/>
            </a:pPr>
            <a:r>
              <a:rPr dirty="0"/>
              <a:t>tags</a:t>
            </a:r>
          </a:p>
          <a:p>
            <a:pPr marL="735520" lvl="1" indent="-282892" defTabSz="452627">
              <a:spcBef>
                <a:spcPts val="900"/>
              </a:spcBef>
              <a:defRPr sz="2772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選擇使用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哪個</a:t>
            </a:r>
            <a:r>
              <a:rPr dirty="0" err="1"/>
              <a:t>Gitlab</a:t>
            </a:r>
            <a:r>
              <a:rPr dirty="0"/>
              <a:t> runner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105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1EA1B79-0733-544B-3875-815BB096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449" y="2432050"/>
            <a:ext cx="3136900" cy="1993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E67DB52-4233-C18A-4A4D-E2BE0573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31382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.</a:t>
            </a:r>
            <a:r>
              <a:rPr dirty="0" err="1"/>
              <a:t>gitlab-ci.yml</a:t>
            </a:r>
            <a:r>
              <a:rPr dirty="0"/>
              <a:t> Jobs keyword -3</a:t>
            </a:r>
          </a:p>
        </p:txBody>
      </p:sp>
      <p:sp>
        <p:nvSpPr>
          <p:cNvPr id="10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a</a:t>
            </a:r>
            <a:r>
              <a:rPr dirty="0" err="1"/>
              <a:t>llow_failure</a:t>
            </a:r>
            <a:endParaRPr dirty="0"/>
          </a:p>
          <a:p>
            <a:pPr marL="742950" lvl="1" indent="-285750">
              <a:defRPr sz="2800"/>
            </a:pPr>
            <a:r>
              <a:rPr lang="zh-TW" altLang="en-US" dirty="0"/>
              <a:t>允許該</a:t>
            </a:r>
            <a:r>
              <a:rPr dirty="0"/>
              <a:t>job fail</a:t>
            </a:r>
            <a:r>
              <a:rPr lang="en-US" altLang="zh-TW" dirty="0"/>
              <a:t>ed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。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該</a:t>
            </a:r>
            <a:r>
              <a:rPr dirty="0"/>
              <a:t>job </a:t>
            </a:r>
            <a:r>
              <a:rPr dirty="0" err="1"/>
              <a:t>fail</a:t>
            </a:r>
            <a:r>
              <a:rPr lang="en-US" dirty="0" err="1"/>
              <a:t>e也不影響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後續</a:t>
            </a:r>
            <a:r>
              <a:rPr lang="en-US" dirty="0" err="1">
                <a:latin typeface="+mj-lt"/>
                <a:ea typeface="+mj-ea"/>
                <a:cs typeface="+mj-cs"/>
                <a:sym typeface="Helvetica"/>
              </a:rPr>
              <a:t>j</a:t>
            </a:r>
            <a:r>
              <a:rPr dirty="0" err="1"/>
              <a:t>ob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著執行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cache</a:t>
            </a:r>
          </a:p>
          <a:p>
            <a:pPr marL="742950" lvl="1" indent="-285750">
              <a:defRPr sz="2800"/>
            </a:pPr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Folder and files cache, between jobs or pipeline.</a:t>
            </a:r>
          </a:p>
        </p:txBody>
      </p:sp>
      <p:sp>
        <p:nvSpPr>
          <p:cNvPr id="10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88D4A3A-614F-890A-7090-786B2A55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087" y="2725680"/>
            <a:ext cx="3327400" cy="18669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30F7507D-7588-7A19-44E0-ED0CC69B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370" y="4592580"/>
            <a:ext cx="3335886" cy="218794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13F023-D793-55F0-CB09-1D50D55E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46743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2C7F1A-81A2-53B0-5F05-A3435E53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.</a:t>
            </a:r>
            <a:r>
              <a:rPr lang="en" altLang="zh-TW" dirty="0" err="1"/>
              <a:t>gitlab-ci.yml</a:t>
            </a:r>
            <a:r>
              <a:rPr lang="en" altLang="zh-TW" dirty="0"/>
              <a:t> Jobs keyword -</a:t>
            </a:r>
            <a:r>
              <a:rPr lang="en-US" altLang="zh-TW" dirty="0"/>
              <a:t>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C074ED-B7D8-6E9A-6140-1562FFF9E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 err="1"/>
              <a:t>before_script</a:t>
            </a:r>
            <a:r>
              <a:rPr lang="en" altLang="zh-TW" dirty="0"/>
              <a:t> and </a:t>
            </a:r>
            <a:r>
              <a:rPr lang="en" altLang="zh-TW" dirty="0" err="1"/>
              <a:t>after_script</a:t>
            </a:r>
            <a:endParaRPr lang="en" altLang="zh-TW" dirty="0"/>
          </a:p>
          <a:p>
            <a:pPr marL="742950" lvl="1" indent="-285750">
              <a:defRPr sz="2800"/>
            </a:pPr>
            <a:r>
              <a:rPr lang="en" altLang="zh-TW" dirty="0"/>
              <a:t>Job </a:t>
            </a:r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執行前或執行後執行。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24C6AA-957A-A555-CD21-22C47626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928" y="3075686"/>
            <a:ext cx="7772400" cy="16129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F016FA-CA6F-6D65-35F4-0CA2E4D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85437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Gitlab project pipeline status</a:t>
            </a:r>
          </a:p>
        </p:txBody>
      </p:sp>
      <p:pic>
        <p:nvPicPr>
          <p:cNvPr id="1063" name="內容版面配置區 5" descr="內容版面配置區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71" y="2052638"/>
            <a:ext cx="7993434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D0EFAA3-5DBF-9EB2-FE97-3094A668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48002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B5C1679-AE45-304D-E12D-AC6B13CF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撰寫</a:t>
            </a:r>
            <a:r>
              <a:rPr lang="en-US" altLang="zh-TW" dirty="0"/>
              <a:t> .</a:t>
            </a:r>
            <a:r>
              <a:rPr lang="en-US" altLang="zh-TW" dirty="0" err="1"/>
              <a:t>gitlab-ci.yml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D678DE3-079A-2DDD-ADF2-6FCF39D91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9881928-67A5-9D54-BD7D-65690231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46823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F8BD3-EC6C-4CFE-5EC6-FEDE649E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撰寫</a:t>
            </a:r>
            <a:r>
              <a:rPr kumimoji="1" lang="en-US" altLang="zh-TW" dirty="0" err="1"/>
              <a:t>gitlab-ci.yml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6BE45F02-2DB5-5A20-A769-7954C772D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5883" y="1825625"/>
            <a:ext cx="4260233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22599DA-C4CF-E605-FD63-D70F527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86988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65158F-A6AC-C9E5-7080-A929F0E8B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執行單元測試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56962A5-2247-0A8E-EDD8-9BAFB9211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python:3 image</a:t>
            </a:r>
          </a:p>
          <a:p>
            <a:r>
              <a:rPr kumimoji="1" lang="zh-TW" altLang="en-US" dirty="0"/>
              <a:t>安裝所需套件</a:t>
            </a:r>
            <a:endParaRPr kumimoji="1" lang="en-US" altLang="zh-TW" dirty="0"/>
          </a:p>
          <a:p>
            <a:r>
              <a:rPr kumimoji="1" lang="zh-TW" altLang="en-US" dirty="0"/>
              <a:t>執行單元測試入口</a:t>
            </a:r>
            <a:r>
              <a:rPr kumimoji="1" lang="en-US" altLang="zh-TW" dirty="0" err="1"/>
              <a:t>test.py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B67D80F-922C-69F8-8636-6F8C1AE53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91" y="3611352"/>
            <a:ext cx="7747000" cy="22733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44C94-138B-08BB-C7BC-80C294835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675377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0E62C9-1C98-7A48-BD2B-3020F508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查看單元測試執行結果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020E73A-3FC5-B7AC-E790-B71B99A521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1629" y="1690688"/>
            <a:ext cx="8137916" cy="483711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2BDA1C0-D6D5-D6A2-B266-7B4C9F16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741538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EA837C-755C-70BC-79E4-1DC21366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pipeline </a:t>
            </a:r>
            <a:r>
              <a:rPr kumimoji="1" lang="zh-TW" altLang="en-US" dirty="0"/>
              <a:t>狀態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B623DA3-F891-4CA0-BABD-4E85B99CA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961" y="1371074"/>
            <a:ext cx="6059373" cy="5400622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D06748-9565-D04C-9C19-A9289041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135386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1A864C-F0FD-0A45-31B0-F406B6C0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Docker hub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image </a:t>
            </a:r>
            <a:r>
              <a:rPr kumimoji="1" lang="zh-TW" altLang="en-US" dirty="0"/>
              <a:t>上傳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19F72F6-2A4A-61ED-9DA1-85056729F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842" y="1825625"/>
            <a:ext cx="7184316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A5496A-671C-E235-8ABB-9B71AE13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77360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C1325F-9AAE-9CF2-2719-53B11D16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設定全域變數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8433B-75B0-8FA7-B411-CB468B0F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variables:</a:t>
            </a:r>
          </a:p>
          <a:p>
            <a:pPr lvl="1"/>
            <a:r>
              <a:rPr lang="en-US" altLang="zh-TW" dirty="0"/>
              <a:t>FLASKNAME: flask-$CI_COMMIT_REF_NAME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6AC618B-5708-77DA-199E-BD4806FFA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897" y="3095429"/>
            <a:ext cx="5270500" cy="8128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397BA5-1967-CA39-0453-0DFE1C47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91408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2D376-1D36-3361-E330-D53B4253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 k8s namespace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F35F174-E663-0C92-2A01-1604048CB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250" y="2286794"/>
            <a:ext cx="7175500" cy="3429000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FB92CE5-747E-6348-A3A8-41E0BB95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715769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38882-7DA3-9F12-ED53-CD79C17F6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077E75-CF85-060F-4764-74805FBA8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lang="en-US" altLang="zh-TW" dirty="0"/>
              <a:t>sed -</a:t>
            </a:r>
            <a:r>
              <a:rPr lang="en-US" altLang="zh-TW" dirty="0" err="1"/>
              <a:t>i</a:t>
            </a:r>
            <a:r>
              <a:rPr lang="en-US" altLang="zh-TW" dirty="0"/>
              <a:t> "s/flask/$FLASKNAME/g " namespace/flask-</a:t>
            </a:r>
            <a:r>
              <a:rPr lang="en-US" altLang="zh-TW" dirty="0" err="1"/>
              <a:t>ns.yaml</a:t>
            </a:r>
            <a:endParaRPr lang="en-US" altLang="zh-TW" dirty="0"/>
          </a:p>
          <a:p>
            <a:pPr lvl="1"/>
            <a:r>
              <a:rPr kumimoji="1" lang="zh-TW" altLang="en-US" dirty="0"/>
              <a:t>用變數</a:t>
            </a:r>
            <a:r>
              <a:rPr lang="en-US" altLang="zh-TW" dirty="0"/>
              <a:t>$FLASKNAME</a:t>
            </a:r>
            <a:r>
              <a:rPr lang="zh-TW" altLang="en-US" dirty="0"/>
              <a:t> 值</a:t>
            </a:r>
            <a:r>
              <a:rPr kumimoji="1" lang="zh-TW" altLang="en-US" dirty="0"/>
              <a:t>取代掉</a:t>
            </a:r>
            <a:r>
              <a:rPr lang="en-US" altLang="zh-TW" dirty="0"/>
              <a:t>flask-</a:t>
            </a:r>
            <a:r>
              <a:rPr lang="en-US" altLang="zh-TW" dirty="0" err="1"/>
              <a:t>ns.yaml</a:t>
            </a:r>
            <a:r>
              <a:rPr lang="zh-TW" altLang="en-US" dirty="0"/>
              <a:t>檔案裡的</a:t>
            </a:r>
            <a:r>
              <a:rPr lang="en-US" altLang="zh-TW" dirty="0"/>
              <a:t>flask</a:t>
            </a:r>
          </a:p>
          <a:p>
            <a:r>
              <a:rPr lang="en-US" altLang="zh-TW" dirty="0"/>
              <a:t>cat namespace/flask-</a:t>
            </a:r>
            <a:r>
              <a:rPr lang="en-US" altLang="zh-TW" dirty="0" err="1"/>
              <a:t>ns.yaml</a:t>
            </a:r>
            <a:endParaRPr lang="en-US" altLang="zh-TW" dirty="0"/>
          </a:p>
          <a:p>
            <a:pPr lvl="1"/>
            <a:r>
              <a:rPr kumimoji="1" lang="zh-TW" altLang="en-US" dirty="0"/>
              <a:t>檢查替換成果</a:t>
            </a:r>
            <a:endParaRPr kumimoji="1"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apply -f namespace/flask-</a:t>
            </a:r>
            <a:r>
              <a:rPr lang="en-US" altLang="zh-TW" dirty="0" err="1"/>
              <a:t>ns.yaml</a:t>
            </a:r>
            <a:endParaRPr lang="en-US" altLang="zh-TW" dirty="0"/>
          </a:p>
          <a:p>
            <a:pPr lvl="1"/>
            <a:r>
              <a:rPr lang="en-US" altLang="zh-TW" dirty="0"/>
              <a:t>Apply namespace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74976F-046B-EE0B-2105-68DB6252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81158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832CDB-7FE5-9DE3-5138-47D50C3C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namespace </a:t>
            </a:r>
            <a:r>
              <a:rPr kumimoji="1" lang="zh-TW" altLang="en-US" dirty="0"/>
              <a:t>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CAAE54-5FC7-1454-4E45-7D07DD0F4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ns 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6BAF14-F18C-7841-FA12-76AE75DE1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771" y="2374900"/>
            <a:ext cx="6654800" cy="4483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3EE8E7-E5A8-12B6-BF7E-94E8555D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36179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03539-99D7-4B26-D490-144F969DF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平行並行</a:t>
            </a:r>
            <a:r>
              <a:rPr kumimoji="1" lang="en-US" altLang="zh-TW" dirty="0"/>
              <a:t>: </a:t>
            </a:r>
            <a:r>
              <a:rPr kumimoji="1" lang="zh-TW" altLang="en-US" dirty="0"/>
              <a:t>部署</a:t>
            </a:r>
            <a:r>
              <a:rPr kumimoji="1" lang="en-US" altLang="zh-TW" dirty="0"/>
              <a:t>k8s 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722F03-42E6-EDB6-7A63-EE8D533F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Stage </a:t>
            </a:r>
            <a:r>
              <a:rPr kumimoji="1" lang="zh-TW" altLang="en-US" dirty="0"/>
              <a:t>皆設為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：無相依性，可同時並行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7C1F69E-DACC-3B1F-59EA-84278752B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109" y="2491023"/>
            <a:ext cx="7773945" cy="1689635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C950C3-AE26-C563-EEDF-61740FB4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71015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F3217-D582-6E81-C9F9-3233A92B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DF6ADB-534A-DB2A-7CAE-5C9993DA3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sed -</a:t>
            </a:r>
            <a:r>
              <a:rPr lang="en-US" altLang="zh-TW" dirty="0" err="1"/>
              <a:t>i</a:t>
            </a:r>
            <a:r>
              <a:rPr lang="en-US" altLang="zh-TW" dirty="0"/>
              <a:t> "s/master/$CI_COMMIT_REF_NAME/g" deployment/flask-</a:t>
            </a:r>
            <a:r>
              <a:rPr lang="en-US" altLang="zh-TW" dirty="0" err="1"/>
              <a:t>api</a:t>
            </a:r>
            <a:r>
              <a:rPr lang="en-US" altLang="zh-TW" dirty="0"/>
              <a:t>/flask-</a:t>
            </a:r>
            <a:r>
              <a:rPr lang="en-US" altLang="zh-TW" dirty="0" err="1"/>
              <a:t>api</a:t>
            </a:r>
            <a:r>
              <a:rPr lang="en-US" altLang="zh-TW" dirty="0"/>
              <a:t>-</a:t>
            </a:r>
            <a:r>
              <a:rPr lang="en-US" altLang="zh-TW" dirty="0" err="1"/>
              <a:t>deploy.yaml</a:t>
            </a:r>
            <a:endParaRPr lang="en-US" altLang="zh-TW" dirty="0"/>
          </a:p>
          <a:p>
            <a:pPr lvl="1"/>
            <a:r>
              <a:rPr kumimoji="1" lang="zh-TW" altLang="en-US" dirty="0"/>
              <a:t>替換掉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內的</a:t>
            </a:r>
            <a:r>
              <a:rPr kumimoji="1" lang="en-US" altLang="zh-TW" dirty="0"/>
              <a:t>container image tag, </a:t>
            </a:r>
            <a:r>
              <a:rPr kumimoji="1" lang="zh-TW" altLang="en-US" dirty="0"/>
              <a:t>從</a:t>
            </a:r>
            <a:r>
              <a:rPr kumimoji="1" lang="en-US" altLang="zh-TW" dirty="0"/>
              <a:t>master </a:t>
            </a:r>
            <a:r>
              <a:rPr kumimoji="1" lang="zh-TW" altLang="en-US" dirty="0"/>
              <a:t>換成本次</a:t>
            </a:r>
            <a:r>
              <a:rPr kumimoji="1" lang="en-US" altLang="zh-TW" dirty="0"/>
              <a:t>commit </a:t>
            </a:r>
            <a:r>
              <a:rPr kumimoji="1" lang="zh-TW" altLang="en-US" dirty="0"/>
              <a:t>的分支名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A569C77-95BB-85C5-4D7F-0FA1003E4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685" y="3355442"/>
            <a:ext cx="9232900" cy="34163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77AE42-A1C0-18F8-6500-2C241467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44565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7CB50A-42FC-DDD2-54DD-D27BA058B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 deployment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E9F3D14-1654-C625-D728-56887913E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3867" y="1825625"/>
            <a:ext cx="5104266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C4A81A-57D1-FDA6-BBC1-E1EACE01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5354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87DCB-6AD2-B185-DB56-F9742736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F4D26-FF3E-52FC-0D45-0EA4CFA42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無需替換</a:t>
            </a:r>
            <a:endParaRPr kumimoji="1" lang="en-US" altLang="zh-TW" dirty="0"/>
          </a:p>
          <a:p>
            <a:r>
              <a:rPr kumimoji="1" lang="zh-TW" altLang="en-US" dirty="0"/>
              <a:t>部署完成用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servce</a:t>
            </a:r>
            <a:r>
              <a:rPr kumimoji="1" lang="en-US" altLang="zh-TW" dirty="0"/>
              <a:t> -n $FLASKNAME </a:t>
            </a:r>
            <a:r>
              <a:rPr kumimoji="1" lang="zh-TW" altLang="en-US" dirty="0"/>
              <a:t>資訊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1D43E7-3B6C-F215-AF51-1456FC46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3051175"/>
            <a:ext cx="6959600" cy="34417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7C076-F14D-FED2-21D4-77D73910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26452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89D5A-AE16-860C-D72E-89CC7D61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Job </a:t>
            </a:r>
            <a:r>
              <a:rPr kumimoji="1" lang="zh-TW" altLang="en-US" dirty="0"/>
              <a:t>檢查</a:t>
            </a:r>
            <a:r>
              <a:rPr kumimoji="1" lang="en-US" altLang="zh-TW" dirty="0"/>
              <a:t>service</a:t>
            </a:r>
            <a:r>
              <a:rPr kumimoji="1" lang="zh-TW" altLang="en-US" dirty="0"/>
              <a:t>狀態</a:t>
            </a: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85A0E7A-8CA8-3959-EB42-326DD34C90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2428" y="1825625"/>
            <a:ext cx="5147144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D138B5-F422-9419-243D-0AF0FD08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66725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693024-2D29-3A52-A952-0502FAFA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service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3E5559-172C-F309-CFAE-5A29BEA8B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 -n flask-master</a:t>
            </a: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F1CD82-4E1E-0178-832D-897E61136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3177"/>
            <a:ext cx="12192000" cy="390390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209240-3F04-67FB-C006-145AC615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75592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D78F2-5DF3-3365-9C3A-16AF7303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 </a:t>
            </a:r>
            <a:r>
              <a:rPr kumimoji="1" lang="zh-TW" altLang="en-US" dirty="0"/>
              <a:t>進行連線測試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75AE40-4720-FC27-17FD-6CC423255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curl 127.0.0.1:32437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3FECED-1E95-FE96-1DCD-05D934077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750" y="2952750"/>
            <a:ext cx="7302500" cy="9525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02CB11-939E-8ADE-3292-F79308AD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47557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</a:p>
        </p:txBody>
      </p:sp>
      <p:sp>
        <p:nvSpPr>
          <p:cNvPr id="85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>
                <a:latin typeface="+mj-lt"/>
                <a:ea typeface="+mj-ea"/>
                <a:cs typeface="+mj-cs"/>
                <a:sym typeface="Helvetica"/>
              </a:rPr>
              <a:t>開源的程式碼品質管理系統</a:t>
            </a:r>
          </a:p>
          <a:p>
            <a:r>
              <a:t>SonarQube Server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收集數據及呈現</a:t>
            </a:r>
          </a:p>
          <a:p>
            <a:r>
              <a:t>SonarQube Runner</a:t>
            </a:r>
          </a:p>
          <a:p>
            <a:pPr marL="742950" lvl="1" indent="-285750">
              <a:defRPr sz="2800"/>
            </a:pPr>
            <a:r>
              <a:t>Agent</a:t>
            </a:r>
          </a:p>
          <a:p>
            <a:pPr marL="742950" lvl="1" indent="-285750">
              <a:defRPr sz="28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檢驗程式碼</a:t>
            </a:r>
          </a:p>
        </p:txBody>
      </p:sp>
      <p:sp>
        <p:nvSpPr>
          <p:cNvPr id="8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6C7743-941D-50C4-E7BE-6D74EEA69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02047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SonarQube</a:t>
            </a:r>
            <a:r>
              <a:rPr lang="zh-TW" altLang="en-US" dirty="0"/>
              <a:t> </a:t>
            </a:r>
            <a:r>
              <a:rPr lang="en-US" altLang="zh-TW" dirty="0"/>
              <a:t>scan</a:t>
            </a:r>
            <a:r>
              <a:rPr lang="zh-TW" altLang="en-US" dirty="0"/>
              <a:t> </a:t>
            </a:r>
            <a:r>
              <a:rPr lang="en-US" altLang="zh-TW" dirty="0"/>
              <a:t>flow</a:t>
            </a:r>
            <a:endParaRPr dirty="0"/>
          </a:p>
        </p:txBody>
      </p:sp>
      <p:sp>
        <p:nvSpPr>
          <p:cNvPr id="8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E202C6E-6F07-A430-2765-06EB0012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339" y="1853525"/>
            <a:ext cx="9014259" cy="351149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560EC6C-9C9D-9600-9835-283C4F73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49889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296598-91B5-700D-E41A-008AC2F1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/>
              <a:t>SonarQube server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D99C22A-146C-05AF-E805-2D1F8F3B07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531" y="2374711"/>
            <a:ext cx="7450512" cy="340300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E5EC46A-DF12-1A73-AE43-A7B7A832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92348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+mj-lt"/>
                <a:ea typeface="+mj-ea"/>
                <a:cs typeface="+mj-cs"/>
                <a:sym typeface="Helvetica"/>
              </a:rPr>
              <a:t>VM1 </a:t>
            </a:r>
            <a:r>
              <a:rPr lang="en-US" dirty="0" err="1">
                <a:sym typeface="Helvetica"/>
              </a:rPr>
              <a:t>上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部署</a:t>
            </a:r>
            <a:r>
              <a:rPr dirty="0" err="1"/>
              <a:t>SonarQube</a:t>
            </a:r>
            <a:r>
              <a:rPr dirty="0"/>
              <a:t> Server</a:t>
            </a:r>
          </a:p>
        </p:txBody>
      </p:sp>
      <p:sp>
        <p:nvSpPr>
          <p:cNvPr id="868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docker run -</a:t>
            </a:r>
            <a:r>
              <a:rPr dirty="0" err="1"/>
              <a:t>itd</a:t>
            </a:r>
            <a:r>
              <a:rPr dirty="0"/>
              <a:t> -p 9000:9000 --restart always --name </a:t>
            </a:r>
            <a:r>
              <a:rPr dirty="0" err="1"/>
              <a:t>sonarqube</a:t>
            </a:r>
            <a:r>
              <a:rPr dirty="0"/>
              <a:t> sonarqube</a:t>
            </a:r>
            <a:r>
              <a:rPr lang="en-US" dirty="0"/>
              <a:t>:9-community</a:t>
            </a:r>
          </a:p>
          <a:p>
            <a:endParaRPr dirty="0"/>
          </a:p>
        </p:txBody>
      </p:sp>
      <p:sp>
        <p:nvSpPr>
          <p:cNvPr id="8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BF88FC-376E-A65F-0020-1EAED66C3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1297"/>
            <a:ext cx="9479057" cy="29160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2D24A3D-BCF3-C201-05D7-7E7D9942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85648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</a:t>
            </a:r>
            <a:r>
              <a:rPr dirty="0" err="1"/>
              <a:t>server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7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93C9BD2-90AC-04B7-D527-AEFFF487D60D}"/>
              </a:ext>
            </a:extLst>
          </p:cNvPr>
          <p:cNvSpPr txBox="1"/>
          <p:nvPr/>
        </p:nvSpPr>
        <p:spPr>
          <a:xfrm>
            <a:off x="3832260" y="1595601"/>
            <a:ext cx="2667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http://{VM1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}:9000/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ED6815-6795-8973-4D05-9CC4DF586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58" y="2379838"/>
            <a:ext cx="7035800" cy="23368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B4EB425-0C94-A443-7378-CB654FCF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77173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login</a:t>
            </a:r>
          </a:p>
        </p:txBody>
      </p:sp>
      <p:sp>
        <p:nvSpPr>
          <p:cNvPr id="879" name="內容版面配置區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+mj-lt"/>
                <a:ea typeface="+mj-ea"/>
                <a:cs typeface="+mj-cs"/>
                <a:sym typeface="Helvetica"/>
              </a:rPr>
              <a:t>預設帳號</a:t>
            </a:r>
            <a:r>
              <a:rPr dirty="0" err="1"/>
              <a:t>:admin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、預設密碼</a:t>
            </a:r>
            <a:r>
              <a:rPr dirty="0" err="1"/>
              <a:t>:admin</a:t>
            </a:r>
            <a:endParaRPr lang="en-US" dirty="0"/>
          </a:p>
          <a:p>
            <a:endParaRPr dirty="0"/>
          </a:p>
        </p:txBody>
      </p:sp>
      <p:sp>
        <p:nvSpPr>
          <p:cNvPr id="880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14538F4-6CB5-88EC-6C56-384F89A60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983" y="2885948"/>
            <a:ext cx="4082034" cy="2405836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1B88C32-A92D-CAB0-8B0C-0653440B4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58824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kumimoji="1" lang="en-US" altLang="zh-TW" dirty="0"/>
              <a:t>(SonarQube) </a:t>
            </a:r>
            <a:r>
              <a:rPr dirty="0" err="1"/>
              <a:t>SonaQube</a:t>
            </a:r>
            <a:r>
              <a:rPr dirty="0"/>
              <a:t> server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頁面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886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191EE92-9AEB-7358-3282-753061709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36" y="1690688"/>
            <a:ext cx="7772400" cy="4446171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623A9D2-3463-5076-CE51-BD7092F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83476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D58FB-52DF-B4FE-579F-3571F2E0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94F199-7B66-FEEA-0C8D-9E6AC7B13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748" y="1825625"/>
            <a:ext cx="7812503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557332-88CF-8EDA-550A-C3EC7AC8B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759149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3E052-9547-F557-3FEA-57024666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填入 </a:t>
            </a:r>
            <a:r>
              <a:rPr kumimoji="1" lang="en-US" altLang="zh-TW" dirty="0" err="1"/>
              <a:t>api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url</a:t>
            </a:r>
            <a:r>
              <a:rPr kumimoji="1" lang="zh-TW" altLang="en-US" dirty="0"/>
              <a:t>及 </a:t>
            </a:r>
            <a:r>
              <a:rPr kumimoji="1" lang="en-US" altLang="zh-TW" dirty="0"/>
              <a:t>personal access token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2E6EE6-954D-5B53-1C45-0BAE69D9B3CA}"/>
              </a:ext>
            </a:extLst>
          </p:cNvPr>
          <p:cNvSpPr txBox="1"/>
          <p:nvPr/>
        </p:nvSpPr>
        <p:spPr>
          <a:xfrm>
            <a:off x="3575407" y="1818526"/>
            <a:ext cx="4324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dirty="0"/>
              <a:t>Configuration Name: </a:t>
            </a:r>
            <a:r>
              <a:rPr kumimoji="1" lang="en" altLang="zh-TW" dirty="0" err="1"/>
              <a:t>gitlab</a:t>
            </a:r>
            <a:br>
              <a:rPr kumimoji="1" lang="en" altLang="zh-TW" dirty="0"/>
            </a:br>
            <a:r>
              <a:rPr kumimoji="1" lang="en" altLang="zh-TW" dirty="0"/>
              <a:t>GitLab API URL: https://{VM1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</a:t>
            </a:r>
            <a:r>
              <a:rPr kumimoji="1" lang="en" altLang="zh-TW" dirty="0"/>
              <a:t>}/</a:t>
            </a:r>
            <a:r>
              <a:rPr kumimoji="1" lang="en" altLang="zh-TW" dirty="0" err="1"/>
              <a:t>api</a:t>
            </a:r>
            <a:r>
              <a:rPr kumimoji="1" lang="en" altLang="zh-TW" dirty="0"/>
              <a:t>/v4</a:t>
            </a:r>
            <a:endParaRPr kumimoji="1"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02DC8556-F440-5691-F9ED-56CE2A35D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B2E17C22-B442-7F2C-141F-E6A3B1422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047" y="2543175"/>
            <a:ext cx="5283200" cy="39497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45F1D5-F1DF-D4F6-041B-E34BB92AA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5614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8244A4-43FD-939A-867C-C9894BDB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GitLab personal access token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0021D7-6222-3426-A89D-4FACD3BC7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</a:rPr>
              <a:t>Token</a:t>
            </a:r>
            <a:r>
              <a:rPr lang="zh-TW" altLang="en-US" dirty="0">
                <a:solidFill>
                  <a:schemeClr val="tx1"/>
                </a:solidFill>
              </a:rPr>
              <a:t>等同於擁有這個帳號的權限。但比密碼更佳的時候可以設定授權範圍與時效。並且隨時可以終止授權。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A6AC0-E9A2-623D-C3A3-338191028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053186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34340">
              <a:defRPr sz="3989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/>
              <a:t>gitlab</a:t>
            </a:r>
            <a:r>
              <a:rPr dirty="0"/>
              <a:t> user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產生</a:t>
            </a:r>
            <a:r>
              <a:rPr dirty="0" err="1"/>
              <a:t>Access</a:t>
            </a:r>
            <a:r>
              <a:rPr dirty="0"/>
              <a:t> token - 1</a:t>
            </a:r>
          </a:p>
        </p:txBody>
      </p:sp>
      <p:sp>
        <p:nvSpPr>
          <p:cNvPr id="753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08AAEAE-68A1-2928-8F25-62DF63B72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02" y="1920575"/>
            <a:ext cx="4020407" cy="351077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C14D389-66A1-0AD3-EDC1-B222E3B5B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41" y="2248850"/>
            <a:ext cx="7272495" cy="311563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DDB9A28-A297-CF3D-125E-E13EACD2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018867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設定此</a:t>
            </a:r>
            <a:r>
              <a:rPr dirty="0" err="1"/>
              <a:t>token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權限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5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70EB0F3-C56A-0A93-D82D-CBA261321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46" y="1592104"/>
            <a:ext cx="8384190" cy="4862830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3A5033-AD01-91F6-4F3C-0DCB4460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36577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標題 1"/>
          <p:cNvSpPr txBox="1">
            <a:spLocks noGrp="1"/>
          </p:cNvSpPr>
          <p:nvPr>
            <p:ph type="title"/>
          </p:nvPr>
        </p:nvSpPr>
        <p:spPr>
          <a:xfrm>
            <a:off x="838200" y="429358"/>
            <a:ext cx="10515600" cy="1325563"/>
          </a:xfrm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lang="en-US" altLang="zh-TW" dirty="0"/>
              <a:t>(GitLab) 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把</a:t>
            </a:r>
            <a:r>
              <a:rPr dirty="0" err="1"/>
              <a:t>token</a:t>
            </a:r>
            <a:r>
              <a:rPr dirty="0"/>
              <a:t>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另存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sp>
        <p:nvSpPr>
          <p:cNvPr id="764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19DD1AA-3E0C-9C44-0F86-97A9F503F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43100"/>
            <a:ext cx="9408324" cy="373285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4E1A7B5F-8EFD-AB49-B028-912220C81DE2}"/>
              </a:ext>
            </a:extLst>
          </p:cNvPr>
          <p:cNvSpPr txBox="1"/>
          <p:nvPr/>
        </p:nvSpPr>
        <p:spPr>
          <a:xfrm>
            <a:off x="8647852" y="2828836"/>
            <a:ext cx="32393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這把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等同於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root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帳號的密碼，為了安全，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gitlab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不會保存這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</a:t>
            </a: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．如果遺失就需要重新申請．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A6F5C4-477B-7E3D-968F-A352A3FF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115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88620">
              <a:defRPr sz="3570"/>
            </a:pPr>
            <a:r>
              <a:rPr lang="en-US" dirty="0"/>
              <a:t>(GitLab)</a:t>
            </a:r>
            <a:r>
              <a:rPr dirty="0"/>
              <a:t>Gitlab and Jenkins hook together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得到</a:t>
            </a:r>
            <a:r>
              <a:rPr dirty="0" err="1"/>
              <a:t>token</a:t>
            </a:r>
            <a:br>
              <a:rPr dirty="0"/>
            </a:br>
            <a:endParaRPr dirty="0"/>
          </a:p>
        </p:txBody>
      </p:sp>
      <p:sp>
        <p:nvSpPr>
          <p:cNvPr id="769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7E2E525-B12F-BAA8-D60F-68DB6914C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47" y="1212841"/>
            <a:ext cx="11816153" cy="470507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42103D-35FF-FDE2-7B03-FC8DA2ADA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062959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52D665-AF58-F540-6CB5-59AD7E91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把</a:t>
            </a:r>
            <a:r>
              <a:rPr kumimoji="1" lang="en-US" altLang="zh-TW" dirty="0"/>
              <a:t>Personal Access Token</a:t>
            </a:r>
            <a:r>
              <a:rPr kumimoji="1" lang="zh-TW" altLang="en-US" dirty="0"/>
              <a:t>也填上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5585FD-0AA9-9DCD-B1B7-601287EB16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5961" y="1825625"/>
            <a:ext cx="696007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AFC68D4-F07A-3E42-DB00-09C83A12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417471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1A8072-2F6E-BF87-FDCE-A95D95F2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SonarQube </a:t>
            </a:r>
            <a:r>
              <a:rPr kumimoji="1" lang="zh-TW" altLang="en-US" dirty="0"/>
              <a:t>能夠取得</a:t>
            </a:r>
            <a:r>
              <a:rPr kumimoji="1" lang="en-US" altLang="zh-TW" dirty="0"/>
              <a:t>Gitlab repo</a:t>
            </a:r>
            <a:r>
              <a:rPr kumimoji="1" lang="zh-TW" altLang="en-US" dirty="0"/>
              <a:t>資訊，點擊</a:t>
            </a:r>
            <a:r>
              <a:rPr kumimoji="1" lang="en-US" altLang="zh-TW" dirty="0"/>
              <a:t>Set up</a:t>
            </a:r>
            <a:r>
              <a:rPr kumimoji="1" lang="zh-TW" altLang="en-US" dirty="0"/>
              <a:t>作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串接設定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E96D1EAF-2826-ED1A-6712-E30815A71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950" y="2318544"/>
            <a:ext cx="10198100" cy="33655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F9BC96-B420-B29C-BACA-154BD1F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342671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B4E2F-74A8-D009-0B7C-74612843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選擇使用</a:t>
            </a:r>
            <a:r>
              <a:rPr kumimoji="1" lang="en-US" altLang="zh-TW" dirty="0"/>
              <a:t>GitLab CI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189B927-324E-57F5-E80A-4084D2988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592" y="1825625"/>
            <a:ext cx="8224815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350930-9A5F-5947-828E-6BE1A65F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942197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106C5-A7B1-6107-9ECF-87C4F06C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選擇</a:t>
            </a:r>
            <a:r>
              <a:rPr kumimoji="1" lang="en-US" altLang="zh-TW" dirty="0"/>
              <a:t>Python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E14D08C-4894-D59E-5017-F1A0A3F7B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36" y="1825625"/>
            <a:ext cx="5914528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74FE78-9446-EF5D-E466-E1675153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419978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20B07-875C-69A8-392D-0D5FC2A8F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17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保存</a:t>
            </a:r>
            <a:r>
              <a:rPr kumimoji="1"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5C337229-9547-3114-9A39-006930BBA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014" y="1825625"/>
            <a:ext cx="8865971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4B0DA0-37A1-36C1-BF88-DE176639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890176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83242-DE60-7EF2-DB24-9D03191B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/>
              <a:t>Docker 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 repo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F5BC7E8-327A-D055-90EA-E095E8C4A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0767"/>
            <a:ext cx="10515600" cy="300105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B17BD6-696A-EA48-238B-88B52C584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14172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D985A0-1554-E775-C32F-133817FF6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編輯</a:t>
            </a:r>
            <a:r>
              <a:rPr kumimoji="1" lang="en-US" altLang="zh-TW" dirty="0"/>
              <a:t>git repo</a:t>
            </a:r>
            <a:r>
              <a:rPr kumimoji="1" lang="zh-TW" altLang="en-US" dirty="0"/>
              <a:t>裡的</a:t>
            </a:r>
            <a:r>
              <a:rPr lang="en-US" altLang="zh-TW" dirty="0"/>
              <a:t>sonar-</a:t>
            </a:r>
            <a:r>
              <a:rPr lang="en-US" altLang="zh-TW" dirty="0" err="1"/>
              <a:t>project.properties</a:t>
            </a:r>
            <a:r>
              <a:rPr lang="zh-TW" altLang="en-US" dirty="0"/>
              <a:t>檔案，替換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E56FDB84-398E-20D3-B013-2C5A7159B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9806"/>
            <a:ext cx="10515600" cy="3302976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CE926A-E0E7-867A-1C47-0A719895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720424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99F40-6218-EDF3-8DA2-A1A1CB111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替換</a:t>
            </a:r>
            <a:r>
              <a:rPr lang="en-US" altLang="zh-TW" dirty="0" err="1"/>
              <a:t>projectKey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2F89B98-FE8B-505D-97D2-15DD70E00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700" y="2559844"/>
            <a:ext cx="10134600" cy="28829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460991-2585-E476-3FFD-50001713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68310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0EB31-6C56-F8BE-2FB1-51F153E3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(GitLab)</a:t>
            </a:r>
            <a:r>
              <a:rPr kumimoji="1" lang="zh-TW" altLang="en-US" dirty="0"/>
              <a:t>至</a:t>
            </a:r>
            <a:r>
              <a:rPr kumimoji="1" lang="en-US" altLang="zh-TW" dirty="0" err="1"/>
              <a:t>gitlab</a:t>
            </a:r>
            <a:r>
              <a:rPr kumimoji="1" lang="en-US" altLang="zh-TW" dirty="0"/>
              <a:t> project CI/CD </a:t>
            </a:r>
            <a:r>
              <a:rPr kumimoji="1" lang="zh-TW" altLang="en-US" dirty="0"/>
              <a:t>新增變數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7315CDF-89B5-4984-2D0F-F25ED1AC9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570" y="1825625"/>
            <a:ext cx="7720859" cy="4351338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56EE4D-2927-9BC6-1C67-BBBEE96C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185159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76F06-34CB-E10C-CF4F-D51E6063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回到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繼續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3E28907-BF3E-D507-14B9-E69B6BD257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9650" y="3994944"/>
            <a:ext cx="12700" cy="127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BA89AC4-297C-A51E-B5A3-2C5943636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735" y="2275568"/>
            <a:ext cx="7772400" cy="380688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8707814-4744-7394-4F45-CEB36A3E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11901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C8EE7-C116-24DB-EC34-7DE471B6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7493"/>
            <a:ext cx="10515600" cy="1325563"/>
          </a:xfrm>
        </p:spPr>
        <p:txBody>
          <a:bodyPr/>
          <a:lstStyle/>
          <a:p>
            <a:r>
              <a:rPr kumimoji="1" lang="en-US" altLang="zh-TW" dirty="0"/>
              <a:t>(SonarQube)</a:t>
            </a:r>
            <a:r>
              <a:rPr kumimoji="1" lang="zh-TW" altLang="en-US" dirty="0"/>
              <a:t>點擊</a:t>
            </a:r>
            <a:r>
              <a:rPr kumimoji="1" lang="en-US" altLang="zh-TW" dirty="0"/>
              <a:t>Generate a token </a:t>
            </a:r>
            <a:r>
              <a:rPr kumimoji="1" lang="zh-TW" altLang="en-US" dirty="0"/>
              <a:t>產生一筆</a:t>
            </a:r>
            <a:r>
              <a:rPr kumimoji="1" lang="en-US" altLang="zh-TW" dirty="0"/>
              <a:t>SonarQube token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4FB9C7-B2EB-92F5-B2D5-D464C544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記錄下</a:t>
            </a:r>
            <a:r>
              <a:rPr lang="en-US" altLang="zh-TW" dirty="0"/>
              <a:t>SonarQube token </a:t>
            </a:r>
            <a:r>
              <a:rPr lang="zh-TW" altLang="en-US" dirty="0"/>
              <a:t>與 </a:t>
            </a:r>
            <a:r>
              <a:rPr lang="en-US" altLang="zh-TW" dirty="0"/>
              <a:t>SONAR_HOST_URL key and value</a:t>
            </a:r>
            <a:r>
              <a:rPr lang="zh-TW" altLang="en-US" dirty="0"/>
              <a:t>，把他設定進</a:t>
            </a:r>
            <a:r>
              <a:rPr lang="en-US" altLang="zh-TW" dirty="0"/>
              <a:t>GitLab repo variable</a:t>
            </a:r>
            <a:r>
              <a:rPr lang="zh-TW" altLang="en-US" dirty="0"/>
              <a:t>裡</a:t>
            </a:r>
            <a:endParaRPr lang="en-US" altLang="zh-TW" dirty="0"/>
          </a:p>
          <a:p>
            <a:r>
              <a:rPr lang="en-US" altLang="zh-TW" dirty="0"/>
              <a:t> 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1524F09-3917-8FB7-A1BD-1B8493AF0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769" y="2716779"/>
            <a:ext cx="6622181" cy="4001177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BA0301-F6CD-B19B-4F28-D615A685B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49673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8DC273-7206-A7D9-7BB6-155CA826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產生一把無期限的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13A353-16B7-94B4-AC4D-EBB9CA8D1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0" y="1848644"/>
            <a:ext cx="8788400" cy="430530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D777FAF-A665-2A98-E712-A5E3747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2429329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B34A66-042F-659D-97CA-481FDD99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保存</a:t>
            </a:r>
            <a:r>
              <a:rPr kumimoji="1" lang="en-US" altLang="zh-TW" dirty="0"/>
              <a:t>sonar project token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9F523CA-3A8B-FDEF-F1A7-4FD1B4D46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9753" y="1389093"/>
            <a:ext cx="9163544" cy="5196642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C9B6AB6-F32A-82ED-15AA-770F8B96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8458136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35583-1B0B-440E-8B83-467E833E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sz="3200" dirty="0"/>
              <a:t>回到</a:t>
            </a:r>
            <a:r>
              <a:rPr kumimoji="1" lang="en-US" altLang="zh-TW" sz="3200" dirty="0" err="1"/>
              <a:t>gitlab</a:t>
            </a:r>
            <a:r>
              <a:rPr kumimoji="1" lang="en-US" altLang="zh-TW" sz="3200" dirty="0"/>
              <a:t> ci/cd variable</a:t>
            </a:r>
            <a:r>
              <a:rPr kumimoji="1" lang="zh-TW" altLang="en-US" sz="3200" dirty="0"/>
              <a:t>，設定</a:t>
            </a:r>
            <a:r>
              <a:rPr kumimoji="1" lang="en-US" altLang="zh-TW" sz="3200" dirty="0"/>
              <a:t>SONAR_TOKEN </a:t>
            </a:r>
            <a:r>
              <a:rPr kumimoji="1" lang="zh-TW" altLang="en-US" sz="3200" dirty="0"/>
              <a:t>與 </a:t>
            </a:r>
            <a:r>
              <a:rPr kumimoji="1" lang="en-US" altLang="zh-TW" sz="3200" dirty="0"/>
              <a:t>SONAR_HOST_URL </a:t>
            </a:r>
            <a:r>
              <a:rPr kumimoji="1" lang="zh-TW" altLang="en-US" sz="3200" dirty="0"/>
              <a:t>兩個變數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F20DB53-0B8A-2111-E5C5-BC08F2D3E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3236" y="1777936"/>
            <a:ext cx="6987069" cy="494353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6465715-091F-F2EA-EA07-E6D31831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42946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FA8DF-E088-D2DF-7D8D-0FC438101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Gitlab/Settings/CICD/Variables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14FB1EC-FB6E-8CA0-B3AF-B10F0448E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896" y="1825625"/>
            <a:ext cx="8872208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60EC0E-823B-833D-ED79-C9F64A8C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15181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2F0E2-3505-AD70-967B-4BCA4F161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(GitLab)</a:t>
            </a:r>
            <a:r>
              <a:rPr lang="zh-TW" altLang="en-US" dirty="0"/>
              <a:t> 設定變數</a:t>
            </a:r>
            <a:r>
              <a:rPr lang="en-US" altLang="zh-TW" dirty="0"/>
              <a:t>SONAR_HOST_URL: http://{VM1 </a:t>
            </a:r>
            <a:r>
              <a:rPr lang="zh-TW" altLang="en-US" dirty="0"/>
              <a:t>外部</a:t>
            </a:r>
            <a:r>
              <a:rPr lang="en-US" altLang="zh-TW" dirty="0"/>
              <a:t> IP}:9000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9E7787D-F9BB-108F-5356-EDF461C9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B437336-5618-E1A7-523B-99C40A4A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274" y="1181529"/>
            <a:ext cx="2396305" cy="554872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2D3A83-133B-AC6E-48D3-BEBFA85F9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3413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39F58-E013-9D5E-7911-61C2F9F4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設定變數 </a:t>
            </a:r>
            <a:r>
              <a:rPr kumimoji="1" lang="en-US" altLang="zh-TW" dirty="0"/>
              <a:t>SONAR_TOKEN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91C0A9AD-1757-05ED-F6AB-2F123FBBB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4071" y="212120"/>
            <a:ext cx="2631991" cy="6433759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B79326-3CEB-14CF-B58E-9C2316BA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39342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254B0E-597A-3B7D-BB30-4B7F6104D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變數檢查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893144C-3AFD-6E36-2C78-A496227C4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630" y="1310544"/>
            <a:ext cx="11754739" cy="466901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ED787B-789C-A5AD-1198-34583488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26167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BF202-5C1D-6EB4-741E-793F2F488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CICD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sonar</a:t>
            </a:r>
            <a:r>
              <a:rPr kumimoji="1" lang="zh-TW" altLang="en-US" dirty="0"/>
              <a:t>串接完成．後續只要開始</a:t>
            </a:r>
            <a:r>
              <a:rPr kumimoji="1" lang="en-US" altLang="zh-TW" dirty="0"/>
              <a:t>commit</a:t>
            </a:r>
            <a:r>
              <a:rPr kumimoji="1" lang="zh-TW" altLang="en-US" dirty="0"/>
              <a:t>，</a:t>
            </a:r>
            <a:r>
              <a:rPr kumimoji="1" lang="en-US" altLang="zh-TW" dirty="0"/>
              <a:t>pipeline</a:t>
            </a:r>
            <a:r>
              <a:rPr kumimoji="1" lang="zh-TW" altLang="en-US" dirty="0"/>
              <a:t>就會開始執行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B24DDE1-F9AF-2256-41D6-354365288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5515"/>
            <a:ext cx="10515600" cy="413155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6B0FB6D-88A8-1DDA-3097-BB7D31E0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894068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61464B-1E28-7D58-8FE2-A837BFBF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New pipeline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508BC59-647C-CA76-14F4-E5AD2B5C22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154"/>
            <a:ext cx="10515600" cy="354828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42D7DE1-8039-33BC-E6BA-2229E214B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68173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A60F7-0038-7BEF-4FE3-E537681F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Pipeline 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</a:t>
            </a:r>
            <a:r>
              <a:rPr kumimoji="1" lang="zh-TW" altLang="en-US" dirty="0"/>
              <a:t> 狀態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8A437E0-9CDD-4470-AA4A-87DABE9D7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1089"/>
            <a:ext cx="10515600" cy="394040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8FBF93-4F47-8264-BE74-B37B6D3A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622772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D68370-35B8-5E66-3742-7553A008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Pipeline</a:t>
            </a:r>
            <a:r>
              <a:rPr kumimoji="1" lang="zh-TW" altLang="en-US" dirty="0"/>
              <a:t>執行</a:t>
            </a:r>
            <a:r>
              <a:rPr kumimoji="1" lang="en-US" altLang="zh-TW" dirty="0"/>
              <a:t>SonarQube job</a:t>
            </a:r>
            <a:r>
              <a:rPr kumimoji="1" lang="zh-TW" altLang="en-US" dirty="0"/>
              <a:t>，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66F56F8-F9FF-91A2-6D8C-F713A3865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5201" y="2120113"/>
            <a:ext cx="8507343" cy="373852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8842C08-6F04-CF4A-8CAC-20222D00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189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685731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6CD65E-36BE-D37B-E76E-F6421C59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Sonar job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B69C2F6-1695-08A4-0E6A-FD0926645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561" y="1825625"/>
            <a:ext cx="7826877" cy="435133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56B9E1C-DADB-CB28-FBB5-08CBBAE4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174113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1D45CE-AF0E-CCB0-B494-5F640648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 err="1"/>
              <a:t>Sonarqube</a:t>
            </a:r>
            <a:r>
              <a:rPr kumimoji="1" lang="zh-TW" altLang="en-US" dirty="0"/>
              <a:t> 掃描運行情況</a:t>
            </a:r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DBAB029E-10BA-CEBB-6D5A-F6A8709E2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264" y="1432211"/>
            <a:ext cx="8986180" cy="5289264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193685-7982-286B-CFE5-FC95E21A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99915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SonarQube 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報告檢視</a:t>
            </a:r>
          </a:p>
        </p:txBody>
      </p:sp>
      <p:sp>
        <p:nvSpPr>
          <p:cNvPr id="907" name="日期版面配置區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06D0DB0-FD13-3A8C-C402-F41EE09D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304" y="1493520"/>
            <a:ext cx="7772400" cy="497254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0DAFCA7-8FA1-61F3-0F6E-3ECEA102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05617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9CBC7E-86B4-D1BB-E4BE-3B859B5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build and push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4932E407-CBA1-6E28-D4A4-09D9EEF35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2900" y="2661444"/>
            <a:ext cx="8966200" cy="26797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B0C7F0-BA1F-491B-6C61-E2F49D1E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7882780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8F3C963-652A-70DF-CF65-7DAE4334A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附錄Ａ：如何在</a:t>
            </a:r>
            <a:r>
              <a:rPr lang="en-US" altLang="zh-TW" dirty="0"/>
              <a:t>putty </a:t>
            </a:r>
            <a:r>
              <a:rPr lang="zh-TW" altLang="en-US" dirty="0"/>
              <a:t>使用</a:t>
            </a:r>
            <a:r>
              <a:rPr lang="en-US" altLang="zh-TW" dirty="0" err="1"/>
              <a:t>ssh</a:t>
            </a:r>
            <a:r>
              <a:rPr lang="en-US" altLang="zh-TW" dirty="0"/>
              <a:t> key </a:t>
            </a:r>
            <a:r>
              <a:rPr lang="zh-TW" altLang="en-US" dirty="0"/>
              <a:t>登入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40077B7-D79E-ADE2-9E02-D5B52604A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568323-D1FE-9B99-DA26-2D0E03AB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9420605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圖片 10" descr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931" y="2036442"/>
            <a:ext cx="4157084" cy="4143321"/>
          </a:xfrm>
          <a:prstGeom prst="rect">
            <a:avLst/>
          </a:prstGeom>
          <a:ln w="12700">
            <a:miter lim="400000"/>
          </a:ln>
        </p:spPr>
      </p:pic>
      <p:sp>
        <p:nvSpPr>
          <p:cNvPr id="1075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下載</a:t>
            </a:r>
            <a:r>
              <a:rPr dirty="0" err="1"/>
              <a:t>Putty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 ，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填入</a:t>
            </a:r>
            <a:r>
              <a:rPr dirty="0" err="1"/>
              <a:t>id@ip</a:t>
            </a:r>
            <a:endParaRPr dirty="0"/>
          </a:p>
        </p:txBody>
      </p:sp>
      <p:sp>
        <p:nvSpPr>
          <p:cNvPr id="1076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1078" name="向右箭號 5"/>
          <p:cNvSpPr/>
          <p:nvPr/>
        </p:nvSpPr>
        <p:spPr>
          <a:xfrm>
            <a:off x="2920655" y="2572571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9" name="向右箭號 6"/>
          <p:cNvSpPr/>
          <p:nvPr/>
        </p:nvSpPr>
        <p:spPr>
          <a:xfrm>
            <a:off x="4369129" y="3130920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D54FC32-2623-B329-A267-6B659889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041111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左邊</a:t>
            </a:r>
            <a:r>
              <a:rPr dirty="0" err="1"/>
              <a:t>Connectopn</a:t>
            </a:r>
            <a:r>
              <a:rPr dirty="0"/>
              <a:t>/SSH/Auth</a:t>
            </a:r>
          </a:p>
        </p:txBody>
      </p:sp>
      <p:pic>
        <p:nvPicPr>
          <p:cNvPr id="1082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83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1085" name="向右箭號 5"/>
          <p:cNvSpPr/>
          <p:nvPr/>
        </p:nvSpPr>
        <p:spPr>
          <a:xfrm>
            <a:off x="288828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6" name="向右箭號 7"/>
          <p:cNvSpPr/>
          <p:nvPr/>
        </p:nvSpPr>
        <p:spPr>
          <a:xfrm>
            <a:off x="3042604" y="489146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87" name="向右箭號 9"/>
          <p:cNvSpPr/>
          <p:nvPr/>
        </p:nvSpPr>
        <p:spPr>
          <a:xfrm>
            <a:off x="3163416" y="5454384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421005-42F3-CC4C-CC3F-D987E30A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923276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 err="1"/>
              <a:t>Private</a:t>
            </a:r>
            <a:r>
              <a:rPr dirty="0"/>
              <a:t> key file auth</a:t>
            </a:r>
          </a:p>
        </p:txBody>
      </p:sp>
      <p:pic>
        <p:nvPicPr>
          <p:cNvPr id="1090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007" y="2052638"/>
            <a:ext cx="419576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091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1093" name="向右箭號 5"/>
          <p:cNvSpPr/>
          <p:nvPr/>
        </p:nvSpPr>
        <p:spPr>
          <a:xfrm>
            <a:off x="4385312" y="477360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4" name="向右箭號 7"/>
          <p:cNvSpPr/>
          <p:nvPr/>
        </p:nvSpPr>
        <p:spPr>
          <a:xfrm>
            <a:off x="2928747" y="4215253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5" name="向右箭號 8"/>
          <p:cNvSpPr/>
          <p:nvPr/>
        </p:nvSpPr>
        <p:spPr>
          <a:xfrm>
            <a:off x="3042036" y="490237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96" name="向右箭號 9"/>
          <p:cNvSpPr/>
          <p:nvPr/>
        </p:nvSpPr>
        <p:spPr>
          <a:xfrm>
            <a:off x="3163416" y="5445219"/>
            <a:ext cx="631180" cy="1132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9050" cap="rnd">
            <a:solidFill>
              <a:srgbClr val="800F0E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4780A58-1650-10A5-8538-2833F474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263631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>
                <a:latin typeface="+mj-lt"/>
                <a:ea typeface="+mj-ea"/>
                <a:cs typeface="+mj-cs"/>
                <a:sym typeface="Helvetica"/>
              </a:rPr>
              <a:t>選擇</a:t>
            </a:r>
            <a:r>
              <a:rPr dirty="0"/>
              <a:t>k8s.ppk</a:t>
            </a:r>
          </a:p>
        </p:txBody>
      </p:sp>
      <p:pic>
        <p:nvPicPr>
          <p:cNvPr id="1099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12" y="2052638"/>
            <a:ext cx="5554953" cy="4195763"/>
          </a:xfrm>
          <a:prstGeom prst="rect">
            <a:avLst/>
          </a:prstGeom>
          <a:ln w="12700">
            <a:miter lim="400000"/>
          </a:ln>
        </p:spPr>
      </p:pic>
      <p:sp>
        <p:nvSpPr>
          <p:cNvPr id="1100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5094E3-88B7-0D79-88A2-DB9DF63C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4670097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標題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97763">
              <a:defRPr sz="3654"/>
            </a:pPr>
            <a:r>
              <a:rPr dirty="0" err="1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dirty="0" err="1"/>
              <a:t>A</a:t>
            </a:r>
            <a:r>
              <a:rPr dirty="0"/>
              <a:t>: window login to cloud VM by putty – </a:t>
            </a:r>
            <a:r>
              <a:rPr dirty="0" err="1">
                <a:latin typeface="+mj-lt"/>
                <a:ea typeface="+mj-ea"/>
                <a:cs typeface="+mj-cs"/>
                <a:sym typeface="Helvetica"/>
              </a:rPr>
              <a:t>即可登入</a:t>
            </a:r>
            <a:endParaRPr dirty="0">
              <a:latin typeface="+mj-lt"/>
              <a:ea typeface="+mj-ea"/>
              <a:cs typeface="+mj-cs"/>
              <a:sym typeface="Helvetica"/>
            </a:endParaRPr>
          </a:p>
        </p:txBody>
      </p:sp>
      <p:pic>
        <p:nvPicPr>
          <p:cNvPr id="1104" name="內容版面配置區 6" descr="內容版面配置區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8" y="2321718"/>
            <a:ext cx="6286501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105" name="日期預留位置 3"/>
          <p:cNvSpPr txBox="1"/>
          <p:nvPr/>
        </p:nvSpPr>
        <p:spPr>
          <a:xfrm rot="5400000">
            <a:off x="10231838" y="1821180"/>
            <a:ext cx="899160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r>
              <a:t>2021/4/21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B579F13-6700-073A-503D-6C2746BE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199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96003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EA47B-E721-BAF2-E5E6-FD032ECA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+mj-lt"/>
                <a:ea typeface="+mj-ea"/>
                <a:cs typeface="+mj-cs"/>
                <a:sym typeface="Helvetica"/>
              </a:rPr>
              <a:t>附錄</a:t>
            </a:r>
            <a:r>
              <a:rPr lang="en" altLang="zh-TW" dirty="0">
                <a:latin typeface="+mj-lt"/>
                <a:ea typeface="+mj-ea"/>
                <a:cs typeface="+mj-cs"/>
                <a:sym typeface="Helvetica"/>
              </a:rPr>
              <a:t>B</a:t>
            </a:r>
            <a:r>
              <a:rPr lang="en" altLang="zh-TW" dirty="0">
                <a:sym typeface="Helvetica"/>
              </a:rPr>
              <a:t> </a:t>
            </a:r>
            <a:r>
              <a:rPr lang="en" altLang="zh-TW" dirty="0" err="1">
                <a:sym typeface="Helvetica"/>
              </a:rPr>
              <a:t>dockerfile</a:t>
            </a:r>
            <a:r>
              <a:rPr lang="zh-TW" altLang="en-US" dirty="0">
                <a:sym typeface="Helvetica"/>
              </a:rPr>
              <a:t> </a:t>
            </a:r>
            <a:r>
              <a:rPr lang="en-US" altLang="zh-TW" dirty="0">
                <a:sym typeface="Helvetica"/>
              </a:rPr>
              <a:t>keyword</a:t>
            </a:r>
            <a:endParaRPr kumimoji="1"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2136A6-797F-3C04-BF6D-033362FB3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212A99D-C45C-3153-09F2-D687C414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74260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3277-DEAD-4C48-BF47-0E2A0B00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ECE29D-5839-A643-8B26-83CAC828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FROM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取得官方認證</a:t>
            </a:r>
            <a:r>
              <a:rPr lang="en-US" altLang="zh-CN" dirty="0"/>
              <a:t>docker image </a:t>
            </a:r>
          </a:p>
          <a:p>
            <a:pPr lvl="2"/>
            <a:r>
              <a:rPr lang="en-US" altLang="zh-TW" dirty="0"/>
              <a:t>FROM 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ubuntu:18.04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取得私有帳號的</a:t>
            </a:r>
            <a:r>
              <a:rPr lang="en-US" altLang="zh-CN" dirty="0"/>
              <a:t>docker image </a:t>
            </a:r>
            <a:endParaRPr lang="en-US" altLang="zh-TW" dirty="0"/>
          </a:p>
          <a:p>
            <a:pPr lvl="2"/>
            <a:r>
              <a:rPr lang="en-US" altLang="zh-TW" dirty="0"/>
              <a:t>FROM {{</a:t>
            </a:r>
            <a:r>
              <a:rPr lang="zh-CN" altLang="en-US" dirty="0"/>
              <a:t>帳號</a:t>
            </a:r>
            <a:r>
              <a:rPr lang="en-US" altLang="zh-TW" dirty="0"/>
              <a:t>}}/{{image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</a:t>
            </a:r>
            <a:r>
              <a:rPr lang="en-US" altLang="zh-TW" dirty="0" err="1"/>
              <a:t>demoyuw</a:t>
            </a:r>
            <a:r>
              <a:rPr lang="en-US" altLang="zh-TW" dirty="0"/>
              <a:t>/nginx:</a:t>
            </a:r>
            <a:r>
              <a:rPr lang="en-US" altLang="zh-TW" b="1" dirty="0"/>
              <a:t>v0.2</a:t>
            </a:r>
          </a:p>
          <a:p>
            <a:pPr lvl="1"/>
            <a:r>
              <a:rPr lang="zh-CN" altLang="en-US" dirty="0"/>
              <a:t>從指定路徑</a:t>
            </a:r>
            <a:r>
              <a:rPr lang="en-US" altLang="zh-CN" dirty="0"/>
              <a:t>image registry </a:t>
            </a:r>
            <a:r>
              <a:rPr lang="zh-CN" altLang="en-US" dirty="0"/>
              <a:t>取得</a:t>
            </a:r>
            <a:r>
              <a:rPr lang="en-US" altLang="zh-CN" dirty="0"/>
              <a:t>image</a:t>
            </a:r>
          </a:p>
          <a:p>
            <a:pPr lvl="2"/>
            <a:r>
              <a:rPr lang="en-US" altLang="zh-TW" sz="2400" dirty="0"/>
              <a:t>FROM 10.30.1.1/images/python:3.8-alpine3.11</a:t>
            </a:r>
          </a:p>
          <a:p>
            <a:pPr lvl="1"/>
            <a:r>
              <a:rPr lang="zh-CN" altLang="en-US" dirty="0"/>
              <a:t>一個</a:t>
            </a:r>
            <a:r>
              <a:rPr lang="en-US" altLang="zh-CN" dirty="0"/>
              <a:t>image</a:t>
            </a:r>
            <a:r>
              <a:rPr lang="zh-CN" altLang="en-US" dirty="0"/>
              <a:t>只能一組</a:t>
            </a:r>
            <a:endParaRPr lang="en-US" altLang="zh-CN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sz="2400" dirty="0"/>
              <a:t>FROM golang:1.16 AS builder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59A717C-654E-66C3-9FB0-58802ACC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217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AA7CD-48CE-2B4D-91B2-F242E410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F037A-6842-EE49-9848-8F96D87E7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ENV</a:t>
            </a:r>
          </a:p>
          <a:p>
            <a:pPr lvl="1"/>
            <a:r>
              <a:rPr lang="zh-TW" altLang="en-US" dirty="0"/>
              <a:t>設定</a:t>
            </a:r>
            <a:r>
              <a:rPr lang="en-US" altLang="zh-TW" dirty="0"/>
              <a:t>Container</a:t>
            </a:r>
            <a:r>
              <a:rPr lang="zh-TW" altLang="en-US" dirty="0"/>
              <a:t>環境變數</a:t>
            </a:r>
          </a:p>
          <a:p>
            <a:pPr lvl="1"/>
            <a:r>
              <a:rPr lang="en-US" altLang="zh-TW" dirty="0"/>
              <a:t>ENV &lt;key&gt;=&lt;value&gt;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en-US" altLang="zh-TW" dirty="0"/>
              <a:t>WORKDIR</a:t>
            </a:r>
          </a:p>
          <a:p>
            <a:pPr lvl="1"/>
            <a:r>
              <a:rPr lang="zh-TW" altLang="en-US" dirty="0"/>
              <a:t>建立資料夾，並設定預設資料夾</a:t>
            </a:r>
          </a:p>
          <a:p>
            <a:pPr lvl="1"/>
            <a:r>
              <a:rPr lang="en-US" altLang="zh-TW" dirty="0"/>
              <a:t>WORKDIR /app</a:t>
            </a:r>
          </a:p>
          <a:p>
            <a:pPr lvl="1"/>
            <a:r>
              <a:rPr lang="zh-CN" altLang="en-US" dirty="0"/>
              <a:t>只能一組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FCC173-8011-F485-2BF6-84DDCC09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062681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E8D00-23AE-514A-94E0-A5C9B803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983193-5BEE-0A47-868A-08FB50770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RUN</a:t>
            </a:r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command</a:t>
            </a:r>
            <a:r>
              <a:rPr lang="zh-CN" altLang="en-US" dirty="0"/>
              <a:t>並建立</a:t>
            </a:r>
            <a:r>
              <a:rPr lang="en-US" altLang="zh-CN" dirty="0"/>
              <a:t>image</a:t>
            </a:r>
            <a:r>
              <a:rPr lang="zh-CN" altLang="en-US" dirty="0"/>
              <a:t>，用於安裝。</a:t>
            </a:r>
            <a:r>
              <a:rPr lang="en-US" altLang="zh-TW" dirty="0"/>
              <a:t>Shell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/>
              <a:t> /bin/</a:t>
            </a:r>
            <a:r>
              <a:rPr lang="en-US" altLang="zh-CN" dirty="0" err="1"/>
              <a:t>sh</a:t>
            </a:r>
            <a:r>
              <a:rPr lang="en-US" altLang="zh-CN" dirty="0"/>
              <a:t>):</a:t>
            </a:r>
            <a:endParaRPr lang="en-US" altLang="zh-TW" dirty="0"/>
          </a:p>
          <a:p>
            <a:pPr lvl="2"/>
            <a:r>
              <a:rPr lang="en-US" altLang="zh-TW" dirty="0"/>
              <a:t>RUN command</a:t>
            </a:r>
          </a:p>
          <a:p>
            <a:pPr lvl="2"/>
            <a:r>
              <a:rPr lang="en-US" altLang="zh-TW" dirty="0"/>
              <a:t>RUN apt-get install python3 </a:t>
            </a:r>
            <a:r>
              <a:rPr lang="zh-CN" altLang="en-US" dirty="0"/>
              <a:t>意思為</a:t>
            </a:r>
            <a:r>
              <a:rPr lang="zh-TW" altLang="en-US" dirty="0"/>
              <a:t> </a:t>
            </a:r>
            <a:r>
              <a:rPr lang="en-US" altLang="zh-TW" dirty="0"/>
              <a:t>/bin/</a:t>
            </a:r>
            <a:r>
              <a:rPr lang="en-US" altLang="zh-TW" dirty="0" err="1"/>
              <a:t>sh</a:t>
            </a:r>
            <a:r>
              <a:rPr lang="en-US" altLang="zh-TW" dirty="0"/>
              <a:t> -c apt-get install python3</a:t>
            </a:r>
          </a:p>
          <a:p>
            <a:pPr lvl="1"/>
            <a:r>
              <a:rPr lang="en-US" altLang="zh-TW" dirty="0"/>
              <a:t>Exec</a:t>
            </a:r>
            <a:r>
              <a:rPr lang="zh-TW" altLang="en-US" dirty="0"/>
              <a:t>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使用指定</a:t>
            </a:r>
            <a:r>
              <a:rPr lang="en-US" altLang="zh-CN" dirty="0"/>
              <a:t>shell)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RUN ["command1", "command2" …]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Ex: RUN ["/bin/bash", "-c", "echo </a:t>
            </a:r>
            <a:r>
              <a:rPr lang="en-US" altLang="zh-TW" dirty="0" err="1"/>
              <a:t>hellow</a:t>
            </a:r>
            <a:r>
              <a:rPr lang="en-US" altLang="zh-TW" dirty="0"/>
              <a:t> &gt;&gt; </a:t>
            </a:r>
            <a:r>
              <a:rPr lang="en-US" altLang="zh-TW" dirty="0" err="1"/>
              <a:t>hellow.txt</a:t>
            </a:r>
            <a:r>
              <a:rPr lang="en-US" altLang="zh-TW" dirty="0"/>
              <a:t>"]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EC8585-8E2D-59CD-97F9-6B77BEBB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493190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664FD-0F32-8044-AE20-1B888CBB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E9AA2A-E406-8A44-ADC9-8BC99407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ADD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</a:p>
          <a:p>
            <a:pPr lvl="1"/>
            <a:r>
              <a:rPr lang="en-US" altLang="zh-TW" dirty="0"/>
              <a:t>ADD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ADD cirros-0.3.4-x86_64-disk.img /</a:t>
            </a:r>
          </a:p>
          <a:p>
            <a:pPr lvl="1"/>
            <a:r>
              <a:rPr lang="en-US" altLang="zh-TW" dirty="0"/>
              <a:t>add </a:t>
            </a:r>
            <a:r>
              <a:rPr lang="zh-CN" altLang="en-US" dirty="0"/>
              <a:t>會複製至指定位置</a:t>
            </a:r>
            <a:r>
              <a:rPr lang="zh-CN" altLang="en-US" dirty="0">
                <a:solidFill>
                  <a:srgbClr val="C00000"/>
                </a:solidFill>
              </a:rPr>
              <a:t>並進行</a:t>
            </a:r>
            <a:r>
              <a:rPr lang="zh-TW" altLang="en-US" dirty="0">
                <a:solidFill>
                  <a:srgbClr val="C00000"/>
                </a:solidFill>
              </a:rPr>
              <a:t>解壓縮</a:t>
            </a:r>
          </a:p>
          <a:p>
            <a:r>
              <a:rPr lang="en-US" altLang="zh-TW" dirty="0"/>
              <a:t>COPY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  <a:endParaRPr lang="en-US" altLang="zh-TW" dirty="0"/>
          </a:p>
          <a:p>
            <a:pPr lvl="1"/>
            <a:r>
              <a:rPr lang="en-US" altLang="zh-TW" dirty="0"/>
              <a:t>COPY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COPY cirros-0.3.4-x86_64-disk.img /</a:t>
            </a:r>
          </a:p>
          <a:p>
            <a:pPr lvl="1"/>
            <a:r>
              <a:rPr lang="zh-TW" altLang="en-US" dirty="0"/>
              <a:t>差別</a:t>
            </a:r>
            <a:r>
              <a:rPr lang="en-US" altLang="zh-TW" dirty="0"/>
              <a:t>: copy </a:t>
            </a:r>
            <a:r>
              <a:rPr lang="zh-TW" altLang="en-US" dirty="0"/>
              <a:t>只單純進行複製</a:t>
            </a:r>
            <a:endParaRPr lang="en-US" altLang="zh-TW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dirty="0"/>
              <a:t>COPY --from=xxx</a:t>
            </a:r>
            <a:endParaRPr lang="en-US" altLang="zh-TW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8EBA55-E62C-CF6A-FE92-508B9E37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237306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A3FC8-0C81-334E-AD99-6252D5F4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9F2F-3296-C941-A4A1-6842215F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EXPOSE</a:t>
            </a:r>
            <a:r>
              <a:rPr lang="zh-TW" altLang="en-US" dirty="0"/>
              <a:t> </a:t>
            </a:r>
            <a:r>
              <a:rPr lang="en-US" altLang="zh-TW" dirty="0"/>
              <a:t>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CN" altLang="en-US" dirty="0"/>
              <a:t>宣告</a:t>
            </a:r>
            <a:r>
              <a:rPr lang="en-US" altLang="zh-CN" dirty="0"/>
              <a:t>Docker </a:t>
            </a:r>
            <a:r>
              <a:rPr lang="zh-CN" altLang="en-US" dirty="0"/>
              <a:t>對外提供哪些</a:t>
            </a:r>
            <a:r>
              <a:rPr lang="en-US" altLang="zh-CN" dirty="0"/>
              <a:t>port</a:t>
            </a:r>
            <a:endParaRPr lang="en-US" altLang="zh-TW" dirty="0"/>
          </a:p>
          <a:p>
            <a:pPr lvl="1"/>
            <a:r>
              <a:rPr lang="en-US" altLang="zh-TW" dirty="0"/>
              <a:t>EXPOSE &lt;port&gt; [&lt;port&gt;/&lt;protocol&gt;...]</a:t>
            </a:r>
          </a:p>
          <a:p>
            <a:pPr lvl="1"/>
            <a:r>
              <a:rPr lang="zh-CN" altLang="en-US" dirty="0"/>
              <a:t>預設為</a:t>
            </a:r>
            <a:r>
              <a:rPr lang="en-US" altLang="zh-TW" dirty="0"/>
              <a:t> TCP port</a:t>
            </a:r>
          </a:p>
          <a:p>
            <a:pPr lvl="2"/>
            <a:r>
              <a:rPr lang="en-US" altLang="zh-TW" dirty="0"/>
              <a:t>Ex: EXPOSE 80/TCP</a:t>
            </a:r>
          </a:p>
          <a:p>
            <a:pPr lvl="2"/>
            <a:r>
              <a:rPr lang="en-US" altLang="zh-TW" dirty="0"/>
              <a:t>Ex: EXPOSE 8000/UDP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-p {{local</a:t>
            </a:r>
            <a:r>
              <a:rPr lang="zh-TW" altLang="en-US" dirty="0"/>
              <a:t>端</a:t>
            </a:r>
            <a:r>
              <a:rPr lang="en-US" altLang="zh-TW" dirty="0"/>
              <a:t>port}}:{{container</a:t>
            </a:r>
            <a:r>
              <a:rPr lang="zh-CN" altLang="en-US" dirty="0"/>
              <a:t>啟用</a:t>
            </a:r>
            <a:r>
              <a:rPr lang="en-US" altLang="zh-CN" dirty="0"/>
              <a:t>port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-p 80:80</a:t>
            </a:r>
          </a:p>
          <a:p>
            <a:pPr lvl="2"/>
            <a:r>
              <a:rPr lang="en-US" altLang="zh-TW" dirty="0"/>
              <a:t>docker run -p 80:80 -p 443:443</a:t>
            </a:r>
          </a:p>
          <a:p>
            <a:pPr lvl="1"/>
            <a:r>
              <a:rPr lang="en-US" altLang="zh-TW" dirty="0"/>
              <a:t>docker run -P</a:t>
            </a:r>
          </a:p>
          <a:p>
            <a:pPr lvl="2"/>
            <a:r>
              <a:rPr lang="zh-CN" altLang="en-US" dirty="0"/>
              <a:t>隨機指定一個</a:t>
            </a:r>
            <a:r>
              <a:rPr lang="en-US" altLang="zh-CN" dirty="0"/>
              <a:t>3xxxx</a:t>
            </a:r>
            <a:r>
              <a:rPr lang="zh-TW" altLang="en-US" dirty="0"/>
              <a:t> </a:t>
            </a:r>
            <a:r>
              <a:rPr lang="en-US" altLang="zh-TW" dirty="0"/>
              <a:t>port </a:t>
            </a:r>
            <a:r>
              <a:rPr lang="zh-CN" altLang="en-US" dirty="0"/>
              <a:t>給</a:t>
            </a:r>
            <a:r>
              <a:rPr lang="en-US" altLang="zh-CN" dirty="0"/>
              <a:t>EXPOSE </a:t>
            </a:r>
            <a:r>
              <a:rPr lang="zh-TW" altLang="en-US" dirty="0"/>
              <a:t> </a:t>
            </a:r>
            <a:r>
              <a:rPr lang="en-US" altLang="zh-TW" dirty="0"/>
              <a:t>port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721FC5-B632-2F9F-8C5B-DA71B6457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02120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FA7A5-40BE-EC43-9199-22BA519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-6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C1BC88-3222-CF42-BDFF-1261F4E5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VOLUME (Kubernetes </a:t>
            </a:r>
            <a:r>
              <a:rPr lang="zh-TW" altLang="en-US" dirty="0"/>
              <a:t>用不到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在</a:t>
            </a:r>
            <a:r>
              <a:rPr lang="en-US" altLang="zh-TW" dirty="0"/>
              <a:t>local</a:t>
            </a:r>
            <a:r>
              <a:rPr lang="zh-TW" altLang="en-US" dirty="0"/>
              <a:t>端建立</a:t>
            </a:r>
            <a:r>
              <a:rPr lang="en-US" altLang="zh-TW" dirty="0"/>
              <a:t>volume</a:t>
            </a:r>
            <a:r>
              <a:rPr lang="zh-TW" altLang="en-US" dirty="0"/>
              <a:t>，並接到</a:t>
            </a:r>
            <a:r>
              <a:rPr lang="en-US" altLang="zh-TW" dirty="0"/>
              <a:t>container</a:t>
            </a:r>
            <a:r>
              <a:rPr lang="zh-TW" altLang="en-US" dirty="0"/>
              <a:t>內的 </a:t>
            </a:r>
            <a:r>
              <a:rPr lang="en-US" altLang="zh-TW" dirty="0"/>
              <a:t>/volume1 </a:t>
            </a:r>
          </a:p>
          <a:p>
            <a:pPr lvl="1"/>
            <a:r>
              <a:rPr lang="en-US" altLang="zh-TW" dirty="0"/>
              <a:t>VOLUME [“/volume1”] </a:t>
            </a:r>
          </a:p>
          <a:p>
            <a:pPr lvl="1"/>
            <a:r>
              <a:rPr lang="en-US" altLang="zh-TW" dirty="0"/>
              <a:t>VOLUME [“/volume1”, “/volume2” …..]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-v {{local</a:t>
            </a:r>
            <a:r>
              <a:rPr lang="zh-TW" altLang="en-US" dirty="0"/>
              <a:t>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-v $HOME/container1-data:/data</a:t>
            </a:r>
          </a:p>
          <a:p>
            <a:pPr lvl="2"/>
            <a:r>
              <a:rPr lang="en-US" altLang="zh-TW" dirty="0"/>
              <a:t>docker run -v $HOME/container1-data:/data -v $HOME/container1-logs:/var/lib/log</a:t>
            </a:r>
          </a:p>
          <a:p>
            <a:pPr lvl="1"/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060B6-D592-A6DC-CD30-3D7AF453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506521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FA7271-32C0-194F-879A-82F99440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-7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79B7D8-5B07-6F40-8E03-FC39A350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ENTRYPOINT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  <a:endParaRPr lang="en-US" altLang="zh-CN" dirty="0"/>
          </a:p>
          <a:p>
            <a:pPr lvl="1"/>
            <a:r>
              <a:rPr lang="zh-CN" altLang="en-US" dirty="0"/>
              <a:t>用來進行參數設定，</a:t>
            </a:r>
            <a:r>
              <a:rPr lang="en-US" altLang="zh-CN" dirty="0"/>
              <a:t>container</a:t>
            </a:r>
            <a:r>
              <a:rPr lang="zh-CN" altLang="en-US" dirty="0"/>
              <a:t>運行前的前置作業。</a:t>
            </a:r>
            <a:endParaRPr lang="en-US" altLang="zh-CN" dirty="0"/>
          </a:p>
          <a:p>
            <a:pPr lvl="1"/>
            <a:r>
              <a:rPr lang="zh-CN" altLang="en-US" dirty="0"/>
              <a:t>會在</a:t>
            </a:r>
            <a:r>
              <a:rPr lang="en-US" altLang="zh-CN" dirty="0"/>
              <a:t>CMD </a:t>
            </a:r>
            <a:r>
              <a:rPr lang="zh-CN" altLang="en-US" dirty="0"/>
              <a:t>執行前執行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不可取代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CMD (</a:t>
            </a:r>
            <a:r>
              <a:rPr lang="zh-CN" altLang="en-US" dirty="0"/>
              <a:t>預設執行</a:t>
            </a:r>
            <a:r>
              <a:rPr lang="en-US" altLang="zh-CN" dirty="0"/>
              <a:t>command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</a:p>
          <a:p>
            <a:pPr lvl="1"/>
            <a:r>
              <a:rPr lang="en-US" altLang="zh-TW" dirty="0"/>
              <a:t>docker </a:t>
            </a:r>
            <a:r>
              <a:rPr lang="zh-TW" altLang="en-US" dirty="0"/>
              <a:t>啟動</a:t>
            </a:r>
            <a:r>
              <a:rPr lang="zh-CN" altLang="en-US" dirty="0"/>
              <a:t>時</a:t>
            </a:r>
            <a:r>
              <a:rPr lang="zh-TW" altLang="en-US" dirty="0"/>
              <a:t>執行，並且可</a:t>
            </a:r>
            <a:r>
              <a:rPr lang="zh-CN" altLang="en-US" dirty="0"/>
              <a:t>經</a:t>
            </a:r>
            <a:r>
              <a:rPr lang="zh-TW" altLang="en-US" dirty="0"/>
              <a:t>由</a:t>
            </a:r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{</a:t>
            </a:r>
            <a:r>
              <a:rPr lang="en-US" altLang="zh-TW" dirty="0" err="1"/>
              <a:t>image_name</a:t>
            </a:r>
            <a:r>
              <a:rPr lang="en-US" altLang="zh-TW" dirty="0"/>
              <a:t>} {command}</a:t>
            </a:r>
            <a:r>
              <a:rPr lang="zh-CN" altLang="en-US" dirty="0"/>
              <a:t>置</a:t>
            </a:r>
            <a:r>
              <a:rPr lang="zh-TW" altLang="en-US" dirty="0"/>
              <a:t>換參數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可取代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2ABD93-BBAD-A7BA-9D4A-2E4A6C04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16679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41126-0CAE-2A4A-B52C-CE090433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-8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C0C8E-8193-6E4B-9A31-E0593D51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ENTRYPOINT</a:t>
            </a:r>
            <a:r>
              <a:rPr lang="zh-CN" altLang="en-US" dirty="0"/>
              <a:t>與</a:t>
            </a:r>
            <a:r>
              <a:rPr lang="en-US" altLang="zh-CN" dirty="0"/>
              <a:t>CMD</a:t>
            </a:r>
            <a:r>
              <a:rPr lang="zh-CN" altLang="en-US" dirty="0"/>
              <a:t>組合成</a:t>
            </a:r>
            <a:r>
              <a:rPr lang="en-US" altLang="zh-CN" dirty="0"/>
              <a:t>Docker </a:t>
            </a:r>
            <a:r>
              <a:rPr lang="zh-CN" altLang="en-US" dirty="0"/>
              <a:t>執行時</a:t>
            </a:r>
            <a:r>
              <a:rPr lang="en-US" altLang="zh-CN" dirty="0"/>
              <a:t>Command</a:t>
            </a:r>
          </a:p>
          <a:p>
            <a:pPr lvl="1"/>
            <a:r>
              <a:rPr lang="en-US" altLang="zh-TW" dirty="0"/>
              <a:t>ENTRYPOINT [”/bin/bash”]</a:t>
            </a:r>
          </a:p>
          <a:p>
            <a:pPr lvl="1"/>
            <a:r>
              <a:rPr lang="en-US" altLang="zh-CN" dirty="0"/>
              <a:t>CMD [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en-US" altLang="zh-CN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1 ]</a:t>
            </a:r>
          </a:p>
          <a:p>
            <a:pPr lvl="1"/>
            <a:r>
              <a:rPr lang="zh-CN" altLang="en-US" dirty="0"/>
              <a:t>組合後</a:t>
            </a:r>
            <a:endParaRPr lang="en-US" altLang="zh-CN" dirty="0"/>
          </a:p>
          <a:p>
            <a:pPr lvl="2"/>
            <a:r>
              <a:rPr lang="en-US" altLang="zh-TW" dirty="0"/>
              <a:t>ENTRYPOINT</a:t>
            </a:r>
            <a:r>
              <a:rPr lang="zh-TW" altLang="en-US" dirty="0"/>
              <a:t> </a:t>
            </a:r>
            <a:r>
              <a:rPr lang="en-US" altLang="zh-TW" dirty="0"/>
              <a:t>+ </a:t>
            </a:r>
            <a:r>
              <a:rPr lang="en-US" altLang="zh-CN" dirty="0"/>
              <a:t>CMD</a:t>
            </a:r>
          </a:p>
          <a:p>
            <a:pPr lvl="2"/>
            <a:r>
              <a:rPr lang="en-US" altLang="zh-CN" dirty="0"/>
              <a:t>/bin/bash 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zh-TW" altLang="en-US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9E6171-0BD2-D26C-2BA5-39A227BE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902251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9B23A74-837E-257D-3279-F3D01901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</a:t>
            </a:r>
            <a:r>
              <a:rPr lang="en-US" altLang="zh-TW" dirty="0"/>
              <a:t>C: </a:t>
            </a:r>
            <a:r>
              <a:rPr lang="en-US" altLang="zh-TW" dirty="0" err="1"/>
              <a:t>dockerfile</a:t>
            </a:r>
            <a:r>
              <a:rPr lang="en-US" altLang="zh-TW" dirty="0"/>
              <a:t> </a:t>
            </a:r>
            <a:r>
              <a:rPr kumimoji="1" lang="en-US" altLang="zh-TW" dirty="0"/>
              <a:t>multi-stage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0CCC6A-80E8-31F0-ACA9-E20E3D09B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4F0C8C3-191A-4EDE-00A7-B9685FB5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209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21136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68B08-DFB1-DD44-8D71-4630EEAF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Multi-stage </a:t>
            </a:r>
            <a:r>
              <a:rPr kumimoji="1" lang="en-US" altLang="zh-CN" dirty="0"/>
              <a:t>(docker 17.05</a:t>
            </a:r>
            <a:r>
              <a:rPr kumimoji="1" lang="zh-CN" altLang="en-US" dirty="0"/>
              <a:t>以後版本</a:t>
            </a:r>
            <a:r>
              <a:rPr kumimoji="1" lang="en-US" altLang="zh-CN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6C027C-22BA-D24A-81E0-13235ADB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一個</a:t>
            </a:r>
            <a:r>
              <a:rPr kumimoji="1" lang="en-US" altLang="zh-TW" dirty="0"/>
              <a:t>docker file </a:t>
            </a:r>
            <a:r>
              <a:rPr kumimoji="1" lang="zh-CN" altLang="en-US" dirty="0"/>
              <a:t>可以執行多個</a:t>
            </a:r>
            <a:r>
              <a:rPr kumimoji="1" lang="en-US" altLang="zh-CN" dirty="0"/>
              <a:t>stage</a:t>
            </a:r>
          </a:p>
          <a:p>
            <a:r>
              <a:rPr kumimoji="1" lang="en-US" altLang="zh-CN" dirty="0"/>
              <a:t>stage</a:t>
            </a:r>
            <a:r>
              <a:rPr kumimoji="1" lang="zh-CN" altLang="en-US" dirty="0"/>
              <a:t>可以</a:t>
            </a:r>
            <a:r>
              <a:rPr kumimoji="1" lang="en-US" altLang="zh-CN" dirty="0"/>
              <a:t>Copy</a:t>
            </a:r>
            <a:r>
              <a:rPr kumimoji="1" lang="zh-CN" altLang="en-US" dirty="0"/>
              <a:t>其他</a:t>
            </a:r>
            <a:r>
              <a:rPr kumimoji="1" lang="en-US" altLang="zh-CN" dirty="0"/>
              <a:t>stage </a:t>
            </a:r>
            <a:r>
              <a:rPr kumimoji="1" lang="zh-CN" altLang="en-US" dirty="0"/>
              <a:t>或</a:t>
            </a:r>
            <a:r>
              <a:rPr kumimoji="1" lang="zh-TW" altLang="en-US" dirty="0"/>
              <a:t> </a:t>
            </a:r>
            <a:r>
              <a:rPr kumimoji="1" lang="en-US" altLang="zh-TW" dirty="0"/>
              <a:t>image</a:t>
            </a:r>
            <a:r>
              <a:rPr kumimoji="1" lang="zh-CN" altLang="en-US" dirty="0"/>
              <a:t>裡的檔案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0DDD6C-0AEA-EB77-D23A-7BB9FAFB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4442760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77E98-B4F9-D344-B08E-1D9E69DD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Java Spring with </a:t>
            </a:r>
            <a:r>
              <a:rPr kumimoji="1" lang="en-US" altLang="zh-TW" dirty="0" err="1"/>
              <a:t>gradle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93EC9-3290-954B-9863-154943D98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TW" dirty="0"/>
              <a:t>FROM gradle:7.6.0-jdk8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--</a:t>
            </a:r>
            <a:r>
              <a:rPr kumimoji="1" lang="en-US" altLang="zh-TW" dirty="0" err="1"/>
              <a:t>chown</a:t>
            </a:r>
            <a:r>
              <a:rPr kumimoji="1" lang="en-US" altLang="zh-TW" dirty="0"/>
              <a:t>=</a:t>
            </a:r>
            <a:r>
              <a:rPr kumimoji="1" lang="en-US" altLang="zh-TW" dirty="0" err="1"/>
              <a:t>gradle:gradle</a:t>
            </a:r>
            <a:r>
              <a:rPr kumimoji="1" lang="en-US" altLang="zh-TW" dirty="0"/>
              <a:t>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FROM openjdk:8-jdk-alpine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/build/libs/spring-boot-docker-0.0.1-SNAPSHOT.jar </a:t>
            </a:r>
            <a:r>
              <a:rPr kumimoji="1" lang="en-US" altLang="zh-TW" dirty="0" err="1"/>
              <a:t>app.jar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ENTRYPOINT ["java","-jar","/</a:t>
            </a:r>
            <a:r>
              <a:rPr kumimoji="1" lang="en-US" altLang="zh-TW" dirty="0" err="1"/>
              <a:t>app.jar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3166BF-C149-4D24-83FF-8B43287890DA}"/>
              </a:ext>
            </a:extLst>
          </p:cNvPr>
          <p:cNvSpPr txBox="1"/>
          <p:nvPr/>
        </p:nvSpPr>
        <p:spPr>
          <a:xfrm>
            <a:off x="1233150" y="6176963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/java-spring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0C71FB-ED9F-A757-76E6-68C692B3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806910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65C2A-9906-DF25-8A01-FD6138CD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Java Spring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74A16-01D7-043D-5D1F-401A80E3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docker build . --tag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pPr lvl="1"/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0CCDE4-7629-5A18-C419-2109F46AF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68" y="2310108"/>
            <a:ext cx="6608542" cy="4200257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E29495-7553-CF27-45E3-1BCB2D24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9203721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5E6F6F-594E-5EED-CDD8-ADEBB0897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Run 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E82DE6-FC8D-F671-83E6-868E6F5CD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8080:8080 --name java-spring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428D572-B53D-1524-0873-3EF7E39A1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1994"/>
            <a:ext cx="12192000" cy="3770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05576F4-7F2F-A65B-6761-0AB80478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32" y="4747918"/>
            <a:ext cx="12192000" cy="518128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92E3BD-D4A9-7CAC-931D-0875587F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12445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EF0DF-0908-4D87-6FB7-6CAB4B33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 </a:t>
            </a:r>
            <a:r>
              <a:rPr kumimoji="1" lang="en-US" altLang="zh-TW" dirty="0"/>
              <a:t>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9B4874-5EC9-0014-8ADE-24A6F49A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http://{VM1 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IP}:8080/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421C11-6F7B-0BE6-E676-C57142B0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66" y="3028713"/>
            <a:ext cx="9893300" cy="257810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369FD0-BEBB-6364-F665-10F295F89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13449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9C7C3-8653-EA44-B56C-F46D8A77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08C184-AC69-6743-9736-C813F559C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kumimoji="1" lang="en-US" altLang="zh-TW" dirty="0"/>
              <a:t># build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node:lts-alpine</a:t>
            </a:r>
            <a:r>
              <a:rPr kumimoji="1" lang="en-US" altLang="zh-TW" dirty="0"/>
              <a:t>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/app</a:t>
            </a:r>
          </a:p>
          <a:p>
            <a:pPr marL="0" indent="0">
              <a:buNone/>
            </a:pPr>
            <a:r>
              <a:rPr kumimoji="1" lang="en-US" altLang="zh-TW" dirty="0"/>
              <a:t>COPY package*.json ./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install</a:t>
            </a:r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run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# production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nginx:stable-alpine</a:t>
            </a:r>
            <a:r>
              <a:rPr kumimoji="1" lang="en-US" altLang="zh-TW" dirty="0"/>
              <a:t> as production-stage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/app/</a:t>
            </a:r>
            <a:r>
              <a:rPr kumimoji="1" lang="en-US" altLang="zh-TW" dirty="0" err="1"/>
              <a:t>dist</a:t>
            </a:r>
            <a:r>
              <a:rPr kumimoji="1" lang="en-US" altLang="zh-TW" dirty="0"/>
              <a:t>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/share/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/html</a:t>
            </a:r>
          </a:p>
          <a:p>
            <a:pPr marL="0" indent="0">
              <a:buNone/>
            </a:pPr>
            <a:r>
              <a:rPr kumimoji="1" lang="en-US" altLang="zh-TW" dirty="0"/>
              <a:t>EXPOSE 80</a:t>
            </a:r>
          </a:p>
          <a:p>
            <a:pPr marL="0" indent="0">
              <a:buNone/>
            </a:pPr>
            <a:r>
              <a:rPr kumimoji="1" lang="en-US" altLang="zh-TW" dirty="0"/>
              <a:t>CMD ["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", "-g", "daemon off;"]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37672D-A6E2-8E84-0873-8653D5BBB78A}"/>
              </a:ext>
            </a:extLst>
          </p:cNvPr>
          <p:cNvSpPr txBox="1"/>
          <p:nvPr/>
        </p:nvSpPr>
        <p:spPr>
          <a:xfrm>
            <a:off x="1216058" y="6081991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docker-</a:t>
            </a:r>
            <a:r>
              <a:rPr kumimoji="1" lang="en-US" altLang="zh-TW" dirty="0" err="1"/>
              <a:t>devops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88A470-B306-A6EA-437C-18E61FBD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054657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587915D9-63BD-0E4E-97C9-53B5DA26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D: Helm</a:t>
            </a:r>
            <a:endParaRPr kumimoji="1"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795D65CD-9B14-8646-AFFD-80F6FE7DF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FDEDCBD-71AC-01BC-496D-E50AB36A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561166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E03BC9-8DA6-7E45-8F56-E26BFAA9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726066-FEFB-184E-8141-AC8F30255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Kubernetes</a:t>
            </a:r>
            <a:r>
              <a:rPr kumimoji="1" lang="zh-TW" altLang="en-US" dirty="0"/>
              <a:t>套件管理工具</a:t>
            </a:r>
            <a:r>
              <a:rPr kumimoji="1" lang="en-US" altLang="zh-TW" dirty="0"/>
              <a:t> (</a:t>
            </a:r>
            <a:r>
              <a:rPr kumimoji="1" lang="zh-TW" altLang="en-US" dirty="0"/>
              <a:t>類似</a:t>
            </a:r>
            <a:r>
              <a:rPr kumimoji="1" lang="en-US" altLang="zh-TW" dirty="0"/>
              <a:t>: Yum RPM, Apt </a:t>
            </a:r>
            <a:r>
              <a:rPr kumimoji="1" lang="en-US" altLang="zh-TW" dirty="0" err="1"/>
              <a:t>dpkg</a:t>
            </a:r>
            <a:r>
              <a:rPr kumimoji="1" lang="en-US" altLang="zh-TW" dirty="0"/>
              <a:t>)</a:t>
            </a:r>
          </a:p>
          <a:p>
            <a:r>
              <a:rPr kumimoji="1" lang="zh-TW" altLang="en-US" dirty="0"/>
              <a:t>角色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Chart</a:t>
            </a:r>
          </a:p>
          <a:p>
            <a:pPr lvl="2"/>
            <a:r>
              <a:rPr kumimoji="1" lang="zh-CN" altLang="en-US" dirty="0"/>
              <a:t>安裝、部署包</a:t>
            </a:r>
            <a:r>
              <a:rPr kumimoji="1" lang="en-US" altLang="zh-CN" dirty="0"/>
              <a:t> (package)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Repository</a:t>
            </a:r>
          </a:p>
          <a:p>
            <a:pPr lvl="2"/>
            <a:r>
              <a:rPr kumimoji="1" lang="zh-CN" altLang="en-US" dirty="0"/>
              <a:t>套件倉庫</a:t>
            </a:r>
            <a:r>
              <a:rPr kumimoji="1" lang="en-US" altLang="zh-CN" dirty="0"/>
              <a:t> (package server)</a:t>
            </a:r>
            <a:r>
              <a:rPr kumimoji="1" lang="zh-CN" altLang="en-US" dirty="0"/>
              <a:t>，供</a:t>
            </a:r>
            <a:r>
              <a:rPr kumimoji="1" lang="en-US" altLang="zh-CN" dirty="0"/>
              <a:t>H</a:t>
            </a:r>
            <a:r>
              <a:rPr kumimoji="1" lang="en-US" altLang="zh-TW" dirty="0"/>
              <a:t>elm</a:t>
            </a:r>
            <a:r>
              <a:rPr kumimoji="1" lang="zh-CN" altLang="en-US" dirty="0"/>
              <a:t>取用套件進行安裝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Command: helm repo</a:t>
            </a:r>
          </a:p>
          <a:p>
            <a:pPr lvl="1"/>
            <a:r>
              <a:rPr kumimoji="1" lang="en-US" altLang="zh-CN" dirty="0"/>
              <a:t>Release</a:t>
            </a:r>
          </a:p>
          <a:p>
            <a:pPr lvl="2"/>
            <a:r>
              <a:rPr kumimoji="1" lang="zh-CN" altLang="en-US" dirty="0"/>
              <a:t>經由</a:t>
            </a:r>
            <a:r>
              <a:rPr kumimoji="1" lang="en-US" altLang="zh-CN" dirty="0"/>
              <a:t>Helm</a:t>
            </a:r>
            <a:r>
              <a:rPr kumimoji="1" lang="zh-CN" altLang="en-US" dirty="0"/>
              <a:t>所部署至</a:t>
            </a:r>
            <a:r>
              <a:rPr kumimoji="1" lang="en-US" altLang="zh-TW" dirty="0"/>
              <a:t>k8s</a:t>
            </a:r>
            <a:r>
              <a:rPr kumimoji="1" lang="zh-TW" altLang="en-US" dirty="0"/>
              <a:t>上的</a:t>
            </a:r>
            <a:r>
              <a:rPr kumimoji="1" lang="en-US" altLang="zh-CN" dirty="0"/>
              <a:t>APP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7912D3-37C0-87F9-0B42-881DA828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18550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5B85C-4FDB-1043-B83C-B175BF7C8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helm client on Ubuntu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EDAAD7-3E8B-E542-BFAF-A39EE33F1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sudo</a:t>
            </a:r>
            <a:r>
              <a:rPr lang="en-US" altLang="zh-TW" dirty="0"/>
              <a:t> snap install helm --classic</a:t>
            </a:r>
          </a:p>
          <a:p>
            <a:endParaRPr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Ref: https://</a:t>
            </a:r>
            <a:r>
              <a:rPr kumimoji="1" lang="en-US" altLang="zh-TW" dirty="0" err="1"/>
              <a:t>helm.sh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zh</a:t>
            </a:r>
            <a:r>
              <a:rPr kumimoji="1" lang="en-US" altLang="zh-TW" dirty="0"/>
              <a:t>/docs/intro/install/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CF53765-D88F-2882-B4AB-18CE021D8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392" y="2586087"/>
            <a:ext cx="9105900" cy="762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9BB8C5-96FA-ECBE-992B-3C3C2622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293748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76E3-D339-CE1C-9ECE-54C2C1AA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3 Deploy </a:t>
            </a:r>
            <a:r>
              <a:rPr kumimoji="1" lang="zh-TW" altLang="en-US" dirty="0"/>
              <a:t>流程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1534838-B726-DBCF-AAE0-FEA7940CA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100" y="2001044"/>
            <a:ext cx="5511800" cy="4000500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F902F9-1328-0EB9-26AF-A81F5E5F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558450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769521-EDFA-1D05-A2A2-09F419F6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Part A: </a:t>
            </a:r>
            <a:r>
              <a:rPr lang="zh-TW" altLang="en-US" dirty="0"/>
              <a:t>使用</a:t>
            </a:r>
            <a:r>
              <a:rPr lang="en-US" altLang="zh-TW" dirty="0"/>
              <a:t>Helm </a:t>
            </a:r>
            <a:r>
              <a:rPr lang="zh-TW" altLang="en-US" dirty="0"/>
              <a:t>部署第三方軟體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B60FD7F-6D32-E399-90F4-8F7D8E3D0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EFDA0E6-08AC-9405-BD6E-51BB6A4ED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953714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34529-866F-3A0A-599D-2D5DBEF11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3B8A0A-37E8-0847-AE93-B333638D2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hlinkClick r:id="rId2"/>
              </a:rPr>
              <a:t>https://artifacthub.io/</a:t>
            </a:r>
            <a:endParaRPr kumimoji="1" lang="en-US" altLang="zh-TW" dirty="0"/>
          </a:p>
          <a:p>
            <a:r>
              <a:rPr kumimoji="1" lang="en-US" altLang="zh-TW" dirty="0"/>
              <a:t>Kubernetes Packages website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172F60-6F61-557B-43BA-A3831AEDB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591" y="2812329"/>
            <a:ext cx="7657707" cy="3828854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056C3-865C-3AA3-C48D-3B808816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528075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9733E-D9D3-B43C-EAA0-3E955C0B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Artifacthub</a:t>
            </a:r>
            <a:r>
              <a:rPr kumimoji="1" lang="en-US" altLang="zh-TW" dirty="0"/>
              <a:t> Search by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0D83A6-E144-4988-D4DE-07D236A1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search hub nginx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7FC52A7-02E6-354D-31AB-2F2A6047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168"/>
            <a:ext cx="12192000" cy="188766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4F7B1D-B7F4-5F52-E957-BB51CB45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4158942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D695B9-8014-999C-4F31-FF9ABBA8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</a:t>
            </a:r>
            <a:r>
              <a:rPr kumimoji="1" lang="en-US" altLang="zh-TW" dirty="0" err="1"/>
              <a:t>repoitroy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8FF1CA-AD21-643B-4CBB-68CB0375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新增一個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，把</a:t>
            </a:r>
            <a:r>
              <a:rPr kumimoji="1" lang="en-US" altLang="zh-TW" dirty="0"/>
              <a:t>repo</a:t>
            </a:r>
            <a:r>
              <a:rPr kumimoji="1" lang="zh-TW" altLang="en-US" dirty="0"/>
              <a:t>下載到</a:t>
            </a:r>
            <a:r>
              <a:rPr kumimoji="1" lang="en-US" altLang="zh-TW" dirty="0"/>
              <a:t>Helm client</a:t>
            </a:r>
            <a:r>
              <a:rPr kumimoji="1" lang="zh-TW" altLang="en-US" dirty="0"/>
              <a:t>端</a:t>
            </a:r>
            <a:endParaRPr kumimoji="1" lang="en-US" altLang="zh-TW" dirty="0"/>
          </a:p>
          <a:p>
            <a:pPr lvl="1"/>
            <a:r>
              <a:rPr lang="en-US" altLang="zh-TW" dirty="0"/>
              <a:t>helm repo add </a:t>
            </a:r>
            <a:r>
              <a:rPr lang="en-US" altLang="zh-TW" dirty="0" err="1"/>
              <a:t>bitnami</a:t>
            </a:r>
            <a:r>
              <a:rPr lang="en-US" altLang="zh-TW" dirty="0"/>
              <a:t> </a:t>
            </a:r>
            <a:r>
              <a:rPr lang="en-US" altLang="zh-TW" dirty="0">
                <a:hlinkClick r:id="rId2"/>
              </a:rPr>
              <a:t>https://charts.bitnami.com/bitnami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repo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repo list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1CC582-463A-B906-1684-FD93A8BCB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5928"/>
            <a:ext cx="12192000" cy="123268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13CFA5C-55A8-6A32-5242-3B0A89A73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17012"/>
            <a:ext cx="12192000" cy="1023975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ACD05-CBC0-73EF-E85E-487DBC84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60892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D2813E-99EF-4F9A-B00B-AF5FD057D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Helm repo 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A51B4AB-A808-E78B-53F1-C68E60ADA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052"/>
            <a:ext cx="10515600" cy="4351338"/>
          </a:xfrm>
        </p:spPr>
        <p:txBody>
          <a:bodyPr/>
          <a:lstStyle/>
          <a:p>
            <a:r>
              <a:rPr lang="zh-TW" altLang="en-US" dirty="0"/>
              <a:t>向遠端</a:t>
            </a:r>
            <a:r>
              <a:rPr lang="en-US" altLang="zh-TW" dirty="0"/>
              <a:t>Server</a:t>
            </a:r>
            <a:r>
              <a:rPr lang="zh-TW" altLang="en-US" dirty="0"/>
              <a:t>更新最新</a:t>
            </a:r>
            <a:r>
              <a:rPr lang="en-US" altLang="zh-TW" dirty="0"/>
              <a:t>Chart</a:t>
            </a:r>
            <a:r>
              <a:rPr lang="zh-TW" altLang="en-US" dirty="0"/>
              <a:t>表</a:t>
            </a:r>
            <a:endParaRPr lang="en-US" altLang="zh-TW" dirty="0"/>
          </a:p>
          <a:p>
            <a:pPr lvl="1"/>
            <a:r>
              <a:rPr lang="en-US" altLang="zh-TW" dirty="0"/>
              <a:t>helm repo update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zh-TW" altLang="en-US" dirty="0"/>
              <a:t>取得</a:t>
            </a:r>
            <a:r>
              <a:rPr lang="en-US" altLang="zh-TW" dirty="0" err="1"/>
              <a:t>Bitnami</a:t>
            </a:r>
            <a:r>
              <a:rPr lang="en-US" altLang="zh-TW" dirty="0"/>
              <a:t> chart </a:t>
            </a:r>
            <a:r>
              <a:rPr lang="zh-TW" altLang="en-US" dirty="0"/>
              <a:t>列表</a:t>
            </a:r>
            <a:endParaRPr lang="en-US" altLang="zh-TW" dirty="0"/>
          </a:p>
          <a:p>
            <a:pPr lvl="1"/>
            <a:r>
              <a:rPr lang="en-US" altLang="zh-TW" dirty="0"/>
              <a:t>helm search repo </a:t>
            </a:r>
            <a:r>
              <a:rPr lang="en-US" altLang="zh-TW" dirty="0" err="1"/>
              <a:t>bitnami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03C2A82-9990-4D76-474D-C16DFD40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70" y="4738255"/>
            <a:ext cx="10702565" cy="19930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E2FEC0-6A40-6157-0C19-B0839231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26" y="2726772"/>
            <a:ext cx="9467654" cy="118921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4EC06-E861-22E3-98FB-254AFCA6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427504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5D2C0-4F38-9281-862E-218C736B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設定</a:t>
            </a:r>
            <a:r>
              <a:rPr kumimoji="1" lang="en-US" altLang="zh-TW" dirty="0"/>
              <a:t>chart</a:t>
            </a:r>
            <a:r>
              <a:rPr kumimoji="1" lang="zh-TW" altLang="en-US" dirty="0"/>
              <a:t>預設參數 </a:t>
            </a:r>
            <a:r>
              <a:rPr kumimoji="1" lang="en-US" altLang="zh-TW" dirty="0"/>
              <a:t>- </a:t>
            </a:r>
            <a:r>
              <a:rPr kumimoji="1" lang="zh-TW" altLang="en-US" dirty="0"/>
              <a:t>以</a:t>
            </a:r>
            <a:r>
              <a:rPr kumimoji="1" lang="en-US" altLang="zh-TW" dirty="0"/>
              <a:t>PostgreSQL </a:t>
            </a:r>
            <a:r>
              <a:rPr kumimoji="1" lang="zh-TW" altLang="en-US" dirty="0"/>
              <a:t>為例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2897FA-1498-BEA6-4049-00A8A097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搜尋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search repo | grep </a:t>
            </a:r>
            <a:r>
              <a:rPr kumimoji="1" lang="en-US" altLang="zh-TW" dirty="0" err="1"/>
              <a:t>postgresql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r>
              <a:rPr kumimoji="1" lang="zh-TW" altLang="en-US" dirty="0"/>
              <a:t>取得參數檔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show values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&gt; </a:t>
            </a:r>
            <a:r>
              <a:rPr kumimoji="1" lang="en-US" altLang="zh-TW" dirty="0" err="1"/>
              <a:t>values.yaml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8A25F19-C7BB-3726-9649-F2BBC1C2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501"/>
            <a:ext cx="12192000" cy="106875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AD6282-DD26-7CF8-8C09-BCFFEE68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407520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92C49-2628-5F37-1670-8F7CA038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編輯參數檔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40821C-CB9E-7BEB-65C3-4C062B992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設定</a:t>
            </a:r>
            <a:r>
              <a:rPr lang="en-US" altLang="zh-TW" dirty="0"/>
              <a:t>DB name</a:t>
            </a:r>
          </a:p>
          <a:p>
            <a:pPr lvl="1"/>
            <a:r>
              <a:rPr lang="en-US" altLang="zh-TW" dirty="0"/>
              <a:t>database: </a:t>
            </a:r>
            <a:r>
              <a:rPr lang="en-US" altLang="zh-TW" dirty="0" err="1"/>
              <a:t>db</a:t>
            </a:r>
            <a:endParaRPr lang="en-US" altLang="zh-TW" dirty="0"/>
          </a:p>
          <a:p>
            <a:r>
              <a:rPr lang="en-US" altLang="zh-TW" dirty="0"/>
              <a:t>Service type </a:t>
            </a:r>
            <a:r>
              <a:rPr lang="zh-TW" altLang="en-US" dirty="0"/>
              <a:t>從</a:t>
            </a:r>
            <a:r>
              <a:rPr lang="en-US" altLang="zh-TW" dirty="0"/>
              <a:t>Cluster </a:t>
            </a:r>
            <a:r>
              <a:rPr lang="zh-TW" altLang="en-US" dirty="0"/>
              <a:t>換成</a:t>
            </a:r>
            <a:r>
              <a:rPr lang="en-US" altLang="zh-TW" dirty="0" err="1"/>
              <a:t>NodePort</a:t>
            </a:r>
            <a:endParaRPr lang="en-US" altLang="zh-TW" dirty="0"/>
          </a:p>
          <a:p>
            <a:r>
              <a:rPr lang="en-US" altLang="zh-TW" dirty="0" err="1"/>
              <a:t>nodePorts</a:t>
            </a:r>
            <a:r>
              <a:rPr lang="en-US" altLang="zh-TW" dirty="0"/>
              <a:t> port</a:t>
            </a:r>
            <a:r>
              <a:rPr lang="zh-TW" altLang="en-US" dirty="0"/>
              <a:t>換成</a:t>
            </a:r>
            <a:r>
              <a:rPr lang="en-US" altLang="zh-TW" dirty="0"/>
              <a:t>30063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062D45-9528-6E4F-FA38-F207A3E7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961241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99D1-A255-DAA5-3034-9BD897AD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準備</a:t>
            </a:r>
            <a:r>
              <a:rPr kumimoji="1" lang="en-US" altLang="zh-TW" dirty="0" err="1"/>
              <a:t>nfs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2B2B5-F763-8C87-60DF-48086172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至</a:t>
            </a:r>
            <a:r>
              <a:rPr kumimoji="1" lang="en-US" altLang="zh-TW" dirty="0"/>
              <a:t>VM2</a:t>
            </a:r>
          </a:p>
          <a:p>
            <a:pPr lvl="1"/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mkdir</a:t>
            </a:r>
            <a:r>
              <a:rPr kumimoji="1" lang="en-US" altLang="zh-TW" dirty="0"/>
              <a:t>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sudo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chmod</a:t>
            </a:r>
            <a:r>
              <a:rPr kumimoji="1" lang="en-US" altLang="zh-TW" dirty="0"/>
              <a:t> -R 755 ~/helm-</a:t>
            </a:r>
            <a:r>
              <a:rPr kumimoji="1" lang="en-US" altLang="zh-TW" dirty="0" err="1"/>
              <a:t>postgres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StorageClass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sc.yaml</a:t>
            </a:r>
            <a:endParaRPr kumimoji="1" lang="en-US" altLang="zh-TW" dirty="0"/>
          </a:p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PV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/helm-</a:t>
            </a:r>
            <a:r>
              <a:rPr kumimoji="1" lang="en-US" altLang="zh-TW" dirty="0" err="1"/>
              <a:t>postgres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pv.yaml</a:t>
            </a:r>
            <a:endParaRPr kumimoji="1"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548DC3-0FAA-9EA0-4B77-FA49CBED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353004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D29C4-0B24-C783-613E-DAF6378A6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A2352E-F68A-AD77-8DC1-297D0788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install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r>
              <a:rPr kumimoji="1" lang="en-US" altLang="zh-TW" dirty="0"/>
              <a:t> --generate-name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AF12CD-6F0B-6F32-F51D-7EB321885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2350"/>
            <a:ext cx="12192000" cy="308461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FE0EC1-5553-C837-F913-993273788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92533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4C8CCA-C229-7842-71CA-62FA9590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部署後狀態檢查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2376C3-65BA-9F89-952C-4C132469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list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r>
              <a:rPr kumimoji="1" lang="zh-TW" altLang="en-US" dirty="0"/>
              <a:t>升級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upgrade -f 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postgresql-1654358117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  <a:p>
            <a:pPr lvl="1"/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5D7AA9-F543-2E55-1CB9-15799C6AA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8" y="2432217"/>
            <a:ext cx="12192000" cy="996783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2E5AE0-0A51-2218-4E69-A9471253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089456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6E872A-C644-77E4-1D4A-0D552D550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移除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A4DDC0-00B9-2DA0-C969-9C22D777D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移除部署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helm delete postgresql-1654398180</a:t>
            </a:r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95A166D-5645-30B9-2A2C-881683051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95114"/>
            <a:ext cx="12192000" cy="1067771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79C5A1-A775-1AA8-9AFD-62F212D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740171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6F96C-F987-86BA-82AB-3A8EBEC9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調整</a:t>
            </a:r>
            <a:r>
              <a:rPr kumimoji="1" lang="en-US" altLang="zh-TW" dirty="0"/>
              <a:t> (</a:t>
            </a:r>
            <a:r>
              <a:rPr kumimoji="1" lang="zh-TW" altLang="en-US" dirty="0"/>
              <a:t>升版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3B13C0-6ED9-70E6-4243-BAB6EBEC0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helm upgrade {release name} -f ~/</a:t>
            </a:r>
            <a:r>
              <a:rPr kumimoji="1" lang="en-US" altLang="zh-TW" dirty="0" err="1"/>
              <a:t>bitnami-postgresql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values.yaml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bitnami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postgresql</a:t>
            </a:r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091EAA3-B061-7E3A-153F-5F9FFADA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479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6565</TotalTime>
  <Words>5500</Words>
  <Application>Microsoft Macintosh PowerPoint</Application>
  <PresentationFormat>寬螢幕</PresentationFormat>
  <Paragraphs>1148</Paragraphs>
  <Slides>231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231</vt:i4>
      </vt:variant>
    </vt:vector>
  </HeadingPairs>
  <TitlesOfParts>
    <vt:vector size="238" baseType="lpstr">
      <vt:lpstr>Microsoft JhengHei</vt:lpstr>
      <vt:lpstr>Noto Sans JP</vt:lpstr>
      <vt:lpstr>Arial</vt:lpstr>
      <vt:lpstr>Calibri</vt:lpstr>
      <vt:lpstr>Calibri Light</vt:lpstr>
      <vt:lpstr>Times New Roman</vt:lpstr>
      <vt:lpstr>Office 佈景主題</vt:lpstr>
      <vt:lpstr>DevOps：GitlabCI/CD 搭配 Docker, Kubernetes 持續整合實務班</vt:lpstr>
      <vt:lpstr>課程大綱</vt:lpstr>
      <vt:lpstr>課程資源</vt:lpstr>
      <vt:lpstr>ssh 登入</vt:lpstr>
      <vt:lpstr>Container 與Docker</vt:lpstr>
      <vt:lpstr>Container </vt:lpstr>
      <vt:lpstr>Container vs. Virtual Machine -1</vt:lpstr>
      <vt:lpstr>Container 製作流程</vt:lpstr>
      <vt:lpstr>Docker image堆疊</vt:lpstr>
      <vt:lpstr>Install docker in the VM1 - graph</vt:lpstr>
      <vt:lpstr>Install docker in the VM1 - command</vt:lpstr>
      <vt:lpstr>Python Flask API Dockerfile</vt:lpstr>
      <vt:lpstr>自己build: 產生image</vt:lpstr>
      <vt:lpstr>Docker image -1</vt:lpstr>
      <vt:lpstr>Docker container -1</vt:lpstr>
      <vt:lpstr>Docker run 參數介紹</vt:lpstr>
      <vt:lpstr>Docker process -2</vt:lpstr>
      <vt:lpstr>Docker process - 3</vt:lpstr>
      <vt:lpstr>Docker process - 除錯</vt:lpstr>
      <vt:lpstr>Kubernetes</vt:lpstr>
      <vt:lpstr>Kubernetes</vt:lpstr>
      <vt:lpstr>Kubernetes 元件 -1</vt:lpstr>
      <vt:lpstr>Deployment 資源從屬關係</vt:lpstr>
      <vt:lpstr>K8s - pods</vt:lpstr>
      <vt:lpstr>Kubernetes 元件 -2</vt:lpstr>
      <vt:lpstr>K8s -Service</vt:lpstr>
      <vt:lpstr>K8s Label and Label Selector</vt:lpstr>
      <vt:lpstr>Selector</vt:lpstr>
      <vt:lpstr>K8s - Scaling</vt:lpstr>
      <vt:lpstr>K8s - Rolling update -1</vt:lpstr>
      <vt:lpstr>K8s - Rolling update -2</vt:lpstr>
      <vt:lpstr>Install kubectl</vt:lpstr>
      <vt:lpstr>用rancher 安裝Kubernetes</vt:lpstr>
      <vt:lpstr>Deploy Kubernetes: Rancher</vt:lpstr>
      <vt:lpstr>Deploy Rancher container</vt:lpstr>
      <vt:lpstr>Deploy Rancher container</vt:lpstr>
      <vt:lpstr>Rancher 網頁</vt:lpstr>
      <vt:lpstr>Rancher UI</vt:lpstr>
      <vt:lpstr>至rancher container 取得admin預設密碼</vt:lpstr>
      <vt:lpstr>設定 admin password, Server URL </vt:lpstr>
      <vt:lpstr>Create Cluster(k8s) on Rancher UI</vt:lpstr>
      <vt:lpstr>預計裝在裸機，點選RKE1 &amp; Custom</vt:lpstr>
      <vt:lpstr>Cluster命名、選擇k8s版本，選擇網路模組Calico</vt:lpstr>
      <vt:lpstr>選擇CNI MTU大小為1440，Cloud prover 選None</vt:lpstr>
      <vt:lpstr>勾選etcd, control plane, worker三項，複製下面docker agent run command</vt:lpstr>
      <vt:lpstr>Install docker in the VM2</vt:lpstr>
      <vt:lpstr>Install docker in the VM2 - command</vt:lpstr>
      <vt:lpstr>到vm2執行docker agent run command</vt:lpstr>
      <vt:lpstr>Rancher agent 運行流程 </vt:lpstr>
      <vt:lpstr>Kubernetes 部署中</vt:lpstr>
      <vt:lpstr>部署完成</vt:lpstr>
      <vt:lpstr>部署完成，點選Download KubeConfig </vt:lpstr>
      <vt:lpstr>另存Kubeconfig file.</vt:lpstr>
      <vt:lpstr>Kubernetes 操作</vt:lpstr>
      <vt:lpstr>放置kube conf</vt:lpstr>
      <vt:lpstr>切換k8s 環境 (讀取~/.kube/config)</vt:lpstr>
      <vt:lpstr>K8S 顯示資訊</vt:lpstr>
      <vt:lpstr>Kubernets 最小單位: pod</vt:lpstr>
      <vt:lpstr>部署Kubernetes yaml 檔，apply</vt:lpstr>
      <vt:lpstr>K8s deployment YAML -1</vt:lpstr>
      <vt:lpstr>K8s deployment YAML -2</vt:lpstr>
      <vt:lpstr>K8s deployment YAML -3</vt:lpstr>
      <vt:lpstr>kubectl get pods -1</vt:lpstr>
      <vt:lpstr>kubectl get pods -2</vt:lpstr>
      <vt:lpstr>kubectl get deployment -1</vt:lpstr>
      <vt:lpstr>kubectl get deployment -2</vt:lpstr>
      <vt:lpstr>在pod執行操作 -1</vt:lpstr>
      <vt:lpstr>在pod執行操作 -2</vt:lpstr>
      <vt:lpstr>Pod訊息</vt:lpstr>
      <vt:lpstr>K8s service yaml -1</vt:lpstr>
      <vt:lpstr>K8s service yaml -2</vt:lpstr>
      <vt:lpstr>實作2 K8s Service Expose -4</vt:lpstr>
      <vt:lpstr>Service ports 介紹</vt:lpstr>
      <vt:lpstr>App間互相呼叫，已Web 呼叫API為例</vt:lpstr>
      <vt:lpstr>查看 k8s Service 詳細資訊 </vt:lpstr>
      <vt:lpstr>K8s 系統資訊</vt:lpstr>
      <vt:lpstr>Kubernetes Namespace (縮寫：ns)</vt:lpstr>
      <vt:lpstr>Kubernetes Namespace</vt:lpstr>
      <vt:lpstr>Volume: hostpath -1</vt:lpstr>
      <vt:lpstr>Volume: hostpath -2</vt:lpstr>
      <vt:lpstr>Install nfs server on rancher server</vt:lpstr>
      <vt:lpstr>K8s server install mount package</vt:lpstr>
      <vt:lpstr>Volume: NFS -1</vt:lpstr>
      <vt:lpstr>Volume: NFS -2</vt:lpstr>
      <vt:lpstr>Volume plugin 支援程度  </vt:lpstr>
      <vt:lpstr>K8s 資源使用率 </vt:lpstr>
      <vt:lpstr>DevOps</vt:lpstr>
      <vt:lpstr>模式 Dev + Ops</vt:lpstr>
      <vt:lpstr>Agile vs Waterfall</vt:lpstr>
      <vt:lpstr>CI/CD</vt:lpstr>
      <vt:lpstr>CI/CD 步驟</vt:lpstr>
      <vt:lpstr>Gitflow 開發流程圖</vt:lpstr>
      <vt:lpstr>Gitflow 分支定義</vt:lpstr>
      <vt:lpstr>Gitflow</vt:lpstr>
      <vt:lpstr>部署Gitlab</vt:lpstr>
      <vt:lpstr>Deploy GitLab server on VM1 docker</vt:lpstr>
      <vt:lpstr>Gitlab 參數講解 -1</vt:lpstr>
      <vt:lpstr>Gitlab 參數講解 -2</vt:lpstr>
      <vt:lpstr>Gitlab 參數講解 -3</vt:lpstr>
      <vt:lpstr>等待gitlab ready </vt:lpstr>
      <vt:lpstr>gitlab init password</vt:lpstr>
      <vt:lpstr>Gitlab login, username: root</vt:lpstr>
      <vt:lpstr>啟用 import project 功能</vt:lpstr>
      <vt:lpstr>勾選Repository by URL，並Save changes </vt:lpstr>
      <vt:lpstr>Gitlab UI </vt:lpstr>
      <vt:lpstr>Gitlab – Import Porject，選擇Repo by URL</vt:lpstr>
      <vt:lpstr>這邊用課程docker-devops 作為 import repo</vt:lpstr>
      <vt:lpstr>選擇建立專案</vt:lpstr>
      <vt:lpstr>專案建立後，準備設定Runner  到Settings -&gt; CI/CD</vt:lpstr>
      <vt:lpstr>點擊Runners，把token 保存下來</vt:lpstr>
      <vt:lpstr>Install Gitlab CI/CD Kubernetes Runner</vt:lpstr>
      <vt:lpstr>安裝Runner 前準備</vt:lpstr>
      <vt:lpstr>搜尋runner 版本</vt:lpstr>
      <vt:lpstr>Gitlab runner 設定檔 -1</vt:lpstr>
      <vt:lpstr>Gitlab runner 設定檔 -2</vt:lpstr>
      <vt:lpstr>Install gitlab runner on k8s by helm</vt:lpstr>
      <vt:lpstr>確認kubernetes runner 狀態</vt:lpstr>
      <vt:lpstr>Runner 準備完成</vt:lpstr>
      <vt:lpstr>步驟2. 匯入Kubeconfig 到 GitLab repo variables</vt:lpstr>
      <vt:lpstr>Kubeconfig file 轉成base64</vt:lpstr>
      <vt:lpstr>設定變數</vt:lpstr>
      <vt:lpstr>設定kubeconfig變數</vt:lpstr>
      <vt:lpstr>變數設定完成</vt:lpstr>
      <vt:lpstr>CI 取用 kubeconfig</vt:lpstr>
      <vt:lpstr>查看CI執行結果結果</vt:lpstr>
      <vt:lpstr>設定dockerhub username and password</vt:lpstr>
      <vt:lpstr>Gitlab CI YAML 說明</vt:lpstr>
      <vt:lpstr>.gitlab-ci.yml sample</vt:lpstr>
      <vt:lpstr>.gitlab-ci.yml Global (全域) keyword - stages</vt:lpstr>
      <vt:lpstr>.gitlab-ci.yml global keyword -2</vt:lpstr>
      <vt:lpstr>Gitlab Ci 預設變數</vt:lpstr>
      <vt:lpstr>.gitlab-ci.yml Jobs keyword -1</vt:lpstr>
      <vt:lpstr>.gitlab-ci.yml Jobs keyword -2</vt:lpstr>
      <vt:lpstr>.gitlab-ci.yml Jobs keyword -3</vt:lpstr>
      <vt:lpstr>.gitlab-ci.yml Jobs keyword -4</vt:lpstr>
      <vt:lpstr>Gitlab project pipeline status</vt:lpstr>
      <vt:lpstr>撰寫 .gitlab-ci.yml</vt:lpstr>
      <vt:lpstr>撰寫gitlab-ci.yml</vt:lpstr>
      <vt:lpstr>執行單元測試</vt:lpstr>
      <vt:lpstr>Job 查看單元測試執行結果</vt:lpstr>
      <vt:lpstr>Docker pipeline 狀態</vt:lpstr>
      <vt:lpstr>至Docker hub 檢查image 上傳</vt:lpstr>
      <vt:lpstr>設定全域變數</vt:lpstr>
      <vt:lpstr>部署 k8s namespace</vt:lpstr>
      <vt:lpstr>部署namespace 說明</vt:lpstr>
      <vt:lpstr>檢查namespace 建立</vt:lpstr>
      <vt:lpstr>平行並行: 部署k8s deployment 與 service</vt:lpstr>
      <vt:lpstr>K8s deployment</vt:lpstr>
      <vt:lpstr>Pipeline deployment</vt:lpstr>
      <vt:lpstr>K8s service</vt:lpstr>
      <vt:lpstr>Job 檢查service狀態</vt:lpstr>
      <vt:lpstr>檢查deployment 與 service </vt:lpstr>
      <vt:lpstr>至VM2 進行連線測試</vt:lpstr>
      <vt:lpstr>SonarQube</vt:lpstr>
      <vt:lpstr>SonarQube scan flow</vt:lpstr>
      <vt:lpstr>部署SonarQube server</vt:lpstr>
      <vt:lpstr>VM1 上部署SonarQube Server</vt:lpstr>
      <vt:lpstr>(SonarQube) SonaQube server頁面</vt:lpstr>
      <vt:lpstr>(SonarQube) SonaQube server login</vt:lpstr>
      <vt:lpstr>(SonarQube) SonaQube server 頁面</vt:lpstr>
      <vt:lpstr>(SonarQube)選擇gitlab project</vt:lpstr>
      <vt:lpstr>填入 api url及 personal access token</vt:lpstr>
      <vt:lpstr>取得GitLab personal access token</vt:lpstr>
      <vt:lpstr>(GitLab) Gitlab and Jenkins hook together – gitlab user 產生Access token - 1</vt:lpstr>
      <vt:lpstr>(GitLab) Gitlab and Jenkins hook together – 設定此token權限</vt:lpstr>
      <vt:lpstr>(GitLab) Gitlab and Jenkins hook together – 把token 另存</vt:lpstr>
      <vt:lpstr>(GitLab)Gitlab and Jenkins hook together – 得到token </vt:lpstr>
      <vt:lpstr>把Personal Access Token也填上</vt:lpstr>
      <vt:lpstr>SonarQube 能夠取得Gitlab repo資訊，點擊Set up作repo串接設定</vt:lpstr>
      <vt:lpstr>(SonarQube)選擇使用GitLab CI</vt:lpstr>
      <vt:lpstr>(SonarQube)選擇Python</vt:lpstr>
      <vt:lpstr>(SonarQube)保存projectKey</vt:lpstr>
      <vt:lpstr>回到Docker Devops repo</vt:lpstr>
      <vt:lpstr>(GitLab)編輯git repo裡的sonar-project.properties檔案，替換projectKey</vt:lpstr>
      <vt:lpstr>替換projectKey</vt:lpstr>
      <vt:lpstr>(GitLab)至gitlab project CI/CD 新增變數</vt:lpstr>
      <vt:lpstr>回到Sonarqube繼續</vt:lpstr>
      <vt:lpstr>(SonarQube)點擊Generate a token 產生一筆SonarQube token</vt:lpstr>
      <vt:lpstr>產生一把無期限的sonar project token</vt:lpstr>
      <vt:lpstr>保存sonar project token</vt:lpstr>
      <vt:lpstr>回到gitlab ci/cd variable，設定SONAR_TOKEN 與 SONAR_HOST_URL 兩個變數</vt:lpstr>
      <vt:lpstr>Gitlab/Settings/CICD/Variables</vt:lpstr>
      <vt:lpstr>(GitLab) 設定變數SONAR_HOST_URL: http://{VM1 外部 IP}:9000</vt:lpstr>
      <vt:lpstr>設定變數 SONAR_TOKEN</vt:lpstr>
      <vt:lpstr>變數檢查</vt:lpstr>
      <vt:lpstr>CICD與sonar串接完成．後續只要開始commit，pipeline就會開始執行</vt:lpstr>
      <vt:lpstr>New pipeline</vt:lpstr>
      <vt:lpstr>檢查Pipeline 執行SonarQube 狀態</vt:lpstr>
      <vt:lpstr>Pipeline執行SonarQube job，</vt:lpstr>
      <vt:lpstr>Sonar job</vt:lpstr>
      <vt:lpstr>檢查Sonarqube 掃描運行情況</vt:lpstr>
      <vt:lpstr>SonarQube 報告檢視</vt:lpstr>
      <vt:lpstr>docker build and push</vt:lpstr>
      <vt:lpstr>附錄Ａ：如何在putty 使用ssh key 登入</vt:lpstr>
      <vt:lpstr>附錄A: window login to cloud VM by putty – 下載Putty ，填入id@ip</vt:lpstr>
      <vt:lpstr>附錄A: window login to cloud VM by putty – 左邊Connectopn/SSH/Auth</vt:lpstr>
      <vt:lpstr>附錄A: window login to cloud VM by putty – 選擇Private key file auth</vt:lpstr>
      <vt:lpstr>附錄A: window login to cloud VM by putty – 選擇k8s.ppk</vt:lpstr>
      <vt:lpstr>附錄A: window login to cloud VM by putty – 即可登入</vt:lpstr>
      <vt:lpstr>附錄B dockerfile keyword</vt:lpstr>
      <vt:lpstr>Dockerfile Keyword -1</vt:lpstr>
      <vt:lpstr>Dockerfile Keyword -2</vt:lpstr>
      <vt:lpstr>Dockerfile Keyword -3</vt:lpstr>
      <vt:lpstr>Dockerfile Keyword -4</vt:lpstr>
      <vt:lpstr>Dockerfile Keyword -5</vt:lpstr>
      <vt:lpstr>Dockerfile Keyword -6</vt:lpstr>
      <vt:lpstr>Dockerfile Keyword -7</vt:lpstr>
      <vt:lpstr>Dockerfile Keyword -8</vt:lpstr>
      <vt:lpstr>附錄C: dockerfile multi-stage </vt:lpstr>
      <vt:lpstr>Dockerfile Multi-stage (docker 17.05以後版本)</vt:lpstr>
      <vt:lpstr>自己build Dockerfile: Java Spring with gradle</vt:lpstr>
      <vt:lpstr>Build Java Spring </vt:lpstr>
      <vt:lpstr>Run Java spring</vt:lpstr>
      <vt:lpstr>驗證 Java Spring</vt:lpstr>
      <vt:lpstr>自己build Dockerfile: VueJS</vt:lpstr>
      <vt:lpstr>附錄D: Helm</vt:lpstr>
      <vt:lpstr>Helm</vt:lpstr>
      <vt:lpstr>Install helm client on Ubuntu</vt:lpstr>
      <vt:lpstr>Helm 3 Deploy 流程</vt:lpstr>
      <vt:lpstr>Part A: 使用Helm 部署第三方軟體</vt:lpstr>
      <vt:lpstr>Artifacthub </vt:lpstr>
      <vt:lpstr>Artifacthub Search by Command</vt:lpstr>
      <vt:lpstr>Helm repoitroy</vt:lpstr>
      <vt:lpstr>Helm repo </vt:lpstr>
      <vt:lpstr>設定chart預設參數 - 以PostgreSQL 為例</vt:lpstr>
      <vt:lpstr>編輯參數檔</vt:lpstr>
      <vt:lpstr>準備nfs</vt:lpstr>
      <vt:lpstr>部署postgresql</vt:lpstr>
      <vt:lpstr>部署後狀態檢查</vt:lpstr>
      <vt:lpstr>移除</vt:lpstr>
      <vt:lpstr>調整 (升版)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周育緯 Yu Wei Chou</dc:creator>
  <cp:lastModifiedBy>育緯 周</cp:lastModifiedBy>
  <cp:revision>338</cp:revision>
  <dcterms:created xsi:type="dcterms:W3CDTF">2022-06-22T04:12:12Z</dcterms:created>
  <dcterms:modified xsi:type="dcterms:W3CDTF">2025-11-15T07:19:38Z</dcterms:modified>
</cp:coreProperties>
</file>