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4"/>
  </p:notesMasterIdLst>
  <p:sldIdLst>
    <p:sldId id="483" r:id="rId2"/>
    <p:sldId id="672" r:id="rId3"/>
    <p:sldId id="267" r:id="rId4"/>
    <p:sldId id="268" r:id="rId5"/>
    <p:sldId id="269" r:id="rId6"/>
    <p:sldId id="271" r:id="rId7"/>
    <p:sldId id="272" r:id="rId8"/>
    <p:sldId id="275" r:id="rId9"/>
    <p:sldId id="277" r:id="rId10"/>
    <p:sldId id="687" r:id="rId11"/>
    <p:sldId id="280" r:id="rId12"/>
    <p:sldId id="685" r:id="rId13"/>
    <p:sldId id="292" r:id="rId14"/>
    <p:sldId id="854" r:id="rId15"/>
    <p:sldId id="298" r:id="rId16"/>
    <p:sldId id="299" r:id="rId17"/>
    <p:sldId id="302" r:id="rId18"/>
    <p:sldId id="303" r:id="rId19"/>
    <p:sldId id="304" r:id="rId20"/>
    <p:sldId id="383" r:id="rId21"/>
    <p:sldId id="306" r:id="rId22"/>
    <p:sldId id="313" r:id="rId23"/>
    <p:sldId id="314" r:id="rId24"/>
    <p:sldId id="316" r:id="rId25"/>
    <p:sldId id="317" r:id="rId26"/>
    <p:sldId id="318" r:id="rId27"/>
    <p:sldId id="319" r:id="rId28"/>
    <p:sldId id="320" r:id="rId29"/>
    <p:sldId id="321" r:id="rId30"/>
    <p:sldId id="322" r:id="rId31"/>
    <p:sldId id="331" r:id="rId32"/>
    <p:sldId id="332" r:id="rId33"/>
    <p:sldId id="333" r:id="rId34"/>
    <p:sldId id="337" r:id="rId35"/>
    <p:sldId id="338" r:id="rId36"/>
    <p:sldId id="339" r:id="rId37"/>
    <p:sldId id="340" r:id="rId38"/>
    <p:sldId id="675" r:id="rId39"/>
    <p:sldId id="676" r:id="rId40"/>
    <p:sldId id="341" r:id="rId41"/>
    <p:sldId id="342" r:id="rId42"/>
    <p:sldId id="343" r:id="rId43"/>
    <p:sldId id="709" r:id="rId44"/>
    <p:sldId id="710" r:id="rId45"/>
    <p:sldId id="711" r:id="rId46"/>
    <p:sldId id="833" r:id="rId47"/>
    <p:sldId id="850" r:id="rId48"/>
    <p:sldId id="838" r:id="rId49"/>
    <p:sldId id="835" r:id="rId50"/>
    <p:sldId id="836" r:id="rId51"/>
    <p:sldId id="837" r:id="rId52"/>
    <p:sldId id="834" r:id="rId53"/>
    <p:sldId id="336" r:id="rId54"/>
    <p:sldId id="353" r:id="rId55"/>
    <p:sldId id="354" r:id="rId56"/>
    <p:sldId id="355" r:id="rId57"/>
    <p:sldId id="357" r:id="rId58"/>
    <p:sldId id="361" r:id="rId59"/>
    <p:sldId id="674" r:id="rId60"/>
    <p:sldId id="358" r:id="rId61"/>
    <p:sldId id="359" r:id="rId62"/>
    <p:sldId id="360" r:id="rId63"/>
    <p:sldId id="362" r:id="rId64"/>
    <p:sldId id="363" r:id="rId65"/>
    <p:sldId id="364" r:id="rId66"/>
    <p:sldId id="365" r:id="rId67"/>
    <p:sldId id="371" r:id="rId68"/>
    <p:sldId id="369" r:id="rId69"/>
    <p:sldId id="370" r:id="rId70"/>
    <p:sldId id="677" r:id="rId71"/>
    <p:sldId id="678" r:id="rId72"/>
    <p:sldId id="679" r:id="rId73"/>
    <p:sldId id="680" r:id="rId74"/>
    <p:sldId id="584" r:id="rId75"/>
    <p:sldId id="681" r:id="rId76"/>
    <p:sldId id="397" r:id="rId77"/>
    <p:sldId id="398" r:id="rId78"/>
    <p:sldId id="396" r:id="rId79"/>
    <p:sldId id="403" r:id="rId80"/>
    <p:sldId id="404" r:id="rId81"/>
    <p:sldId id="405" r:id="rId82"/>
    <p:sldId id="406" r:id="rId83"/>
    <p:sldId id="407" r:id="rId84"/>
    <p:sldId id="408" r:id="rId85"/>
    <p:sldId id="484" r:id="rId86"/>
    <p:sldId id="409" r:id="rId87"/>
    <p:sldId id="485" r:id="rId88"/>
    <p:sldId id="487" r:id="rId89"/>
    <p:sldId id="495" r:id="rId90"/>
    <p:sldId id="496" r:id="rId91"/>
    <p:sldId id="498" r:id="rId92"/>
    <p:sldId id="499" r:id="rId93"/>
    <p:sldId id="500" r:id="rId94"/>
    <p:sldId id="501" r:id="rId95"/>
    <p:sldId id="464" r:id="rId96"/>
    <p:sldId id="257" r:id="rId97"/>
    <p:sldId id="465" r:id="rId98"/>
    <p:sldId id="466" r:id="rId99"/>
    <p:sldId id="467" r:id="rId100"/>
    <p:sldId id="694" r:id="rId101"/>
    <p:sldId id="468" r:id="rId102"/>
    <p:sldId id="469" r:id="rId103"/>
    <p:sldId id="695" r:id="rId104"/>
    <p:sldId id="696" r:id="rId105"/>
    <p:sldId id="470" r:id="rId106"/>
    <p:sldId id="471" r:id="rId107"/>
    <p:sldId id="472" r:id="rId108"/>
    <p:sldId id="473" r:id="rId109"/>
    <p:sldId id="682" r:id="rId110"/>
    <p:sldId id="683" r:id="rId111"/>
    <p:sldId id="507" r:id="rId112"/>
    <p:sldId id="852" r:id="rId113"/>
    <p:sldId id="508" r:id="rId114"/>
    <p:sldId id="513" r:id="rId115"/>
    <p:sldId id="623" r:id="rId116"/>
    <p:sldId id="624" r:id="rId117"/>
    <p:sldId id="510" r:id="rId118"/>
    <p:sldId id="512" r:id="rId119"/>
    <p:sldId id="511" r:id="rId120"/>
    <p:sldId id="851" r:id="rId121"/>
    <p:sldId id="841" r:id="rId122"/>
    <p:sldId id="842" r:id="rId123"/>
    <p:sldId id="843" r:id="rId124"/>
    <p:sldId id="840" r:id="rId125"/>
    <p:sldId id="844" r:id="rId126"/>
    <p:sldId id="845" r:id="rId127"/>
    <p:sldId id="619" r:id="rId128"/>
    <p:sldId id="515" r:id="rId129"/>
    <p:sldId id="620" r:id="rId130"/>
    <p:sldId id="514" r:id="rId131"/>
    <p:sldId id="621" r:id="rId132"/>
    <p:sldId id="617" r:id="rId133"/>
    <p:sldId id="618" r:id="rId134"/>
    <p:sldId id="626" r:id="rId135"/>
    <p:sldId id="622" r:id="rId136"/>
    <p:sldId id="475" r:id="rId137"/>
    <p:sldId id="476" r:id="rId138"/>
    <p:sldId id="477" r:id="rId139"/>
    <p:sldId id="482" r:id="rId140"/>
    <p:sldId id="478" r:id="rId141"/>
    <p:sldId id="479" r:id="rId142"/>
    <p:sldId id="480" r:id="rId143"/>
    <p:sldId id="691" r:id="rId144"/>
    <p:sldId id="481" r:id="rId145"/>
    <p:sldId id="673" r:id="rId146"/>
    <p:sldId id="643" r:id="rId147"/>
    <p:sldId id="641" r:id="rId148"/>
    <p:sldId id="642" r:id="rId149"/>
    <p:sldId id="628" r:id="rId150"/>
    <p:sldId id="629" r:id="rId151"/>
    <p:sldId id="631" r:id="rId152"/>
    <p:sldId id="634" r:id="rId153"/>
    <p:sldId id="630" r:id="rId154"/>
    <p:sldId id="636" r:id="rId155"/>
    <p:sldId id="632" r:id="rId156"/>
    <p:sldId id="846" r:id="rId157"/>
    <p:sldId id="847" r:id="rId158"/>
    <p:sldId id="848" r:id="rId159"/>
    <p:sldId id="849" r:id="rId160"/>
    <p:sldId id="633" r:id="rId161"/>
    <p:sldId id="637" r:id="rId162"/>
    <p:sldId id="635" r:id="rId163"/>
    <p:sldId id="639" r:id="rId164"/>
    <p:sldId id="638" r:id="rId165"/>
    <p:sldId id="640" r:id="rId166"/>
    <p:sldId id="644" r:id="rId167"/>
    <p:sldId id="645" r:id="rId168"/>
    <p:sldId id="692" r:id="rId169"/>
    <p:sldId id="646" r:id="rId170"/>
    <p:sldId id="647" r:id="rId171"/>
    <p:sldId id="648" r:id="rId172"/>
    <p:sldId id="649" r:id="rId173"/>
    <p:sldId id="654" r:id="rId174"/>
    <p:sldId id="697" r:id="rId175"/>
    <p:sldId id="655" r:id="rId176"/>
    <p:sldId id="656" r:id="rId177"/>
    <p:sldId id="657" r:id="rId178"/>
    <p:sldId id="658" r:id="rId179"/>
    <p:sldId id="659" r:id="rId180"/>
    <p:sldId id="698" r:id="rId181"/>
    <p:sldId id="660" r:id="rId182"/>
    <p:sldId id="661" r:id="rId183"/>
    <p:sldId id="662" r:id="rId184"/>
    <p:sldId id="664" r:id="rId185"/>
    <p:sldId id="699" r:id="rId186"/>
    <p:sldId id="663" r:id="rId187"/>
    <p:sldId id="700" r:id="rId188"/>
    <p:sldId id="665" r:id="rId189"/>
    <p:sldId id="701" r:id="rId190"/>
    <p:sldId id="666" r:id="rId191"/>
    <p:sldId id="702" r:id="rId192"/>
    <p:sldId id="703" r:id="rId193"/>
    <p:sldId id="705" r:id="rId194"/>
    <p:sldId id="704" r:id="rId195"/>
    <p:sldId id="668" r:id="rId196"/>
    <p:sldId id="669" r:id="rId197"/>
    <p:sldId id="667" r:id="rId198"/>
    <p:sldId id="706" r:id="rId199"/>
    <p:sldId id="707" r:id="rId200"/>
    <p:sldId id="670" r:id="rId201"/>
    <p:sldId id="693" r:id="rId202"/>
    <p:sldId id="708" r:id="rId203"/>
    <p:sldId id="671" r:id="rId204"/>
    <p:sldId id="653" r:id="rId205"/>
    <p:sldId id="627" r:id="rId206"/>
    <p:sldId id="686" r:id="rId207"/>
    <p:sldId id="502" r:id="rId208"/>
    <p:sldId id="503" r:id="rId209"/>
    <p:sldId id="504" r:id="rId210"/>
    <p:sldId id="505" r:id="rId211"/>
    <p:sldId id="506" r:id="rId212"/>
    <p:sldId id="684" r:id="rId213"/>
    <p:sldId id="281" r:id="rId214"/>
    <p:sldId id="282" r:id="rId215"/>
    <p:sldId id="283" r:id="rId216"/>
    <p:sldId id="284" r:id="rId217"/>
    <p:sldId id="285" r:id="rId218"/>
    <p:sldId id="286" r:id="rId219"/>
    <p:sldId id="287" r:id="rId220"/>
    <p:sldId id="288" r:id="rId221"/>
    <p:sldId id="853" r:id="rId222"/>
    <p:sldId id="289" r:id="rId223"/>
    <p:sldId id="293" r:id="rId224"/>
    <p:sldId id="294" r:id="rId225"/>
    <p:sldId id="295" r:id="rId226"/>
    <p:sldId id="296" r:id="rId227"/>
    <p:sldId id="516" r:id="rId228"/>
    <p:sldId id="517" r:id="rId229"/>
    <p:sldId id="593" r:id="rId230"/>
    <p:sldId id="604" r:id="rId231"/>
    <p:sldId id="616" r:id="rId232"/>
    <p:sldId id="607" r:id="rId233"/>
    <p:sldId id="608" r:id="rId234"/>
    <p:sldId id="605" r:id="rId235"/>
    <p:sldId id="606" r:id="rId236"/>
    <p:sldId id="609" r:id="rId237"/>
    <p:sldId id="611" r:id="rId238"/>
    <p:sldId id="613" r:id="rId239"/>
    <p:sldId id="612" r:id="rId240"/>
    <p:sldId id="614" r:id="rId241"/>
    <p:sldId id="615" r:id="rId242"/>
    <p:sldId id="625" r:id="rId24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906" autoAdjust="0"/>
    <p:restoredTop sz="94660"/>
  </p:normalViewPr>
  <p:slideViewPr>
    <p:cSldViewPr snapToGrid="0">
      <p:cViewPr varScale="1">
        <p:scale>
          <a:sx n="139" d="100"/>
          <a:sy n="139" d="100"/>
        </p:scale>
        <p:origin x="3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26" Type="http://schemas.openxmlformats.org/officeDocument/2006/relationships/slide" Target="slides/slide225.xml"/><Relationship Id="rId247" Type="http://schemas.openxmlformats.org/officeDocument/2006/relationships/theme" Target="theme/theme1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37" Type="http://schemas.openxmlformats.org/officeDocument/2006/relationships/slide" Target="slides/slide236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slide" Target="slides/slide226.xml"/><Relationship Id="rId248" Type="http://schemas.openxmlformats.org/officeDocument/2006/relationships/tableStyles" Target="tableStyles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8" Type="http://schemas.openxmlformats.org/officeDocument/2006/relationships/slide" Target="slides/slide237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28" Type="http://schemas.openxmlformats.org/officeDocument/2006/relationships/slide" Target="slides/slide227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39" Type="http://schemas.openxmlformats.org/officeDocument/2006/relationships/slide" Target="slides/slide238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240" Type="http://schemas.openxmlformats.org/officeDocument/2006/relationships/slide" Target="slides/slide239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230" Type="http://schemas.openxmlformats.org/officeDocument/2006/relationships/slide" Target="slides/slide229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220" Type="http://schemas.openxmlformats.org/officeDocument/2006/relationships/slide" Target="slides/slide219.xml"/><Relationship Id="rId241" Type="http://schemas.openxmlformats.org/officeDocument/2006/relationships/slide" Target="slides/slide24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slide" Target="slides/slide241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slide" Target="slides/slide242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244" Type="http://schemas.openxmlformats.org/officeDocument/2006/relationships/notesMaster" Target="notesMasters/notesMaster1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slide" Target="slides/slide233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5" Type="http://schemas.openxmlformats.org/officeDocument/2006/relationships/presProps" Target="presProps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5" Type="http://schemas.openxmlformats.org/officeDocument/2006/relationships/slide" Target="slides/slide234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5" Type="http://schemas.openxmlformats.org/officeDocument/2006/relationships/slide" Target="slides/slide224.xml"/><Relationship Id="rId246" Type="http://schemas.openxmlformats.org/officeDocument/2006/relationships/viewProps" Target="viewProps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560F9E-2C52-4A6B-9505-C8F649FFF1BC}" type="datetimeFigureOut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88490F-DBA6-42F2-82A8-38CF4AC1DA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7978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Hypervisor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913319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虛擬化通常都是透過在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Host OS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上安裝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hypervisor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，由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hypervisor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來管理不同虛擬主機，每個虛擬主機都需要安裝不同的作業系統。</a:t>
            </a:r>
            <a:endParaRPr lang="en-US" altLang="zh-TW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Docker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提供應用程式在獨立的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container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中執行，這些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container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並不需要像虛擬化一樣額外依附在 </a:t>
            </a:r>
            <a:r>
              <a:rPr lang="en-US" altLang="zh-TW" sz="1200" u="none" strike="noStrike" kern="1200" dirty="0">
                <a:solidFill>
                  <a:schemeClr val="tx1"/>
                </a:solidFill>
                <a:effectLst/>
                <a:ea typeface="+mn-ea"/>
                <a:cs typeface="+mn-cs"/>
                <a:hlinkClick r:id="rId3"/>
              </a:rPr>
              <a:t>hypervisor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 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或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guest OS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上，是透過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Docker Engine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來進行管理。</a:t>
            </a:r>
            <a:endParaRPr kumimoji="1"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693208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15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180224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17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912276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31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956547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63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52533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65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982843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217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451386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1159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7E13B-DEAC-054A-8130-8E0036F6E4E3}" type="datetime1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687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125F7-AC24-E945-B7A7-8CC2D9084ECD}" type="datetime1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7389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1D11B-6F12-CC47-B80C-C5747FB8050A}" type="datetime1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7474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943F2-58DA-254F-AF77-D26061A42152}" type="datetime1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0202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E4E74-A11E-6C43-A4C9-E711979101D9}" type="datetime1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7455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16FD6-77EE-DD49-B964-FD028CA3B7E2}" type="datetime1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1014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8D18E-CBDA-324A-A70B-9298E8D10ABC}" type="datetime1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7352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98FC1-8DD1-8748-8B13-C95FF8DF58D8}" type="datetime1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0935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B5E43-8159-9844-AAE4-1003901C1A0D}" type="datetime1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8204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A4772-946D-FD4B-9BD5-2731E73D6614}" type="datetime1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4180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AD45C-38F6-C44D-B24B-188342396C08}" type="datetime1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3271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5A6F19-B8F2-8740-B0A2-1C977FBE1EAE}" type="datetime1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4303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oo.gl/Rqck1q" TargetMode="External"/><Relationship Id="rId2" Type="http://schemas.openxmlformats.org/officeDocument/2006/relationships/hyperlink" Target="https://github.com/demoyuw/docker-devop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eurl.cc/ln5QNQ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mailto:demoyuw@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platformer-blog/practical-guide-on-writing-a-dockerfile-for-your-application-89376f88b3b5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emoyuw/docker-devops.git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35.188.47.40:10443/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hyperlink" Target="https://kubernetes.io/docs/tasks/tools/install-kubectl/" TargetMode="Externa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hyperlink" Target="https://github.com/demoyuw/docker-devops.git" TargetMode="Externa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hyperlink" Target="https://charts.gitlab.io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hyperlink" Target="http://10.128.0.10/" TargetMode="Externa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itlab.com/ci/variables/predefined_variables/" TargetMode="Externa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9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/Relationships>
</file>

<file path=ppt/slides/_rels/slide2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png"/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2.xml"/></Relationships>
</file>

<file path=ppt/slides/_rels/slide2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2.xml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2.xml"/></Relationships>
</file>

<file path=ppt/slides/_rels/slide2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2.xml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png"/><Relationship Id="rId2" Type="http://schemas.openxmlformats.org/officeDocument/2006/relationships/hyperlink" Target="https://artifacthub.io/" TargetMode="External"/><Relationship Id="rId1" Type="http://schemas.openxmlformats.org/officeDocument/2006/relationships/slideLayout" Target="../slideLayouts/slideLayout2.xml"/></Relationships>
</file>

<file path=ppt/slides/_rels/slide2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2.xml"/></Relationships>
</file>

<file path=ppt/slides/_rels/slide2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png"/><Relationship Id="rId2" Type="http://schemas.openxmlformats.org/officeDocument/2006/relationships/hyperlink" Target="https://charts.bitnami.com/bitnami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0.png"/></Relationships>
</file>

<file path=ppt/slides/_rels/slide2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2.xml"/></Relationships>
</file>

<file path=ppt/slides/_rels/slide2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2.xml"/></Relationships>
</file>

<file path=ppt/slides/_rels/slide2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2.xml"/></Relationships>
</file>

<file path=ppt/slides/_rels/slide2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2.xml"/></Relationships>
</file>

<file path=ppt/slides/_rels/slide2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b="1" i="0" dirty="0">
                <a:solidFill>
                  <a:srgbClr val="393939"/>
                </a:solidFill>
                <a:effectLst/>
                <a:latin typeface="Noto Sans JP"/>
              </a:rPr>
              <a:t>凱基證劵</a:t>
            </a:r>
            <a:br>
              <a:rPr lang="en-US" altLang="zh-TW" b="1" i="0" dirty="0">
                <a:solidFill>
                  <a:srgbClr val="393939"/>
                </a:solidFill>
                <a:effectLst/>
                <a:latin typeface="Noto Sans JP"/>
              </a:rPr>
            </a:br>
            <a:r>
              <a:rPr lang="zh-TW" alt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現代化</a:t>
            </a:r>
            <a:r>
              <a:rPr lang="zh-TW" altLang="en-US" b="1" i="0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 </a:t>
            </a:r>
            <a:r>
              <a:rPr lang="en" altLang="zh-TW" b="1" i="0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DevOps </a:t>
            </a:r>
            <a:r>
              <a:rPr lang="zh-TW" alt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實戰課程</a:t>
            </a:r>
            <a:endParaRPr lang="zh-TW" altLang="en-US" b="1" i="0" dirty="0">
              <a:solidFill>
                <a:srgbClr val="393939"/>
              </a:solidFill>
              <a:effectLst/>
              <a:latin typeface="Noto Sans JP"/>
            </a:endParaRPr>
          </a:p>
        </p:txBody>
      </p:sp>
      <p:sp>
        <p:nvSpPr>
          <p:cNvPr id="5" name="副標題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講師</a:t>
            </a:r>
            <a:r>
              <a:rPr lang="en-US" altLang="zh-TW" dirty="0"/>
              <a:t>: </a:t>
            </a:r>
            <a:r>
              <a:rPr lang="zh-TW" altLang="en-US" dirty="0"/>
              <a:t>周育緯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5C0D22F-1BFA-CAE8-5F21-1DF2980A9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843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D82D91-D711-3550-1FBD-938EEEB66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課程大綱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AEE1527-7DAC-38EB-16E3-FAC15B1738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Docker &amp; Kubernetes</a:t>
            </a:r>
          </a:p>
          <a:p>
            <a:r>
              <a:rPr kumimoji="1" lang="en-US" altLang="zh-TW" dirty="0"/>
              <a:t>GitLab CI/CD</a:t>
            </a:r>
          </a:p>
          <a:p>
            <a:pPr lvl="1"/>
            <a:r>
              <a:rPr kumimoji="1" lang="zh-TW" altLang="en-US" dirty="0"/>
              <a:t>環境部署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Docker image build and push</a:t>
            </a:r>
          </a:p>
          <a:p>
            <a:pPr lvl="1"/>
            <a:r>
              <a:rPr kumimoji="1" lang="zh-TW" altLang="en-US" dirty="0"/>
              <a:t>單元測試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SonarQube</a:t>
            </a:r>
          </a:p>
          <a:p>
            <a:pPr lvl="1"/>
            <a:r>
              <a:rPr kumimoji="1" lang="zh-TW" altLang="en-US" dirty="0"/>
              <a:t>部署</a:t>
            </a:r>
            <a:r>
              <a:rPr kumimoji="1" lang="en-US" altLang="zh-TW" dirty="0"/>
              <a:t>Deployment </a:t>
            </a:r>
            <a:r>
              <a:rPr kumimoji="1" lang="zh-TW" altLang="en-US" dirty="0"/>
              <a:t>與</a:t>
            </a:r>
            <a:r>
              <a:rPr kumimoji="1" lang="en-US" altLang="zh-TW" dirty="0"/>
              <a:t>Service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7B1C3B0-17FA-758D-55F2-F2EBC07F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3524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標題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課程資源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279" name="內容版面配置區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Source code</a:t>
            </a:r>
          </a:p>
          <a:p>
            <a:pPr marL="742950" lvl="1" indent="-285750"/>
            <a:r>
              <a:rPr u="sng" dirty="0">
                <a:solidFill>
                  <a:srgbClr val="58C1BA"/>
                </a:solidFill>
                <a:uFill>
                  <a:solidFill>
                    <a:srgbClr val="58C1BA"/>
                  </a:solidFill>
                </a:uFill>
                <a:hlinkClick r:id="rId2"/>
              </a:rPr>
              <a:t>https://github.com/demoyuw/docker-devops</a:t>
            </a:r>
          </a:p>
          <a:p>
            <a:pPr>
              <a:defRPr sz="3600"/>
            </a:pPr>
            <a:r>
              <a:rPr u="sng" dirty="0">
                <a:solidFill>
                  <a:srgbClr val="58C1BA"/>
                </a:solidFill>
                <a:uFill>
                  <a:solidFill>
                    <a:srgbClr val="58C1BA"/>
                  </a:solidFill>
                </a:uFill>
                <a:latin typeface="+mj-lt"/>
                <a:ea typeface="+mj-ea"/>
                <a:cs typeface="+mj-cs"/>
                <a:sym typeface="Helvetica"/>
                <a:hlinkClick r:id="rId3"/>
              </a:rPr>
              <a:t>虛擬機資源</a:t>
            </a:r>
          </a:p>
          <a:p>
            <a:pPr marL="742950" lvl="1" indent="-285750"/>
            <a:r>
              <a:rPr lang="en" altLang="zh-TW" b="0" i="0" u="sng" dirty="0">
                <a:solidFill>
                  <a:srgbClr val="4493F8"/>
                </a:solidFill>
                <a:effectLst/>
                <a:latin typeface="Mona Sans VF"/>
                <a:hlinkClick r:id="rId4"/>
              </a:rPr>
              <a:t>https://reurl.cc/ln5QNQ</a:t>
            </a:r>
            <a:endParaRPr lang="en" altLang="zh-TW" b="0" i="0" u="sng" dirty="0">
              <a:solidFill>
                <a:srgbClr val="4493F8"/>
              </a:solidFill>
              <a:effectLst/>
              <a:latin typeface="Mona Sans VF"/>
            </a:endParaRPr>
          </a:p>
          <a:p>
            <a:pPr marL="742950" lvl="1" indent="-285750"/>
            <a:r>
              <a:rPr dirty="0" err="1">
                <a:latin typeface="+mj-lt"/>
                <a:ea typeface="+mj-ea"/>
                <a:cs typeface="+mj-cs"/>
                <a:sym typeface="Helvetica"/>
              </a:rPr>
              <a:t>選擇編號，後面註記使用人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280" name="日期預留位置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6A982AA-DF2D-0A27-40A3-7C1EFB828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4793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ssh</a:t>
            </a:r>
            <a:r>
              <a:rPr dirty="0"/>
              <a:t>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登入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284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39470" indent="-339470" defTabSz="452627">
              <a:lnSpc>
                <a:spcPct val="80000"/>
              </a:lnSpc>
              <a:spcBef>
                <a:spcPts val="900"/>
              </a:spcBef>
              <a:defRPr sz="2871"/>
            </a:pPr>
            <a:r>
              <a:rPr dirty="0"/>
              <a:t>Linux </a:t>
            </a:r>
          </a:p>
          <a:p>
            <a:pPr marL="735520" lvl="1" indent="-282892" defTabSz="452627">
              <a:lnSpc>
                <a:spcPct val="80000"/>
              </a:lnSpc>
              <a:spcBef>
                <a:spcPts val="900"/>
              </a:spcBef>
              <a:defRPr sz="2673"/>
            </a:pPr>
            <a:r>
              <a:rPr dirty="0"/>
              <a:t>mv k8s.key ~/.</a:t>
            </a:r>
            <a:r>
              <a:rPr dirty="0" err="1"/>
              <a:t>ssh</a:t>
            </a:r>
            <a:r>
              <a:rPr dirty="0"/>
              <a:t>/</a:t>
            </a:r>
            <a:endParaRPr sz="2475" dirty="0"/>
          </a:p>
          <a:p>
            <a:pPr marL="735520" lvl="1" indent="-282892" defTabSz="452627">
              <a:lnSpc>
                <a:spcPct val="80000"/>
              </a:lnSpc>
              <a:spcBef>
                <a:spcPts val="900"/>
              </a:spcBef>
              <a:defRPr sz="2673"/>
            </a:pPr>
            <a:r>
              <a:rPr dirty="0" err="1"/>
              <a:t>chmod</a:t>
            </a:r>
            <a:r>
              <a:rPr dirty="0"/>
              <a:t> 600 ~/.</a:t>
            </a:r>
            <a:r>
              <a:rPr dirty="0" err="1"/>
              <a:t>ssh</a:t>
            </a:r>
            <a:r>
              <a:rPr dirty="0"/>
              <a:t>/k8s.key</a:t>
            </a:r>
            <a:endParaRPr sz="2475" dirty="0"/>
          </a:p>
          <a:p>
            <a:pPr marL="735520" lvl="1" indent="-282892" defTabSz="452627">
              <a:lnSpc>
                <a:spcPct val="80000"/>
              </a:lnSpc>
              <a:spcBef>
                <a:spcPts val="900"/>
              </a:spcBef>
              <a:defRPr sz="2673"/>
            </a:pPr>
            <a:r>
              <a:rPr dirty="0" err="1"/>
              <a:t>ssh</a:t>
            </a:r>
            <a:r>
              <a:rPr dirty="0"/>
              <a:t> </a:t>
            </a:r>
            <a:r>
              <a:rPr lang="en-US" altLang="zh-TW" dirty="0"/>
              <a:t>-</a:t>
            </a:r>
            <a:r>
              <a:rPr dirty="0" err="1"/>
              <a:t>i</a:t>
            </a:r>
            <a:r>
              <a:rPr dirty="0"/>
              <a:t> ~/.</a:t>
            </a:r>
            <a:r>
              <a:rPr dirty="0" err="1"/>
              <a:t>ssh</a:t>
            </a:r>
            <a:r>
              <a:rPr dirty="0"/>
              <a:t>/k8s.key </a:t>
            </a:r>
            <a:r>
              <a:rPr u="sng" dirty="0">
                <a:solidFill>
                  <a:srgbClr val="58C1BA"/>
                </a:solidFill>
                <a:uFill>
                  <a:solidFill>
                    <a:srgbClr val="58C1BA"/>
                  </a:solidFill>
                </a:uFill>
                <a:hlinkClick r:id="rId2"/>
              </a:rPr>
              <a:t>demoyuw@</a:t>
            </a:r>
            <a:r>
              <a:rPr dirty="0"/>
              <a:t>{</a:t>
            </a:r>
            <a:r>
              <a:rPr dirty="0" err="1"/>
              <a:t>VM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的外部</a:t>
            </a:r>
            <a:r>
              <a:rPr dirty="0" err="1"/>
              <a:t>IP</a:t>
            </a:r>
            <a:r>
              <a:rPr dirty="0"/>
              <a:t>}</a:t>
            </a:r>
            <a:endParaRPr sz="2475" dirty="0"/>
          </a:p>
          <a:p>
            <a:pPr marL="1131569" lvl="2" indent="-226313" defTabSz="452627">
              <a:lnSpc>
                <a:spcPct val="80000"/>
              </a:lnSpc>
              <a:spcBef>
                <a:spcPts val="900"/>
              </a:spcBef>
              <a:defRPr sz="2376"/>
            </a:pPr>
            <a:r>
              <a:rPr dirty="0"/>
              <a:t>Ex: </a:t>
            </a:r>
            <a:r>
              <a:rPr dirty="0" err="1"/>
              <a:t>ssh</a:t>
            </a:r>
            <a:r>
              <a:rPr dirty="0"/>
              <a:t> </a:t>
            </a:r>
            <a:r>
              <a:rPr lang="en-US" altLang="zh-TW" dirty="0"/>
              <a:t>-</a:t>
            </a:r>
            <a:r>
              <a:rPr dirty="0" err="1"/>
              <a:t>i</a:t>
            </a:r>
            <a:r>
              <a:rPr dirty="0"/>
              <a:t> ~/.</a:t>
            </a:r>
            <a:r>
              <a:rPr dirty="0" err="1"/>
              <a:t>ssh</a:t>
            </a:r>
            <a:r>
              <a:rPr dirty="0"/>
              <a:t>/k8s.key demoyuw@140.92.174.32</a:t>
            </a:r>
            <a:endParaRPr sz="2178" dirty="0"/>
          </a:p>
          <a:p>
            <a:pPr marL="339470" indent="-339470" defTabSz="452627">
              <a:lnSpc>
                <a:spcPct val="80000"/>
              </a:lnSpc>
              <a:spcBef>
                <a:spcPts val="900"/>
              </a:spcBef>
              <a:defRPr sz="2871"/>
            </a:pPr>
            <a:r>
              <a:rPr dirty="0"/>
              <a:t>Windows</a:t>
            </a:r>
          </a:p>
          <a:p>
            <a:pPr marL="735520" lvl="1" indent="-282892" defTabSz="452627">
              <a:lnSpc>
                <a:spcPct val="80000"/>
              </a:lnSpc>
              <a:spcBef>
                <a:spcPts val="900"/>
              </a:spcBef>
              <a:defRPr sz="2673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參考附檔</a:t>
            </a:r>
            <a:r>
              <a:rPr dirty="0"/>
              <a:t> </a:t>
            </a:r>
            <a:endParaRPr sz="2475" dirty="0"/>
          </a:p>
          <a:p>
            <a:pPr marL="735520" lvl="1" indent="-282892" defTabSz="452627">
              <a:lnSpc>
                <a:spcPct val="80000"/>
              </a:lnSpc>
              <a:spcBef>
                <a:spcPts val="900"/>
              </a:spcBef>
              <a:defRPr sz="2673"/>
            </a:pPr>
            <a:r>
              <a:rPr u="sng" dirty="0">
                <a:solidFill>
                  <a:srgbClr val="58C1BA"/>
                </a:solidFill>
                <a:uFill>
                  <a:solidFill>
                    <a:srgbClr val="58C1BA"/>
                  </a:solidFill>
                </a:uFill>
                <a:hlinkClick r:id="rId2"/>
              </a:rPr>
              <a:t>demoyuw@</a:t>
            </a:r>
            <a:r>
              <a:rPr dirty="0"/>
              <a:t>{</a:t>
            </a:r>
            <a:r>
              <a:rPr dirty="0" err="1"/>
              <a:t>VM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的外部</a:t>
            </a:r>
            <a:r>
              <a:rPr dirty="0" err="1"/>
              <a:t>IP</a:t>
            </a:r>
            <a:r>
              <a:rPr dirty="0"/>
              <a:t>}</a:t>
            </a:r>
            <a:endParaRPr sz="2475" dirty="0"/>
          </a:p>
          <a:p>
            <a:pPr marL="1131569" lvl="2" indent="-226313" defTabSz="452627">
              <a:lnSpc>
                <a:spcPct val="80000"/>
              </a:lnSpc>
              <a:spcBef>
                <a:spcPts val="900"/>
              </a:spcBef>
              <a:defRPr sz="2376"/>
            </a:pPr>
            <a:r>
              <a:rPr dirty="0"/>
              <a:t>Ex: demoyuw@140.92.174.32</a:t>
            </a:r>
          </a:p>
        </p:txBody>
      </p:sp>
      <p:sp>
        <p:nvSpPr>
          <p:cNvPr id="285" name="日期預留位置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6082456-2430-428D-8057-DB35828C5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24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E552EAA0-14EC-A948-BCA2-EF27FC64D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Container </a:t>
            </a:r>
            <a:r>
              <a:rPr kumimoji="1" lang="zh-CN" altLang="en-US" dirty="0"/>
              <a:t>與</a:t>
            </a:r>
            <a:r>
              <a:rPr kumimoji="1" lang="en-US" altLang="zh-CN" dirty="0"/>
              <a:t>Docker</a:t>
            </a:r>
            <a:endParaRPr kumimoji="1" lang="zh-TW" altLang="en-US" dirty="0"/>
          </a:p>
        </p:txBody>
      </p:sp>
      <p:sp>
        <p:nvSpPr>
          <p:cNvPr id="5" name="文字預留位置 4">
            <a:extLst>
              <a:ext uri="{FF2B5EF4-FFF2-40B4-BE49-F238E27FC236}">
                <a16:creationId xmlns:a16="http://schemas.microsoft.com/office/drawing/2014/main" id="{D1E25086-60DC-7741-A7C5-C72AC2ED56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AA633D8-0EB8-9E8D-E13F-FC283D41D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9132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442C17-4634-494E-9E20-3A56B3F25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Container 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BE9010-5CC1-0B41-82CE-2F131BFA8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sz="3200" dirty="0"/>
              <a:t>作業系統層級虛擬化</a:t>
            </a:r>
            <a:endParaRPr kumimoji="1" lang="en-US" altLang="zh-CN" sz="3200" dirty="0"/>
          </a:p>
          <a:p>
            <a:r>
              <a:rPr kumimoji="1" lang="en-US" altLang="zh-CN" sz="3200" dirty="0"/>
              <a:t>Container </a:t>
            </a:r>
            <a:r>
              <a:rPr kumimoji="1" lang="zh-TW" altLang="en-US" sz="3200" dirty="0"/>
              <a:t>共用 </a:t>
            </a:r>
            <a:r>
              <a:rPr kumimoji="1" lang="en-US" altLang="zh-CN" sz="3200" dirty="0"/>
              <a:t>Host OS </a:t>
            </a:r>
            <a:r>
              <a:rPr kumimoji="1" lang="zh-TW" altLang="en-US" sz="3200" dirty="0"/>
              <a:t>的 </a:t>
            </a:r>
            <a:r>
              <a:rPr kumimoji="1" lang="en-US" altLang="zh-CN" sz="3200" dirty="0"/>
              <a:t>Linux Kernel</a:t>
            </a:r>
          </a:p>
          <a:p>
            <a:r>
              <a:rPr kumimoji="1" lang="zh-CN" altLang="en-US" sz="3200" dirty="0"/>
              <a:t>透過 </a:t>
            </a:r>
            <a:r>
              <a:rPr kumimoji="1" lang="en" altLang="zh-CN" sz="3200" dirty="0"/>
              <a:t>Linux Kernel </a:t>
            </a:r>
            <a:r>
              <a:rPr kumimoji="1" lang="zh-CN" altLang="en-US" sz="3200" dirty="0"/>
              <a:t>的 </a:t>
            </a:r>
            <a:r>
              <a:rPr kumimoji="1" lang="en" altLang="zh-CN" sz="3200" dirty="0"/>
              <a:t>Namespaces </a:t>
            </a:r>
            <a:r>
              <a:rPr kumimoji="1" lang="zh-CN" altLang="en-US" sz="3200" dirty="0"/>
              <a:t>與 </a:t>
            </a:r>
            <a:r>
              <a:rPr kumimoji="1" lang="en" altLang="zh-CN" sz="3200" dirty="0" err="1"/>
              <a:t>Cgroups</a:t>
            </a:r>
            <a:r>
              <a:rPr kumimoji="1" lang="en" altLang="zh-CN" sz="3200" dirty="0"/>
              <a:t> </a:t>
            </a:r>
            <a:r>
              <a:rPr kumimoji="1" lang="zh-CN" altLang="en-US" sz="3200" dirty="0"/>
              <a:t>提供隔離與資源管理</a:t>
            </a:r>
            <a:endParaRPr kumimoji="1" lang="en-US" altLang="zh-CN" sz="32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873B3BD-C414-B17C-5DCF-39C44F73E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5579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EE2992-6764-3548-99DF-9F29CF3A3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Container vs. Virtual Machine -1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B7B18FFD-45C6-D34D-9BD7-67F623496D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948525"/>
            <a:ext cx="10515600" cy="4105538"/>
          </a:xfr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305881C5-6E8B-2945-BD78-5BFC0D8BC89D}"/>
              </a:ext>
            </a:extLst>
          </p:cNvPr>
          <p:cNvSpPr txBox="1"/>
          <p:nvPr/>
        </p:nvSpPr>
        <p:spPr>
          <a:xfrm>
            <a:off x="990600" y="6096000"/>
            <a:ext cx="9585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latin typeface="Times New Roman" panose="02020603050405020304" pitchFamily="18" charset="0"/>
              </a:rPr>
              <a:t>圖片來源：</a:t>
            </a:r>
            <a:r>
              <a:rPr kumimoji="1" lang="en-US" altLang="zh-TW" dirty="0">
                <a:latin typeface="Times New Roman" panose="02020603050405020304" pitchFamily="18" charset="0"/>
              </a:rPr>
              <a:t>https://</a:t>
            </a:r>
            <a:r>
              <a:rPr kumimoji="1" lang="en-US" altLang="zh-TW" dirty="0" err="1">
                <a:latin typeface="Times New Roman" panose="02020603050405020304" pitchFamily="18" charset="0"/>
              </a:rPr>
              <a:t>www.docker.com</a:t>
            </a:r>
            <a:r>
              <a:rPr kumimoji="1" lang="en-US" altLang="zh-TW" dirty="0">
                <a:latin typeface="Times New Roman" panose="02020603050405020304" pitchFamily="18" charset="0"/>
              </a:rPr>
              <a:t>/what-container</a:t>
            </a:r>
            <a:endParaRPr kumimoji="1"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699F6B7-9CA9-9346-C9C5-985105DD2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5543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D95D11-C668-4A40-ACD3-D45D359F1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Container </a:t>
            </a:r>
            <a:r>
              <a:rPr kumimoji="1" lang="zh-CN" altLang="en-US" dirty="0"/>
              <a:t>製作流程</a:t>
            </a:r>
            <a:endParaRPr kumimoji="1" lang="zh-TW" altLang="en-US" dirty="0"/>
          </a:p>
        </p:txBody>
      </p:sp>
      <p:pic>
        <p:nvPicPr>
          <p:cNvPr id="7" name="內容版面配置區 6" descr="一張含有 螢幕擷取畫面 的圖片&#10;&#10;自動產生的描述">
            <a:extLst>
              <a:ext uri="{FF2B5EF4-FFF2-40B4-BE49-F238E27FC236}">
                <a16:creationId xmlns:a16="http://schemas.microsoft.com/office/drawing/2014/main" id="{843E4F28-540C-3346-8C1A-5AE557A8E2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2822" y="1825625"/>
            <a:ext cx="8786355" cy="4351338"/>
          </a:xfr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900B8156-2BD3-B546-83D1-289C0B70A11B}"/>
              </a:ext>
            </a:extLst>
          </p:cNvPr>
          <p:cNvSpPr txBox="1"/>
          <p:nvPr/>
        </p:nvSpPr>
        <p:spPr>
          <a:xfrm>
            <a:off x="0" y="6248400"/>
            <a:ext cx="12135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</a:rPr>
              <a:t>Source: </a:t>
            </a:r>
            <a:r>
              <a:rPr lang="en-US" altLang="zh-TW" dirty="0">
                <a:latin typeface="Times New Roman" panose="02020603050405020304" pitchFamily="18" charset="0"/>
                <a:hlinkClick r:id="rId3"/>
              </a:rPr>
              <a:t>https://medium.com/platformer-blog/practical-guide-on-writing-a-dockerfile-for-your-application-89376f88b3b5</a:t>
            </a:r>
            <a:endParaRPr kumimoji="1"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E08522B-3998-3CDA-61E6-8B5FAC0AE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7008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6C1F8B-4055-BD44-A7C5-7DD05E09C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image</a:t>
            </a:r>
            <a:r>
              <a:rPr kumimoji="1" lang="zh-CN" altLang="en-US" dirty="0"/>
              <a:t>堆疊</a:t>
            </a:r>
            <a:endParaRPr kumimoji="1" lang="zh-TW" altLang="en-US" dirty="0"/>
          </a:p>
        </p:txBody>
      </p:sp>
      <p:pic>
        <p:nvPicPr>
          <p:cNvPr id="7" name="內容版面配置區 6" descr="一張含有 文字, 時鐘 的圖片&#10;&#10;自動產生的描述">
            <a:extLst>
              <a:ext uri="{FF2B5EF4-FFF2-40B4-BE49-F238E27FC236}">
                <a16:creationId xmlns:a16="http://schemas.microsoft.com/office/drawing/2014/main" id="{212A935A-EE03-AB44-9219-09025B5C4E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3313" y="2698276"/>
            <a:ext cx="8947150" cy="2904485"/>
          </a:xfr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78E598CA-54B4-4743-A6DD-13294F25BEC8}"/>
              </a:ext>
            </a:extLst>
          </p:cNvPr>
          <p:cNvSpPr txBox="1"/>
          <p:nvPr/>
        </p:nvSpPr>
        <p:spPr>
          <a:xfrm>
            <a:off x="1219200" y="5892800"/>
            <a:ext cx="8998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</a:rPr>
              <a:t>https://blog.51cto.com/</a:t>
            </a:r>
            <a:r>
              <a:rPr kumimoji="1" lang="en-US" altLang="zh-TW" dirty="0" err="1">
                <a:latin typeface="Times New Roman" panose="02020603050405020304" pitchFamily="18" charset="0"/>
              </a:rPr>
              <a:t>wzlinux</a:t>
            </a:r>
            <a:r>
              <a:rPr kumimoji="1" lang="en-US" altLang="zh-TW" dirty="0">
                <a:latin typeface="Times New Roman" panose="02020603050405020304" pitchFamily="18" charset="0"/>
              </a:rPr>
              <a:t>/2044797</a:t>
            </a:r>
            <a:endParaRPr kumimoji="1"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98BFB62-F4E6-E653-70E0-87EAFCA89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0980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9352BF-B212-A028-72F0-1707ADCA6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Install docker in the VM1 - graph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80EA0B2F-9C04-2703-EFC2-127479F2CD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5919" y="3024981"/>
            <a:ext cx="9361961" cy="1781688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4F0A50D-D7EF-4F16-5C9C-6DA405F2E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3042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A910BB-0059-9744-A4C6-DB17E7331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Install docker in the VM1 - command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BA6541-4DF9-BC41-BB5E-FEBFA0343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altLang="zh-TW" dirty="0"/>
              <a:t>clone project</a:t>
            </a:r>
          </a:p>
          <a:p>
            <a:pPr lvl="1"/>
            <a:r>
              <a:rPr kumimoji="1" lang="en-US" altLang="zh-TW" dirty="0"/>
              <a:t>git clone </a:t>
            </a:r>
            <a:r>
              <a:rPr kumimoji="1" lang="en-US" altLang="zh-TW" dirty="0">
                <a:hlinkClick r:id="rId2"/>
              </a:rPr>
              <a:t>https://github.com/demoyuw/docker-devops.git</a:t>
            </a:r>
            <a:endParaRPr kumimoji="1" lang="en-US" altLang="zh-TW" dirty="0"/>
          </a:p>
          <a:p>
            <a:r>
              <a:rPr kumimoji="1" lang="zh-TW" altLang="en-US" dirty="0"/>
              <a:t>更改資料夾內的檔案與資料夾權限</a:t>
            </a:r>
            <a:endParaRPr kumimoji="1" lang="en-US" altLang="zh-TW" dirty="0"/>
          </a:p>
          <a:p>
            <a:pPr lvl="1"/>
            <a:r>
              <a:rPr kumimoji="1" lang="pt" altLang="zh-TW" dirty="0" err="1"/>
              <a:t>sudo</a:t>
            </a:r>
            <a:r>
              <a:rPr kumimoji="1" lang="pt" altLang="zh-TW" dirty="0"/>
              <a:t> </a:t>
            </a:r>
            <a:r>
              <a:rPr kumimoji="1" lang="pt" altLang="zh-TW" dirty="0" err="1"/>
              <a:t>chmod</a:t>
            </a:r>
            <a:r>
              <a:rPr kumimoji="1" lang="pt" altLang="zh-TW" dirty="0"/>
              <a:t> 755 -</a:t>
            </a:r>
            <a:r>
              <a:rPr kumimoji="1" lang="pt" altLang="zh-TW" dirty="0" err="1"/>
              <a:t>R</a:t>
            </a:r>
            <a:r>
              <a:rPr kumimoji="1" lang="pt" altLang="zh-TW" dirty="0"/>
              <a:t> </a:t>
            </a:r>
            <a:r>
              <a:rPr kumimoji="1" lang="en-US" altLang="zh-TW" dirty="0"/>
              <a:t>docker-</a:t>
            </a:r>
            <a:r>
              <a:rPr kumimoji="1" lang="en-US" altLang="zh-TW" dirty="0" err="1"/>
              <a:t>devops</a:t>
            </a:r>
            <a:r>
              <a:rPr kumimoji="1" lang="pt" altLang="zh-TW" dirty="0"/>
              <a:t>/</a:t>
            </a:r>
          </a:p>
          <a:p>
            <a:r>
              <a:rPr kumimoji="1" lang="pt" altLang="zh-TW" dirty="0" err="1"/>
              <a:t>Run</a:t>
            </a:r>
            <a:r>
              <a:rPr kumimoji="1" lang="pt" altLang="zh-TW" dirty="0"/>
              <a:t> script </a:t>
            </a:r>
            <a:r>
              <a:rPr kumimoji="1" lang="zh-TW" altLang="en-US" dirty="0"/>
              <a:t>安裝</a:t>
            </a:r>
            <a:r>
              <a:rPr kumimoji="1" lang="en-US" altLang="zh-TW" dirty="0"/>
              <a:t>docker</a:t>
            </a:r>
            <a:endParaRPr kumimoji="1" lang="pt" altLang="zh-TW" dirty="0"/>
          </a:p>
          <a:p>
            <a:pPr lvl="1"/>
            <a:r>
              <a:rPr kumimoji="1" lang="en-US" altLang="zh-TW" dirty="0" err="1"/>
              <a:t>sudo</a:t>
            </a:r>
            <a:r>
              <a:rPr kumimoji="1" lang="en-US" altLang="zh-TW" dirty="0"/>
              <a:t> ~/docker-</a:t>
            </a:r>
            <a:r>
              <a:rPr kumimoji="1" lang="en-US" altLang="zh-TW" dirty="0" err="1"/>
              <a:t>devops</a:t>
            </a:r>
            <a:r>
              <a:rPr kumimoji="1" lang="en-US" altLang="zh-TW" dirty="0"/>
              <a:t>/script/</a:t>
            </a:r>
            <a:r>
              <a:rPr kumimoji="1" lang="en-US" altLang="zh-TW" dirty="0" err="1"/>
              <a:t>ubuntu_install_docker.sh</a:t>
            </a:r>
            <a:endParaRPr kumimoji="1" lang="en-US" altLang="zh-TW" dirty="0"/>
          </a:p>
          <a:p>
            <a:r>
              <a:rPr kumimoji="1" lang="zh-TW" altLang="en-US" dirty="0"/>
              <a:t>切換到</a:t>
            </a:r>
            <a:r>
              <a:rPr kumimoji="1" lang="en-US" altLang="zh-TW" dirty="0"/>
              <a:t>docker</a:t>
            </a:r>
            <a:r>
              <a:rPr kumimoji="1" lang="zh-TW" altLang="en-US" dirty="0"/>
              <a:t>群組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newgrp</a:t>
            </a:r>
            <a:r>
              <a:rPr kumimoji="1" lang="en-US" altLang="zh-TW" dirty="0"/>
              <a:t> docker</a:t>
            </a:r>
          </a:p>
          <a:p>
            <a:r>
              <a:rPr kumimoji="1" lang="zh-CN" altLang="en-US" dirty="0"/>
              <a:t>驗證</a:t>
            </a:r>
            <a:endParaRPr kumimoji="1" lang="en-US" altLang="zh-CN" dirty="0"/>
          </a:p>
          <a:p>
            <a:pPr lvl="1"/>
            <a:r>
              <a:rPr kumimoji="1" lang="en-US" altLang="zh-TW" dirty="0"/>
              <a:t>docker version</a:t>
            </a:r>
          </a:p>
          <a:p>
            <a:pPr lvl="1"/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BBEEE6D-C359-9A54-7D1D-397A93A5D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6513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59B23A74-837E-257D-3279-F3D019014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Dockerfile</a:t>
            </a:r>
            <a:r>
              <a:rPr lang="en-US" altLang="zh-TW" dirty="0"/>
              <a:t> with </a:t>
            </a:r>
            <a:r>
              <a:rPr kumimoji="1" lang="en-US" altLang="zh-TW" dirty="0"/>
              <a:t>multi-stage</a:t>
            </a: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80CCC6A-80E8-31F0-ACA9-E20E3D09B5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4F0C8C3-191A-4EDE-00A7-B9685FB5A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0051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768B08-DFB1-DD44-8D71-4630EEAF5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Multi-stage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6C027C-22BA-D24A-81E0-13235ADB4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一個</a:t>
            </a:r>
            <a:r>
              <a:rPr kumimoji="1" lang="en-US" altLang="zh-TW" dirty="0"/>
              <a:t>docker file </a:t>
            </a:r>
            <a:r>
              <a:rPr kumimoji="1" lang="zh-CN" altLang="en-US" dirty="0"/>
              <a:t>可以執行多個</a:t>
            </a:r>
            <a:r>
              <a:rPr kumimoji="1" lang="en-US" altLang="zh-CN" dirty="0"/>
              <a:t>stage</a:t>
            </a:r>
          </a:p>
          <a:p>
            <a:r>
              <a:rPr kumimoji="1" lang="en-US" altLang="zh-CN" dirty="0"/>
              <a:t>stage</a:t>
            </a:r>
            <a:r>
              <a:rPr kumimoji="1" lang="zh-CN" altLang="en-US" dirty="0"/>
              <a:t>可以</a:t>
            </a:r>
            <a:r>
              <a:rPr kumimoji="1" lang="en-US" altLang="zh-CN" dirty="0"/>
              <a:t>Copy</a:t>
            </a:r>
            <a:r>
              <a:rPr kumimoji="1" lang="zh-CN" altLang="en-US" dirty="0"/>
              <a:t>其他</a:t>
            </a:r>
            <a:r>
              <a:rPr kumimoji="1" lang="en-US" altLang="zh-CN" dirty="0"/>
              <a:t>stage </a:t>
            </a:r>
            <a:r>
              <a:rPr kumimoji="1" lang="zh-CN" altLang="en-US" dirty="0"/>
              <a:t>或</a:t>
            </a:r>
            <a:r>
              <a:rPr kumimoji="1" lang="zh-TW" altLang="en-US" dirty="0"/>
              <a:t> </a:t>
            </a:r>
            <a:r>
              <a:rPr kumimoji="1" lang="en-US" altLang="zh-TW" dirty="0"/>
              <a:t>image</a:t>
            </a:r>
            <a:r>
              <a:rPr kumimoji="1" lang="zh-CN" altLang="en-US" dirty="0"/>
              <a:t>裡的檔案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90DDD6C-0AEA-EB77-D23A-7BB9FAFBA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21208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17134F-14BC-C19C-AAAD-E04C58A2C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.net</a:t>
            </a:r>
            <a:r>
              <a:rPr kumimoji="1" lang="en-US" altLang="zh-TW" dirty="0"/>
              <a:t> </a:t>
            </a:r>
            <a:r>
              <a:rPr kumimoji="1" lang="en-US" altLang="zh-TW" dirty="0" err="1"/>
              <a:t>dockerfile</a:t>
            </a:r>
            <a:endParaRPr kumimoji="1"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7816828B-EE49-14B1-5520-052BC9EA11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4031" y="1253330"/>
            <a:ext cx="6380455" cy="5593725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9DA7374-654D-E36A-01F4-2D2DE842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435361F-6637-3FE5-72D4-1BACE978A744}"/>
              </a:ext>
            </a:extLst>
          </p:cNvPr>
          <p:cNvSpPr txBox="1"/>
          <p:nvPr/>
        </p:nvSpPr>
        <p:spPr>
          <a:xfrm>
            <a:off x="4498848" y="658574"/>
            <a:ext cx="4565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</a:rPr>
              <a:t>~/docker-</a:t>
            </a:r>
            <a:r>
              <a:rPr kumimoji="1" lang="en-US" altLang="zh-TW" dirty="0" err="1">
                <a:latin typeface="Times New Roman" panose="02020603050405020304" pitchFamily="18" charset="0"/>
              </a:rPr>
              <a:t>devops</a:t>
            </a:r>
            <a:r>
              <a:rPr kumimoji="1" lang="en-US" altLang="zh-TW" dirty="0">
                <a:latin typeface="Times New Roman" panose="02020603050405020304" pitchFamily="18" charset="0"/>
              </a:rPr>
              <a:t>/</a:t>
            </a:r>
            <a:r>
              <a:rPr kumimoji="1" lang="en-US" altLang="zh-TW" dirty="0" err="1">
                <a:latin typeface="Times New Roman" panose="02020603050405020304" pitchFamily="18" charset="0"/>
              </a:rPr>
              <a:t>dockerfile</a:t>
            </a:r>
            <a:r>
              <a:rPr kumimoji="1" lang="en-US" altLang="zh-TW" dirty="0">
                <a:latin typeface="Times New Roman" panose="02020603050405020304" pitchFamily="18" charset="0"/>
              </a:rPr>
              <a:t>/dotnet/</a:t>
            </a:r>
            <a:r>
              <a:rPr kumimoji="1" lang="en-US" altLang="zh-TW" dirty="0" err="1">
                <a:latin typeface="Times New Roman" panose="02020603050405020304" pitchFamily="18" charset="0"/>
              </a:rPr>
              <a:t>dockerfile</a:t>
            </a:r>
            <a:endParaRPr kumimoji="1"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874767B-E5D8-769B-DD90-DEE746451D6E}"/>
              </a:ext>
            </a:extLst>
          </p:cNvPr>
          <p:cNvSpPr txBox="1"/>
          <p:nvPr/>
        </p:nvSpPr>
        <p:spPr>
          <a:xfrm>
            <a:off x="8951976" y="3703320"/>
            <a:ext cx="1581912" cy="16093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781455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89087A-B814-FF40-BBD7-4A485C334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自己</a:t>
            </a:r>
            <a:r>
              <a:rPr kumimoji="1" lang="en-US" altLang="zh-CN" dirty="0"/>
              <a:t>build: </a:t>
            </a:r>
            <a:r>
              <a:rPr kumimoji="1" lang="zh-CN" altLang="en-US" dirty="0"/>
              <a:t>產生</a:t>
            </a:r>
            <a:r>
              <a:rPr kumimoji="1" lang="en-US" altLang="zh-CN" dirty="0"/>
              <a:t>image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258A1A6-24EB-094E-A6BE-11BB0830A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在</a:t>
            </a:r>
            <a:r>
              <a:rPr kumimoji="1" lang="en-US" altLang="zh-TW" dirty="0"/>
              <a:t>docker file </a:t>
            </a:r>
            <a:r>
              <a:rPr kumimoji="1" lang="zh-Hant" altLang="en-US" dirty="0"/>
              <a:t>這層，執行</a:t>
            </a:r>
            <a:r>
              <a:rPr kumimoji="1" lang="en-US" altLang="zh-Hant" dirty="0"/>
              <a:t>build</a:t>
            </a:r>
          </a:p>
          <a:p>
            <a:pPr lvl="1"/>
            <a:r>
              <a:rPr kumimoji="1" lang="en-US" altLang="zh-Hant" dirty="0"/>
              <a:t>docker build -t dotnet10-demo:latest .</a:t>
            </a:r>
          </a:p>
          <a:p>
            <a:pPr lvl="1"/>
            <a:endParaRPr kumimoji="1" lang="en-US" altLang="zh-Hant" dirty="0"/>
          </a:p>
          <a:p>
            <a:pPr lvl="1"/>
            <a:endParaRPr kumimoji="1" lang="en-US" altLang="zh-Hant" dirty="0"/>
          </a:p>
          <a:p>
            <a:r>
              <a:rPr kumimoji="1" lang="zh-Hant" altLang="en-US" dirty="0"/>
              <a:t>在</a:t>
            </a:r>
            <a:r>
              <a:rPr kumimoji="1" lang="en-US" altLang="zh-Hant" dirty="0"/>
              <a:t>build </a:t>
            </a:r>
            <a:r>
              <a:rPr kumimoji="1" lang="zh-Hant" altLang="en-US" dirty="0"/>
              <a:t>階段</a:t>
            </a:r>
            <a:r>
              <a:rPr kumimoji="1" lang="en-US" altLang="zh-Hant" dirty="0"/>
              <a:t>debug</a:t>
            </a:r>
          </a:p>
          <a:p>
            <a:pPr lvl="1"/>
            <a:r>
              <a:rPr lang="en" altLang="zh-TW" dirty="0"/>
              <a:t>docker build --progress=plain --no-cache</a:t>
            </a:r>
            <a:r>
              <a:rPr kumimoji="1" lang="en-US" altLang="zh-TW" dirty="0"/>
              <a:t> .</a:t>
            </a:r>
            <a:endParaRPr kumimoji="1" lang="en-US" altLang="zh-Hant" dirty="0"/>
          </a:p>
          <a:p>
            <a:r>
              <a:rPr kumimoji="1" lang="zh-CN" altLang="en-US" dirty="0"/>
              <a:t>檢查</a:t>
            </a:r>
            <a:r>
              <a:rPr kumimoji="1" lang="en-US" altLang="zh-CN" dirty="0"/>
              <a:t>docker image</a:t>
            </a:r>
            <a:endParaRPr kumimoji="1" lang="en-US" altLang="zh-Hant" dirty="0"/>
          </a:p>
          <a:p>
            <a:pPr lvl="1"/>
            <a:r>
              <a:rPr kumimoji="1" lang="en-US" altLang="zh-Hant" dirty="0"/>
              <a:t>docker image ls</a:t>
            </a:r>
          </a:p>
          <a:p>
            <a:pPr lvl="1"/>
            <a:endParaRPr kumimoji="1" lang="en-US" altLang="zh-Hant" dirty="0"/>
          </a:p>
          <a:p>
            <a:pPr marL="0" indent="0">
              <a:buNone/>
            </a:pPr>
            <a:endParaRPr kumimoji="1" lang="en-US" altLang="zh-CN" dirty="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B6DD0765-1028-EE88-5CE6-3CB4E5B017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86095" y="2730755"/>
            <a:ext cx="7772400" cy="61653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9AFD297-1BBA-8525-542F-ADEB75A05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15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87B8D83-DE99-B664-BA1B-9F456C720B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4390" y="5407022"/>
            <a:ext cx="7772400" cy="1014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7137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3BA786-804A-C941-A52B-1E3ECCBD9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image -1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80CF588-A6E8-324B-9B9A-53294DE34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幫</a:t>
            </a:r>
            <a:r>
              <a:rPr kumimoji="1" lang="en-US" altLang="zh-CN" dirty="0"/>
              <a:t>image</a:t>
            </a:r>
            <a:r>
              <a:rPr kumimoji="1" lang="zh-CN" altLang="en-US" dirty="0"/>
              <a:t>增加一個新的</a:t>
            </a:r>
            <a:r>
              <a:rPr kumimoji="1" lang="en-US" altLang="zh-CN" dirty="0"/>
              <a:t>tag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docker tag {</a:t>
            </a:r>
            <a:r>
              <a:rPr kumimoji="1" lang="en-US" altLang="zh-TW" dirty="0" err="1"/>
              <a:t>image_id</a:t>
            </a:r>
            <a:r>
              <a:rPr kumimoji="1" lang="en-US" altLang="zh-TW" dirty="0"/>
              <a:t>} </a:t>
            </a:r>
            <a:r>
              <a:rPr lang="en-US" altLang="zh-TW" dirty="0" err="1"/>
              <a:t>demoyuw</a:t>
            </a:r>
            <a:r>
              <a:rPr lang="en-US" altLang="zh-TW" dirty="0"/>
              <a:t>/nginx</a:t>
            </a:r>
          </a:p>
          <a:p>
            <a:r>
              <a:rPr lang="zh-CN" altLang="en-US" dirty="0"/>
              <a:t>刪除</a:t>
            </a:r>
            <a:r>
              <a:rPr lang="en-US" altLang="zh-CN" dirty="0"/>
              <a:t>image</a:t>
            </a:r>
          </a:p>
          <a:p>
            <a:pPr lvl="1"/>
            <a:r>
              <a:rPr lang="en-US" altLang="zh-TW" dirty="0"/>
              <a:t>docker </a:t>
            </a:r>
            <a:r>
              <a:rPr lang="en-US" altLang="zh-TW" dirty="0" err="1"/>
              <a:t>rmi</a:t>
            </a:r>
            <a:r>
              <a:rPr lang="en-US" altLang="zh-TW" dirty="0"/>
              <a:t> </a:t>
            </a:r>
            <a:r>
              <a:rPr kumimoji="1" lang="en-US" altLang="zh-TW" dirty="0"/>
              <a:t>{</a:t>
            </a:r>
            <a:r>
              <a:rPr kumimoji="1" lang="en-US" altLang="zh-TW" dirty="0" err="1"/>
              <a:t>image_id</a:t>
            </a:r>
            <a:r>
              <a:rPr kumimoji="1" lang="en-US" altLang="zh-TW" dirty="0"/>
              <a:t>}</a:t>
            </a:r>
          </a:p>
          <a:p>
            <a:pPr lvl="1"/>
            <a:r>
              <a:rPr kumimoji="1" lang="en-US" altLang="zh-TW" dirty="0"/>
              <a:t>docker </a:t>
            </a:r>
            <a:r>
              <a:rPr kumimoji="1" lang="en-US" altLang="zh-TW" dirty="0" err="1"/>
              <a:t>rmi</a:t>
            </a:r>
            <a:r>
              <a:rPr kumimoji="1" lang="en-US" altLang="zh-TW" dirty="0"/>
              <a:t> {</a:t>
            </a:r>
            <a:r>
              <a:rPr kumimoji="1" lang="en-US" altLang="zh-TW" dirty="0" err="1"/>
              <a:t>repository:tag</a:t>
            </a:r>
            <a:r>
              <a:rPr kumimoji="1" lang="en-US" altLang="zh-TW" dirty="0"/>
              <a:t>} </a:t>
            </a:r>
          </a:p>
          <a:p>
            <a:r>
              <a:rPr kumimoji="1" lang="zh-CN" altLang="en-US" dirty="0"/>
              <a:t>把指定</a:t>
            </a:r>
            <a:r>
              <a:rPr kumimoji="1" lang="en-US" altLang="zh-CN" dirty="0"/>
              <a:t>image</a:t>
            </a:r>
            <a:r>
              <a:rPr kumimoji="1" lang="zh-CN" altLang="en-US" dirty="0"/>
              <a:t>匯出成一個</a:t>
            </a:r>
            <a:r>
              <a:rPr kumimoji="1" lang="en-US" altLang="zh-CN" dirty="0" err="1"/>
              <a:t>tgz</a:t>
            </a:r>
            <a:r>
              <a:rPr kumimoji="1" lang="zh-CN" altLang="en-US" dirty="0"/>
              <a:t>檔</a:t>
            </a:r>
            <a:endParaRPr kumimoji="1" lang="en-US" altLang="zh-CN" dirty="0"/>
          </a:p>
          <a:p>
            <a:pPr lvl="1"/>
            <a:r>
              <a:rPr lang="en-US" altLang="zh-TW" dirty="0"/>
              <a:t>docker save -o {</a:t>
            </a:r>
            <a:r>
              <a:rPr lang="en-US" altLang="zh-TW" dirty="0" err="1"/>
              <a:t>output_file.tgz</a:t>
            </a:r>
            <a:r>
              <a:rPr lang="en-US" altLang="zh-TW" dirty="0"/>
              <a:t>} {</a:t>
            </a:r>
            <a:r>
              <a:rPr lang="en-US" altLang="zh-TW" dirty="0" err="1"/>
              <a:t>docker_image_id</a:t>
            </a:r>
            <a:r>
              <a:rPr lang="en-US" altLang="zh-TW" dirty="0"/>
              <a:t>}</a:t>
            </a:r>
          </a:p>
          <a:p>
            <a:r>
              <a:rPr kumimoji="1" lang="zh-CN" altLang="en-US" dirty="0"/>
              <a:t>把指定</a:t>
            </a:r>
            <a:r>
              <a:rPr kumimoji="1" lang="en-US" altLang="zh-CN" dirty="0" err="1"/>
              <a:t>tgz</a:t>
            </a:r>
            <a:r>
              <a:rPr kumimoji="1" lang="zh-CN" altLang="en-US" dirty="0"/>
              <a:t>檔匯入到</a:t>
            </a:r>
            <a:r>
              <a:rPr kumimoji="1" lang="en-US" altLang="zh-CN" dirty="0"/>
              <a:t>docker image</a:t>
            </a:r>
            <a:r>
              <a:rPr kumimoji="1" lang="zh-CN" altLang="en-US" dirty="0"/>
              <a:t>裡</a:t>
            </a:r>
            <a:endParaRPr lang="en-US" altLang="zh-CN" dirty="0"/>
          </a:p>
          <a:p>
            <a:pPr lvl="1"/>
            <a:r>
              <a:rPr lang="en-US" altLang="zh-TW" dirty="0"/>
              <a:t>docker load -</a:t>
            </a:r>
            <a:r>
              <a:rPr lang="en-US" altLang="zh-TW" dirty="0" err="1"/>
              <a:t>i</a:t>
            </a:r>
            <a:r>
              <a:rPr lang="en-US" altLang="zh-TW" dirty="0"/>
              <a:t>  </a:t>
            </a:r>
            <a:r>
              <a:rPr lang="en-US" altLang="zh-TW" dirty="0" err="1"/>
              <a:t>backendscheduler.tgz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967B1BF-680E-7B87-C540-D73DA0EB2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54102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D10D77-E2A9-7B49-90E1-037AF6CF4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container</a:t>
            </a:r>
            <a:r>
              <a:rPr kumimoji="1" lang="zh-TW" altLang="en-US" dirty="0"/>
              <a:t> </a:t>
            </a:r>
            <a:r>
              <a:rPr kumimoji="1" lang="en-US" altLang="zh-TW" dirty="0"/>
              <a:t>-1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9B06C78-2FB8-DE46-970F-562153E7D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Run 1</a:t>
            </a:r>
            <a:r>
              <a:rPr kumimoji="1" lang="zh-TW" altLang="en-US" dirty="0"/>
              <a:t>個</a:t>
            </a:r>
            <a:r>
              <a:rPr kumimoji="1" lang="en-US" altLang="zh-TW" dirty="0"/>
              <a:t>container</a:t>
            </a:r>
          </a:p>
          <a:p>
            <a:pPr lvl="1"/>
            <a:r>
              <a:rPr lang="en-US" altLang="zh-TW" dirty="0"/>
              <a:t>docker run -</a:t>
            </a:r>
            <a:r>
              <a:rPr lang="en-US" altLang="zh-TW" dirty="0" err="1"/>
              <a:t>itd</a:t>
            </a:r>
            <a:r>
              <a:rPr lang="en-US" altLang="zh-TW" dirty="0"/>
              <a:t> -v {{</a:t>
            </a:r>
            <a:r>
              <a:rPr lang="zh-TW" altLang="en-US" dirty="0"/>
              <a:t>本地端路徑</a:t>
            </a:r>
            <a:r>
              <a:rPr lang="en-US" altLang="zh-TW" dirty="0"/>
              <a:t>}}:{{container </a:t>
            </a:r>
            <a:r>
              <a:rPr lang="zh-TW" altLang="en-US" dirty="0"/>
              <a:t>路徑</a:t>
            </a:r>
            <a:r>
              <a:rPr lang="en-US" altLang="zh-TW" dirty="0"/>
              <a:t>}} -p {{</a:t>
            </a:r>
            <a:r>
              <a:rPr lang="zh-CN" altLang="en-US" dirty="0"/>
              <a:t>本地端</a:t>
            </a:r>
            <a:r>
              <a:rPr lang="en-US" altLang="zh-CN" dirty="0"/>
              <a:t>port}}:{{container port}} --name {</a:t>
            </a:r>
            <a:r>
              <a:rPr lang="en-US" altLang="zh-CN" dirty="0" err="1"/>
              <a:t>process_name</a:t>
            </a:r>
            <a:r>
              <a:rPr lang="en-US" altLang="zh-CN" dirty="0"/>
              <a:t>} {</a:t>
            </a:r>
            <a:r>
              <a:rPr lang="en-US" altLang="zh-CN" dirty="0" err="1"/>
              <a:t>image_name:version</a:t>
            </a:r>
            <a:r>
              <a:rPr lang="en-US" altLang="zh-CN" dirty="0"/>
              <a:t>} </a:t>
            </a:r>
          </a:p>
          <a:p>
            <a:pPr lvl="1"/>
            <a:r>
              <a:rPr kumimoji="1" lang="en-US" altLang="zh-TW" dirty="0"/>
              <a:t>Ex: docker run -d -p 8080:8080 --name dotnet10-app dotnet10-demo:latest</a:t>
            </a:r>
          </a:p>
          <a:p>
            <a:r>
              <a:rPr kumimoji="1" lang="en-US" altLang="zh-CN" dirty="0"/>
              <a:t>Container</a:t>
            </a:r>
            <a:r>
              <a:rPr kumimoji="1" lang="zh-CN" altLang="en-US" dirty="0"/>
              <a:t>列表</a:t>
            </a:r>
            <a:endParaRPr kumimoji="1" lang="en-US" altLang="zh-CN" dirty="0"/>
          </a:p>
          <a:p>
            <a:pPr lvl="1"/>
            <a:r>
              <a:rPr kumimoji="1" lang="en-US" altLang="zh-TW" dirty="0"/>
              <a:t>docker </a:t>
            </a:r>
            <a:r>
              <a:rPr kumimoji="1" lang="en-US" altLang="zh-TW" dirty="0" err="1"/>
              <a:t>ps</a:t>
            </a:r>
            <a:r>
              <a:rPr kumimoji="1" lang="en-US" altLang="zh-TW" dirty="0"/>
              <a:t> -a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3360E43-10E5-AB2C-0246-71A3B5A72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40705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93A1EC-08FF-0F42-9040-B78372E9D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run </a:t>
            </a:r>
            <a:r>
              <a:rPr kumimoji="1" lang="zh-CN" altLang="en-US" dirty="0"/>
              <a:t>參數介紹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E579F35-EB68-FE4B-AF0D-F2B3182C6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docker run -</a:t>
            </a:r>
            <a:r>
              <a:rPr kumimoji="1" lang="en-US" altLang="zh-TW" dirty="0" err="1"/>
              <a:t>itd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-</a:t>
            </a:r>
            <a:r>
              <a:rPr kumimoji="1" lang="en-US" altLang="zh-TW" dirty="0" err="1"/>
              <a:t>i</a:t>
            </a:r>
            <a:r>
              <a:rPr kumimoji="1" lang="en-US" altLang="zh-TW" dirty="0"/>
              <a:t> (interactive)</a:t>
            </a:r>
          </a:p>
          <a:p>
            <a:pPr lvl="2"/>
            <a:r>
              <a:rPr kumimoji="1" lang="en-US" altLang="zh-TW" dirty="0"/>
              <a:t>Keep STDIN open</a:t>
            </a:r>
          </a:p>
          <a:p>
            <a:pPr lvl="2"/>
            <a:r>
              <a:rPr kumimoji="1" lang="zh-CN" altLang="en-US" dirty="0"/>
              <a:t>維持標準輸入</a:t>
            </a:r>
            <a:r>
              <a:rPr kumimoji="1" lang="en-US" altLang="zh-CN" dirty="0"/>
              <a:t>open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-t (</a:t>
            </a:r>
            <a:r>
              <a:rPr kumimoji="1" lang="en-US" altLang="zh-TW" dirty="0" err="1"/>
              <a:t>tty</a:t>
            </a:r>
            <a:r>
              <a:rPr kumimoji="1" lang="en-US" altLang="zh-TW" dirty="0"/>
              <a:t>)</a:t>
            </a:r>
          </a:p>
          <a:p>
            <a:pPr lvl="2"/>
            <a:r>
              <a:rPr kumimoji="1" lang="en-US" altLang="zh-TW" dirty="0"/>
              <a:t>Allocate a pseudo-TTY</a:t>
            </a:r>
          </a:p>
          <a:p>
            <a:pPr lvl="2"/>
            <a:r>
              <a:rPr lang="zh-TW" altLang="en-US" dirty="0"/>
              <a:t>为容器分配一个虛擬終端機，才能執行</a:t>
            </a:r>
            <a:r>
              <a:rPr lang="zh-CN" altLang="en-US" dirty="0"/>
              <a:t>給後續執行</a:t>
            </a:r>
            <a:r>
              <a:rPr lang="en-US" altLang="zh-CN" dirty="0"/>
              <a:t>shell(ex: /bin/bash or /bin/</a:t>
            </a:r>
            <a:r>
              <a:rPr lang="en-US" altLang="zh-CN" dirty="0" err="1"/>
              <a:t>sh</a:t>
            </a:r>
            <a:r>
              <a:rPr lang="en-US" altLang="zh-CN" dirty="0"/>
              <a:t>)</a:t>
            </a:r>
            <a:r>
              <a:rPr lang="zh-TW" altLang="en-US" dirty="0"/>
              <a:t> 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-d (detach)</a:t>
            </a:r>
          </a:p>
          <a:p>
            <a:pPr lvl="2"/>
            <a:r>
              <a:rPr kumimoji="1" lang="en-US" altLang="zh-TW" dirty="0"/>
              <a:t>Run container in background</a:t>
            </a:r>
          </a:p>
          <a:p>
            <a:pPr lvl="2"/>
            <a:r>
              <a:rPr kumimoji="1" lang="zh-CN" altLang="en-US" dirty="0"/>
              <a:t>在背景裡執行</a:t>
            </a:r>
            <a:endParaRPr kumimoji="1"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FA4C867-4908-900B-E7B0-2575A4A81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51507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5621F0-AA5B-FD42-B2C0-DB2D939D9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process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159F93-F52B-C74F-850F-221EF02620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停止</a:t>
            </a:r>
            <a:r>
              <a:rPr kumimoji="1" lang="en-US" altLang="zh-TW" dirty="0"/>
              <a:t> container</a:t>
            </a:r>
          </a:p>
          <a:p>
            <a:pPr lvl="1"/>
            <a:r>
              <a:rPr lang="en-US" altLang="zh-TW" dirty="0"/>
              <a:t>docker stop {</a:t>
            </a:r>
            <a:r>
              <a:rPr lang="en-US" altLang="zh-TW" dirty="0" err="1"/>
              <a:t>container_id</a:t>
            </a:r>
            <a:r>
              <a:rPr lang="en-US" altLang="zh-TW" dirty="0"/>
              <a:t>}</a:t>
            </a:r>
          </a:p>
          <a:p>
            <a:pPr lvl="1"/>
            <a:r>
              <a:rPr lang="en-US" altLang="zh-TW" dirty="0"/>
              <a:t>docker stop {</a:t>
            </a:r>
            <a:r>
              <a:rPr lang="en-US" altLang="zh-TW" dirty="0" err="1"/>
              <a:t>container_name</a:t>
            </a:r>
            <a:r>
              <a:rPr lang="en-US" altLang="zh-TW" dirty="0"/>
              <a:t>}</a:t>
            </a:r>
          </a:p>
          <a:p>
            <a:r>
              <a:rPr kumimoji="1" lang="zh-CN" altLang="en-US" dirty="0"/>
              <a:t>啟動</a:t>
            </a:r>
            <a:r>
              <a:rPr kumimoji="1" lang="zh-TW" altLang="en-US" dirty="0"/>
              <a:t> </a:t>
            </a:r>
            <a:r>
              <a:rPr kumimoji="1" lang="en-US" altLang="zh-TW" dirty="0"/>
              <a:t>container</a:t>
            </a:r>
          </a:p>
          <a:p>
            <a:pPr lvl="1"/>
            <a:r>
              <a:rPr lang="en-US" altLang="zh-TW" dirty="0"/>
              <a:t>docker start {</a:t>
            </a:r>
            <a:r>
              <a:rPr lang="en-US" altLang="zh-TW" dirty="0" err="1"/>
              <a:t>container_id</a:t>
            </a:r>
            <a:r>
              <a:rPr lang="en-US" altLang="zh-TW" dirty="0"/>
              <a:t>}</a:t>
            </a:r>
          </a:p>
          <a:p>
            <a:pPr lvl="1"/>
            <a:r>
              <a:rPr lang="en-US" altLang="zh-TW" dirty="0"/>
              <a:t>docker start {</a:t>
            </a:r>
            <a:r>
              <a:rPr lang="en-US" altLang="zh-TW" dirty="0" err="1"/>
              <a:t>container_name</a:t>
            </a:r>
            <a:r>
              <a:rPr lang="en-US" altLang="zh-TW" dirty="0"/>
              <a:t>}</a:t>
            </a:r>
            <a:endParaRPr kumimoji="1" lang="en-US" altLang="zh-TW" dirty="0"/>
          </a:p>
          <a:p>
            <a:r>
              <a:rPr kumimoji="1" lang="zh-TW" altLang="en-US" dirty="0"/>
              <a:t>刪除</a:t>
            </a:r>
            <a:r>
              <a:rPr kumimoji="1" lang="en-US" altLang="zh-TW" dirty="0"/>
              <a:t>process</a:t>
            </a:r>
          </a:p>
          <a:p>
            <a:pPr lvl="1"/>
            <a:r>
              <a:rPr kumimoji="1" lang="en-US" altLang="zh-TW" dirty="0"/>
              <a:t>docker rm </a:t>
            </a:r>
            <a:r>
              <a:rPr lang="en-US" altLang="zh-TW" dirty="0"/>
              <a:t>{</a:t>
            </a:r>
            <a:r>
              <a:rPr lang="en-US" altLang="zh-TW" dirty="0" err="1"/>
              <a:t>container_id</a:t>
            </a:r>
            <a:r>
              <a:rPr lang="en-US" altLang="zh-TW" dirty="0"/>
              <a:t>}</a:t>
            </a:r>
          </a:p>
          <a:p>
            <a:pPr lvl="1"/>
            <a:r>
              <a:rPr kumimoji="1" lang="en-US" altLang="zh-TW" dirty="0"/>
              <a:t>docker rm </a:t>
            </a:r>
            <a:r>
              <a:rPr lang="en-US" altLang="zh-TW" dirty="0"/>
              <a:t>{</a:t>
            </a:r>
            <a:r>
              <a:rPr lang="en-US" altLang="zh-TW" dirty="0" err="1"/>
              <a:t>container_name</a:t>
            </a:r>
            <a:r>
              <a:rPr lang="en-US" altLang="zh-TW" dirty="0"/>
              <a:t>}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A9D52D2-19A7-14BD-1BBE-90A53ED9C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77698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E9AEBD-2371-084D-AE43-386CA2691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</a:t>
            </a:r>
            <a:r>
              <a:rPr kumimoji="1" lang="en-US" altLang="zh-TW"/>
              <a:t>process - 3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EDA505-9CA6-C14B-87D2-0520CC27B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停止所有正在執行的</a:t>
            </a:r>
            <a:r>
              <a:rPr lang="en-US" altLang="zh-CN" dirty="0"/>
              <a:t>container</a:t>
            </a:r>
            <a:endParaRPr lang="en-US" altLang="zh-TW" dirty="0"/>
          </a:p>
          <a:p>
            <a:pPr lvl="1"/>
            <a:r>
              <a:rPr lang="en-US" altLang="zh-TW" dirty="0"/>
              <a:t>docker stop $(docker </a:t>
            </a:r>
            <a:r>
              <a:rPr lang="en-US" altLang="zh-TW" dirty="0" err="1"/>
              <a:t>ps</a:t>
            </a:r>
            <a:r>
              <a:rPr lang="en-US" altLang="zh-TW" dirty="0"/>
              <a:t> -a -q)</a:t>
            </a:r>
          </a:p>
          <a:p>
            <a:r>
              <a:rPr lang="zh-CN" altLang="en-US" dirty="0"/>
              <a:t>刪除所有</a:t>
            </a:r>
            <a:r>
              <a:rPr lang="en-US" altLang="zh-CN" dirty="0"/>
              <a:t>Container</a:t>
            </a:r>
            <a:endParaRPr lang="en-US" altLang="zh-TW" dirty="0"/>
          </a:p>
          <a:p>
            <a:pPr lvl="1"/>
            <a:r>
              <a:rPr lang="en-US" altLang="zh-TW" dirty="0"/>
              <a:t>docker </a:t>
            </a:r>
            <a:r>
              <a:rPr lang="en-US" altLang="zh-TW" dirty="0" err="1"/>
              <a:t>rm</a:t>
            </a:r>
            <a:r>
              <a:rPr lang="en-US" altLang="zh-TW" dirty="0"/>
              <a:t> $(docker </a:t>
            </a:r>
            <a:r>
              <a:rPr lang="en-US" altLang="zh-TW" dirty="0" err="1"/>
              <a:t>ps</a:t>
            </a:r>
            <a:r>
              <a:rPr lang="en-US" altLang="zh-TW" dirty="0"/>
              <a:t> -a -q)</a:t>
            </a:r>
          </a:p>
          <a:p>
            <a:r>
              <a:rPr lang="zh-CN" altLang="en-US" dirty="0"/>
              <a:t>刪除所有</a:t>
            </a:r>
            <a:r>
              <a:rPr lang="en-US" altLang="zh-CN" dirty="0"/>
              <a:t>Container image</a:t>
            </a:r>
            <a:endParaRPr lang="en-US" altLang="zh-TW" dirty="0"/>
          </a:p>
          <a:p>
            <a:pPr lvl="1"/>
            <a:r>
              <a:rPr lang="en-US" altLang="zh-TW" dirty="0"/>
              <a:t>docker </a:t>
            </a:r>
            <a:r>
              <a:rPr lang="en-US" altLang="zh-TW" dirty="0" err="1"/>
              <a:t>rmi</a:t>
            </a:r>
            <a:r>
              <a:rPr lang="en-US" altLang="zh-TW" dirty="0"/>
              <a:t> $(docker images -q)</a:t>
            </a:r>
          </a:p>
          <a:p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A74D323-FEB8-4D4E-B531-D92C2A862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2026/4/18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E59A24B-7AD1-4346-8B62-769F17AF6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20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730425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9E7882-67CC-DC49-874C-D61C0995B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process</a:t>
            </a:r>
            <a:r>
              <a:rPr kumimoji="1" lang="zh-Hant" altLang="en-US" dirty="0"/>
              <a:t> </a:t>
            </a:r>
            <a:r>
              <a:rPr kumimoji="1" lang="en-US" altLang="zh-Hant" dirty="0"/>
              <a:t>-</a:t>
            </a:r>
            <a:r>
              <a:rPr kumimoji="1" lang="zh-TW" altLang="en-US" dirty="0"/>
              <a:t> 除錯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705E55-42BD-A542-B044-E4D9EFCF4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853248"/>
            <a:ext cx="8946541" cy="4195481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至</a:t>
            </a:r>
            <a:r>
              <a:rPr kumimoji="1" lang="en-US" altLang="zh-CN" dirty="0"/>
              <a:t>Container </a:t>
            </a:r>
            <a:r>
              <a:rPr kumimoji="1" lang="zh-CN" altLang="en-US" dirty="0"/>
              <a:t>內執行</a:t>
            </a:r>
            <a:r>
              <a:rPr kumimoji="1" lang="en-US" altLang="zh-CN" dirty="0"/>
              <a:t>(</a:t>
            </a:r>
            <a:r>
              <a:rPr kumimoji="1" lang="zh-CN" altLang="en-US" dirty="0"/>
              <a:t>類似</a:t>
            </a:r>
            <a:r>
              <a:rPr kumimoji="1" lang="en-US" altLang="zh-CN" dirty="0"/>
              <a:t> </a:t>
            </a:r>
            <a:r>
              <a:rPr kumimoji="1" lang="en-US" altLang="zh-CN" dirty="0" err="1"/>
              <a:t>ssh</a:t>
            </a:r>
            <a:r>
              <a:rPr kumimoji="1" lang="en-US" altLang="zh-CN" dirty="0"/>
              <a:t>)</a:t>
            </a:r>
          </a:p>
          <a:p>
            <a:pPr lvl="1"/>
            <a:r>
              <a:rPr lang="en-US" altLang="zh-TW" dirty="0"/>
              <a:t>docker exec -it {</a:t>
            </a:r>
            <a:r>
              <a:rPr lang="en-US" altLang="zh-TW" dirty="0" err="1"/>
              <a:t>container_name</a:t>
            </a:r>
            <a:r>
              <a:rPr lang="en-US" altLang="zh-TW" dirty="0"/>
              <a:t>} /bin/bash</a:t>
            </a:r>
          </a:p>
          <a:p>
            <a:pPr lvl="2"/>
            <a:r>
              <a:rPr lang="zh-CN" altLang="en-US" dirty="0"/>
              <a:t>到</a:t>
            </a:r>
            <a:r>
              <a:rPr lang="en-US" altLang="zh-CN" dirty="0"/>
              <a:t>container</a:t>
            </a:r>
            <a:r>
              <a:rPr lang="zh-CN" altLang="en-US" dirty="0"/>
              <a:t>內執行</a:t>
            </a:r>
            <a:endParaRPr lang="en-US" altLang="zh-TW" dirty="0"/>
          </a:p>
          <a:p>
            <a:pPr lvl="1"/>
            <a:r>
              <a:rPr kumimoji="1" lang="en-US" altLang="zh-TW" dirty="0"/>
              <a:t>docker exec -it </a:t>
            </a:r>
            <a:r>
              <a:rPr lang="en-US" altLang="zh-TW" dirty="0"/>
              <a:t>{</a:t>
            </a:r>
            <a:r>
              <a:rPr lang="en-US" altLang="zh-TW" dirty="0" err="1"/>
              <a:t>container_name</a:t>
            </a:r>
            <a:r>
              <a:rPr lang="en-US" altLang="zh-TW" dirty="0"/>
              <a:t>}</a:t>
            </a:r>
            <a:r>
              <a:rPr kumimoji="1" lang="en-US" altLang="zh-TW" dirty="0"/>
              <a:t> ls /</a:t>
            </a:r>
          </a:p>
          <a:p>
            <a:pPr lvl="2"/>
            <a:r>
              <a:rPr kumimoji="1" lang="zh-CN" altLang="en-US" dirty="0"/>
              <a:t>幫你至</a:t>
            </a:r>
            <a:r>
              <a:rPr kumimoji="1" lang="en-US" altLang="zh-CN" dirty="0"/>
              <a:t>container </a:t>
            </a:r>
            <a:r>
              <a:rPr kumimoji="1" lang="zh-CN" altLang="en-US" dirty="0"/>
              <a:t>執行</a:t>
            </a:r>
            <a:r>
              <a:rPr kumimoji="1" lang="en-US" altLang="zh-CN" dirty="0"/>
              <a:t> ‘ls /’</a:t>
            </a:r>
            <a:r>
              <a:rPr kumimoji="1" lang="zh-CN" altLang="en-US" dirty="0"/>
              <a:t>，並回傳結果</a:t>
            </a:r>
            <a:endParaRPr kumimoji="1" lang="en-US" altLang="zh-TW" dirty="0"/>
          </a:p>
          <a:p>
            <a:r>
              <a:rPr kumimoji="1" lang="en-US" altLang="zh-TW" dirty="0"/>
              <a:t>Container detail(container</a:t>
            </a:r>
            <a:r>
              <a:rPr kumimoji="1" lang="zh-TW" altLang="en-US" dirty="0"/>
              <a:t> </a:t>
            </a:r>
            <a:r>
              <a:rPr kumimoji="1" lang="zh-CN" altLang="en-US" dirty="0"/>
              <a:t>設定檔</a:t>
            </a:r>
            <a:r>
              <a:rPr kumimoji="1" lang="en-US" altLang="zh-TW" dirty="0"/>
              <a:t>)</a:t>
            </a:r>
          </a:p>
          <a:p>
            <a:pPr lvl="1"/>
            <a:r>
              <a:rPr lang="en-US" altLang="zh-TW" dirty="0"/>
              <a:t>docker inspect {</a:t>
            </a:r>
            <a:r>
              <a:rPr lang="en-US" altLang="zh-TW" dirty="0" err="1"/>
              <a:t>container_name</a:t>
            </a:r>
            <a:r>
              <a:rPr lang="en-US" altLang="zh-TW" dirty="0"/>
              <a:t>}</a:t>
            </a:r>
          </a:p>
          <a:p>
            <a:r>
              <a:rPr kumimoji="1" lang="en-US" altLang="zh-TW" dirty="0"/>
              <a:t>Logs (</a:t>
            </a:r>
            <a:r>
              <a:rPr kumimoji="1" lang="zh-CN" altLang="en-US" dirty="0"/>
              <a:t>顯示</a:t>
            </a:r>
            <a:r>
              <a:rPr kumimoji="1" lang="en-US" altLang="zh-CN" dirty="0"/>
              <a:t>container</a:t>
            </a:r>
            <a:r>
              <a:rPr kumimoji="1" lang="zh-CN" altLang="en-US" dirty="0"/>
              <a:t>內的</a:t>
            </a:r>
            <a:r>
              <a:rPr kumimoji="1" lang="en-US" altLang="zh-CN" dirty="0" err="1"/>
              <a:t>stdout</a:t>
            </a:r>
            <a:r>
              <a:rPr kumimoji="1" lang="en-US" altLang="zh-CN" dirty="0"/>
              <a:t>, stderr</a:t>
            </a:r>
            <a:r>
              <a:rPr kumimoji="1" lang="en-US" altLang="zh-TW" dirty="0"/>
              <a:t>)</a:t>
            </a:r>
          </a:p>
          <a:p>
            <a:pPr lvl="1"/>
            <a:r>
              <a:rPr kumimoji="1" lang="en-US" altLang="zh-TW" dirty="0"/>
              <a:t>d</a:t>
            </a:r>
            <a:r>
              <a:rPr kumimoji="1" lang="en-US" altLang="zh-TW"/>
              <a:t>ocker </a:t>
            </a:r>
            <a:r>
              <a:rPr kumimoji="1" lang="en-US" altLang="zh-TW" dirty="0"/>
              <a:t>logs </a:t>
            </a:r>
            <a:r>
              <a:rPr lang="en-US" altLang="zh-TW" dirty="0"/>
              <a:t>{</a:t>
            </a:r>
            <a:r>
              <a:rPr lang="en-US" altLang="zh-TW" dirty="0" err="1"/>
              <a:t>container_name</a:t>
            </a:r>
            <a:r>
              <a:rPr lang="en-US" altLang="zh-TW" dirty="0"/>
              <a:t>}</a:t>
            </a:r>
          </a:p>
          <a:p>
            <a:pPr lvl="1"/>
            <a:endParaRPr kumimoji="1"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BCE0ED0-12FD-6153-6809-42964D696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54581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25BACA56-0942-2E4E-97EA-1A6A7D1A8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</a:t>
            </a:r>
            <a:endParaRPr kumimoji="1" lang="zh-TW" altLang="en-US" dirty="0"/>
          </a:p>
        </p:txBody>
      </p:sp>
      <p:sp>
        <p:nvSpPr>
          <p:cNvPr id="5" name="文字預留位置 4">
            <a:extLst>
              <a:ext uri="{FF2B5EF4-FFF2-40B4-BE49-F238E27FC236}">
                <a16:creationId xmlns:a16="http://schemas.microsoft.com/office/drawing/2014/main" id="{88AB1F7F-1F8A-2148-87DF-1CB49DA7E4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AB5AA1B-E821-DD6E-2450-CEF24A94B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76204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EEAB08AD-D650-174F-A9C4-49C913F7A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</a:t>
            </a:r>
            <a:endParaRPr kumimoji="1"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1488871-2601-0F4E-BA65-D856E5EA0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Container</a:t>
            </a:r>
            <a:r>
              <a:rPr kumimoji="1" lang="zh-Hant" altLang="en-US" dirty="0"/>
              <a:t> 管理工具</a:t>
            </a:r>
            <a:endParaRPr kumimoji="1" lang="en-US" altLang="zh-Hant" dirty="0"/>
          </a:p>
          <a:p>
            <a:r>
              <a:rPr kumimoji="1" lang="zh-TW" altLang="en-US" dirty="0"/>
              <a:t>自動化部屬</a:t>
            </a:r>
            <a:endParaRPr kumimoji="1" lang="en-US" altLang="zh-TW" dirty="0"/>
          </a:p>
          <a:p>
            <a:r>
              <a:rPr kumimoji="1" lang="zh-TW" altLang="en-US" dirty="0"/>
              <a:t>自動化擴展</a:t>
            </a:r>
            <a:endParaRPr kumimoji="1" lang="en-US" altLang="zh-TW" dirty="0"/>
          </a:p>
          <a:p>
            <a:r>
              <a:rPr kumimoji="1" lang="zh-CN" altLang="en-US" dirty="0"/>
              <a:t>解決大規模部署問題</a:t>
            </a:r>
            <a:endParaRPr kumimoji="1" lang="en-US" altLang="zh-CN" dirty="0"/>
          </a:p>
          <a:p>
            <a:r>
              <a:rPr kumimoji="1" lang="zh-CN" altLang="en-US" dirty="0"/>
              <a:t>擁有自我修復機制</a:t>
            </a:r>
            <a:endParaRPr kumimoji="1" lang="en-US" altLang="zh-TW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656F963-65D8-874C-8F82-ACC314191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9164" y="3576918"/>
            <a:ext cx="1999672" cy="1999672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7CD8D76-95A6-E277-C3D9-F76822AB6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06451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B255EE-D350-6344-92F0-B0A3DA80B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</a:t>
            </a:r>
            <a:r>
              <a:rPr kumimoji="1" lang="zh-Hant" altLang="en-US" dirty="0"/>
              <a:t> 元件</a:t>
            </a:r>
            <a:r>
              <a:rPr kumimoji="1" lang="en-US" altLang="zh-TW" dirty="0"/>
              <a:t> -1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B07354C-023A-7C49-807D-6E4376485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Pods</a:t>
            </a:r>
            <a:r>
              <a:rPr kumimoji="1" lang="zh-TW" altLang="en-US" dirty="0"/>
              <a:t> </a:t>
            </a:r>
            <a:r>
              <a:rPr kumimoji="1" lang="en-US" altLang="zh-TW" dirty="0"/>
              <a:t>(</a:t>
            </a:r>
            <a:r>
              <a:rPr kumimoji="1" lang="en-US" altLang="zh-TW" dirty="0" err="1"/>
              <a:t>po</a:t>
            </a:r>
            <a:r>
              <a:rPr kumimoji="1" lang="en-US" altLang="zh-TW" dirty="0"/>
              <a:t>)</a:t>
            </a:r>
          </a:p>
          <a:p>
            <a:pPr lvl="1"/>
            <a:r>
              <a:rPr kumimoji="1" lang="en-US" altLang="zh-TW" dirty="0"/>
              <a:t>Kubernetes</a:t>
            </a:r>
            <a:r>
              <a:rPr kumimoji="1" lang="zh-CN" altLang="en-US" dirty="0"/>
              <a:t>最小單位，由一個或多個</a:t>
            </a:r>
            <a:r>
              <a:rPr kumimoji="1" lang="en-US" altLang="zh-CN" dirty="0"/>
              <a:t>container</a:t>
            </a:r>
            <a:r>
              <a:rPr kumimoji="1" lang="zh-CN" altLang="en-US" dirty="0"/>
              <a:t>所組成</a:t>
            </a:r>
            <a:endParaRPr kumimoji="1" lang="en-US" altLang="zh-CN" dirty="0"/>
          </a:p>
          <a:p>
            <a:r>
              <a:rPr kumimoji="1" lang="en-US" altLang="zh-TW" dirty="0" err="1"/>
              <a:t>ReplicaSet</a:t>
            </a:r>
            <a:r>
              <a:rPr kumimoji="1" lang="en-US" altLang="zh-TW" dirty="0"/>
              <a:t> (</a:t>
            </a:r>
            <a:r>
              <a:rPr kumimoji="1" lang="en-US" altLang="zh-TW" dirty="0" err="1"/>
              <a:t>rs</a:t>
            </a:r>
            <a:r>
              <a:rPr kumimoji="1" lang="en-US" altLang="zh-TW" dirty="0"/>
              <a:t>)</a:t>
            </a:r>
          </a:p>
          <a:p>
            <a:pPr lvl="1"/>
            <a:r>
              <a:rPr kumimoji="1" lang="zh-CN" altLang="en-US" dirty="0"/>
              <a:t>部署的版本紀錄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對部屬出的</a:t>
            </a:r>
            <a:r>
              <a:rPr kumimoji="1" lang="en-US" altLang="zh-CN" dirty="0"/>
              <a:t>pod</a:t>
            </a:r>
            <a:r>
              <a:rPr kumimoji="1" lang="zh-CN" altLang="en-US" dirty="0"/>
              <a:t>進行管理及維持正常運作</a:t>
            </a:r>
            <a:endParaRPr kumimoji="1" lang="en-US" altLang="zh-CN" dirty="0"/>
          </a:p>
          <a:p>
            <a:r>
              <a:rPr kumimoji="1" lang="en-US" altLang="zh-TW" dirty="0"/>
              <a:t>Deployment (deploy)</a:t>
            </a:r>
          </a:p>
          <a:p>
            <a:pPr lvl="1"/>
            <a:r>
              <a:rPr kumimoji="1" lang="zh-CN" altLang="en-US" dirty="0"/>
              <a:t>管理</a:t>
            </a:r>
            <a:r>
              <a:rPr kumimoji="1" lang="zh-Hant" altLang="en-US" dirty="0"/>
              <a:t> </a:t>
            </a:r>
            <a:r>
              <a:rPr kumimoji="1" lang="en-US" altLang="zh-TW" dirty="0" err="1"/>
              <a:t>ReplicaSet</a:t>
            </a:r>
            <a:endParaRPr kumimoji="1" lang="en-US" altLang="zh-Hant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FF627C8-E6FF-6E7C-B907-EE63489A0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21838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FBF08E-8F2F-9649-9AB4-7067F64B3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Deployment </a:t>
            </a:r>
            <a:r>
              <a:rPr kumimoji="1" lang="zh-CN" altLang="en-US" dirty="0"/>
              <a:t>資源從屬關係</a:t>
            </a:r>
            <a:endParaRPr kumimoji="1"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84D659B4-58F2-3647-A530-76D4FBC6DE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1996" y="1825625"/>
            <a:ext cx="6848007" cy="4351338"/>
          </a:xfr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4DB5F1CE-D559-8B4A-8DC7-899B44713673}"/>
              </a:ext>
            </a:extLst>
          </p:cNvPr>
          <p:cNvSpPr txBox="1"/>
          <p:nvPr/>
        </p:nvSpPr>
        <p:spPr>
          <a:xfrm>
            <a:off x="1165253" y="6176963"/>
            <a:ext cx="9953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</a:rPr>
              <a:t>Source: https://</a:t>
            </a:r>
            <a:r>
              <a:rPr kumimoji="1" lang="en-US" altLang="zh-TW" dirty="0" err="1">
                <a:latin typeface="Times New Roman" panose="02020603050405020304" pitchFamily="18" charset="0"/>
              </a:rPr>
              <a:t>ithelp.ithome.com.tw</a:t>
            </a:r>
            <a:r>
              <a:rPr kumimoji="1" lang="en-US" altLang="zh-TW" dirty="0">
                <a:latin typeface="Times New Roman" panose="02020603050405020304" pitchFamily="18" charset="0"/>
              </a:rPr>
              <a:t>/articles/10195639</a:t>
            </a:r>
            <a:endParaRPr kumimoji="1"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2D2C570-920E-7263-2E0B-232DC2623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31327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058E30-5432-5149-A95D-E4EE3C882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- pods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F8D3B82B-1BFA-864D-851A-D29FD8ABD0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57397"/>
            <a:ext cx="10515600" cy="4287794"/>
          </a:xfr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09D089D-FCAB-3942-9A46-0529F67F5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08689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D1A025-69D6-914C-A3E4-3A29018B7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</a:t>
            </a:r>
            <a:r>
              <a:rPr kumimoji="1" lang="zh-Hant" altLang="en-US" dirty="0"/>
              <a:t> 元件</a:t>
            </a:r>
            <a:r>
              <a:rPr kumimoji="1" lang="en-US" altLang="zh-TW" dirty="0"/>
              <a:t>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CC34EE5-1B96-C64F-893D-3C79855D0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Service (svc)</a:t>
            </a:r>
          </a:p>
          <a:p>
            <a:pPr lvl="1"/>
            <a:r>
              <a:rPr kumimoji="1" lang="zh-CN" altLang="en-US" dirty="0"/>
              <a:t>處理</a:t>
            </a:r>
            <a:r>
              <a:rPr kumimoji="1" lang="en-US" altLang="zh-CN" dirty="0"/>
              <a:t>Kubernetes</a:t>
            </a:r>
            <a:r>
              <a:rPr kumimoji="1" lang="zh-CN" altLang="en-US" dirty="0"/>
              <a:t>對外網路</a:t>
            </a:r>
            <a:endParaRPr kumimoji="1" lang="en-US" altLang="zh-CN" dirty="0"/>
          </a:p>
          <a:p>
            <a:r>
              <a:rPr kumimoji="1" lang="en-US" altLang="zh-TW" dirty="0"/>
              <a:t>Label and Label Selector</a:t>
            </a:r>
          </a:p>
          <a:p>
            <a:pPr lvl="1"/>
            <a:r>
              <a:rPr kumimoji="1" lang="en-US" altLang="zh-TW" dirty="0"/>
              <a:t> key=value </a:t>
            </a:r>
            <a:r>
              <a:rPr kumimoji="1" lang="zh-CN" altLang="en-US" dirty="0"/>
              <a:t>標籤，用以選擇元件及供</a:t>
            </a:r>
            <a:r>
              <a:rPr kumimoji="1" lang="en-US" altLang="zh-CN" dirty="0" err="1"/>
              <a:t>kubernetes</a:t>
            </a:r>
            <a:r>
              <a:rPr kumimoji="1" lang="en-US" altLang="zh-CN" dirty="0"/>
              <a:t> </a:t>
            </a:r>
            <a:r>
              <a:rPr kumimoji="1" lang="zh-CN" altLang="en-US" dirty="0"/>
              <a:t>進行資源綁定</a:t>
            </a:r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DA3AAF-8E5B-BA90-9326-A1C36F44A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89782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7339A5D9-73FC-514D-80A3-8D1A8724D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-Service</a:t>
            </a:r>
            <a:endParaRPr kumimoji="1"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C8B1815F-033B-BD47-948B-A5DF4FDB1F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22488" y="1825625"/>
            <a:ext cx="4947023" cy="4351338"/>
          </a:xfr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1A42549-CF5A-2A9B-B37E-7A87FA3C6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69951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801C31-6A2B-ED4F-B546-EBCF104CB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Label and Label Selector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B67060C9-45AD-0E4A-8D75-B571D53B36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64561" y="1514867"/>
            <a:ext cx="4409286" cy="4195762"/>
          </a:xfr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8E14746-73C6-1AC4-56CD-48A01ABDC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07317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6A361E-5AFC-534A-ACFE-E41B176F1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Selector</a:t>
            </a:r>
            <a:endParaRPr kumimoji="1"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B044E18-D9BA-0445-4917-0AB607010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30</a:t>
            </a:fld>
            <a:endParaRPr lang="zh-TW" altLang="en-US"/>
          </a:p>
        </p:txBody>
      </p:sp>
      <p:pic>
        <p:nvPicPr>
          <p:cNvPr id="6" name="內容版面配置區 9">
            <a:extLst>
              <a:ext uri="{FF2B5EF4-FFF2-40B4-BE49-F238E27FC236}">
                <a16:creationId xmlns:a16="http://schemas.microsoft.com/office/drawing/2014/main" id="{CA7C71E7-F00F-188B-0C10-40D0439AF9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4254271" y="1825625"/>
            <a:ext cx="368345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3705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D23A8F-AE5C-7141-ABEB-AF60E5C4F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- Scaling</a:t>
            </a:r>
            <a:endParaRPr kumimoji="1" lang="zh-TW" altLang="en-US" dirty="0"/>
          </a:p>
        </p:txBody>
      </p:sp>
      <p:pic>
        <p:nvPicPr>
          <p:cNvPr id="21" name="內容版面配置區 20">
            <a:extLst>
              <a:ext uri="{FF2B5EF4-FFF2-40B4-BE49-F238E27FC236}">
                <a16:creationId xmlns:a16="http://schemas.microsoft.com/office/drawing/2014/main" id="{90FE9BF6-FF55-044B-87D6-D00664BC4BB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443783" y="1825625"/>
            <a:ext cx="3970434" cy="4351338"/>
          </a:xfrm>
        </p:spPr>
      </p:pic>
      <p:pic>
        <p:nvPicPr>
          <p:cNvPr id="11" name="內容版面配置區 10">
            <a:extLst>
              <a:ext uri="{FF2B5EF4-FFF2-40B4-BE49-F238E27FC236}">
                <a16:creationId xmlns:a16="http://schemas.microsoft.com/office/drawing/2014/main" id="{9D2EFE03-4E8B-EE42-B8CB-C0290AD00AE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672053" y="1825625"/>
            <a:ext cx="4181893" cy="4351338"/>
          </a:xfr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7D2FB05-BEA9-B897-1F1D-E99663C0E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45864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2720F2-121D-EE41-9D01-3E0D496C0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- Rolling update -1</a:t>
            </a:r>
            <a:endParaRPr kumimoji="1"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A38ABCE8-F959-384F-BA09-0A4CBF349FD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661567" y="1656878"/>
            <a:ext cx="3726750" cy="4195763"/>
          </a:xfrm>
        </p:spPr>
      </p:pic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D56F9DF5-E9D0-3844-8BC2-442B5AA98FB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656309" y="1678405"/>
            <a:ext cx="4254500" cy="3898900"/>
          </a:xfr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C7FACBF-5B6E-FF2F-DE27-28F7ACE62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0534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FF9468-B349-6047-ADD0-8FAD20775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- Rolling update -2</a:t>
            </a:r>
            <a:endParaRPr kumimoji="1"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13D2AC46-FDC6-8F4C-B209-7ACF56FAEAE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54906" y="2092017"/>
            <a:ext cx="4292600" cy="3975100"/>
          </a:xfrm>
        </p:spPr>
      </p:pic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3D509847-CDB6-7C42-BD67-3B28DB2460B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1855413"/>
            <a:ext cx="5181600" cy="4291761"/>
          </a:xfr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DAE7923-8E96-E4B7-A172-9C25ADE10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08940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3EC0BF1D-70FA-5B4B-B92A-5A64FCC46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用</a:t>
            </a:r>
            <a:r>
              <a:rPr kumimoji="1" lang="en-US" altLang="zh-CN" dirty="0"/>
              <a:t>rancher </a:t>
            </a:r>
            <a:r>
              <a:rPr kumimoji="1" lang="zh-Hant" altLang="en-US" dirty="0"/>
              <a:t>安裝</a:t>
            </a:r>
            <a:r>
              <a:rPr kumimoji="1" lang="en-US" altLang="zh-Hant" dirty="0"/>
              <a:t>Kubernetes</a:t>
            </a:r>
          </a:p>
        </p:txBody>
      </p:sp>
      <p:sp>
        <p:nvSpPr>
          <p:cNvPr id="5" name="文字預留位置 4">
            <a:extLst>
              <a:ext uri="{FF2B5EF4-FFF2-40B4-BE49-F238E27FC236}">
                <a16:creationId xmlns:a16="http://schemas.microsoft.com/office/drawing/2014/main" id="{DD085377-797C-6E43-AD50-E8C15C394A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26F9B70-C975-897C-AD94-759CD5076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14939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EB4518-179A-DA44-AC15-D2E1980EC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Deploy Kubernetes: Rancher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C773B8C-96F1-FA4E-87E8-78839D6E6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部署與管理</a:t>
            </a:r>
            <a:r>
              <a:rPr kumimoji="1" lang="en-US" altLang="zh-CN" dirty="0"/>
              <a:t>K8s</a:t>
            </a:r>
            <a:r>
              <a:rPr kumimoji="1" lang="zh-CN" altLang="en-US" dirty="0"/>
              <a:t>的</a:t>
            </a:r>
            <a:r>
              <a:rPr kumimoji="1" lang="en-US" altLang="zh-CN" dirty="0"/>
              <a:t>open source software</a:t>
            </a:r>
          </a:p>
          <a:p>
            <a:r>
              <a:rPr kumimoji="1" lang="zh-CN" altLang="en-US" dirty="0"/>
              <a:t>可同時管理多套</a:t>
            </a:r>
            <a:endParaRPr kumimoji="1" lang="en-US" altLang="zh-CN" dirty="0"/>
          </a:p>
          <a:p>
            <a:r>
              <a:rPr kumimoji="1" lang="zh-CN" altLang="en-US" dirty="0"/>
              <a:t>視覺化部署與操作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0A5ED1D-0A64-C043-9D08-1246D1CF2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509" y="4150658"/>
            <a:ext cx="2336800" cy="182880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93EA4DAB-1AB3-B84A-7FC7-9C8084E09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884" y="3944086"/>
            <a:ext cx="6481594" cy="210820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0E50F4A-DA53-A8F2-4171-7A6FFA8C7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245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C03F61-DD0D-A443-A8DF-8555A5B13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Deploy Rancher container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49451A5-D890-7741-940B-4687EF20F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TW" dirty="0" err="1"/>
              <a:t>sudo</a:t>
            </a:r>
            <a:r>
              <a:rPr kumimoji="1" lang="en" altLang="zh-TW" dirty="0"/>
              <a:t> /home/</a:t>
            </a:r>
            <a:r>
              <a:rPr kumimoji="1" lang="en" altLang="zh-TW" dirty="0" err="1"/>
              <a:t>demoyuw</a:t>
            </a:r>
            <a:r>
              <a:rPr kumimoji="1" lang="en" altLang="zh-TW" dirty="0"/>
              <a:t>/docker-</a:t>
            </a:r>
            <a:r>
              <a:rPr kumimoji="1" lang="en" altLang="zh-TW" dirty="0" err="1"/>
              <a:t>devops</a:t>
            </a:r>
            <a:r>
              <a:rPr kumimoji="1" lang="en" altLang="zh-TW" dirty="0"/>
              <a:t>/script/</a:t>
            </a:r>
            <a:r>
              <a:rPr kumimoji="1" lang="en" altLang="zh-TW" dirty="0" err="1"/>
              <a:t>ubuntu_deploy_rancher.sh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6FAB138-7AE4-F69A-E646-16A01CB9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30189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2818B5-49FE-6C41-B6A5-138A0788F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Deploy Rancher</a:t>
            </a:r>
            <a:r>
              <a:rPr kumimoji="1" lang="zh-TW" altLang="en-US" dirty="0"/>
              <a:t> </a:t>
            </a:r>
            <a:r>
              <a:rPr kumimoji="1" lang="en-US" altLang="zh-TW" dirty="0"/>
              <a:t>container</a:t>
            </a:r>
            <a:endParaRPr kumimoji="1"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CFE5353-F2CF-33A5-8BDC-DF40F1E639A6}"/>
              </a:ext>
            </a:extLst>
          </p:cNvPr>
          <p:cNvSpPr txBox="1"/>
          <p:nvPr/>
        </p:nvSpPr>
        <p:spPr>
          <a:xfrm>
            <a:off x="1028700" y="1787244"/>
            <a:ext cx="10134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這邊特別把</a:t>
            </a:r>
            <a:r>
              <a:rPr kumimoji="1" lang="en-US" altLang="zh-TW" dirty="0"/>
              <a:t>Rancher</a:t>
            </a:r>
            <a:r>
              <a:rPr kumimoji="1" lang="zh-TW" altLang="en-US" dirty="0"/>
              <a:t>網頁服務用的</a:t>
            </a:r>
            <a:r>
              <a:rPr kumimoji="1" lang="en-US" altLang="zh-TW" dirty="0"/>
              <a:t>port</a:t>
            </a:r>
            <a:r>
              <a:rPr kumimoji="1" lang="zh-TW" altLang="en-US" dirty="0"/>
              <a:t>，</a:t>
            </a:r>
            <a:r>
              <a:rPr kumimoji="1" lang="en-US" altLang="zh-TW" dirty="0"/>
              <a:t>HTTP</a:t>
            </a:r>
            <a:r>
              <a:rPr kumimoji="1" lang="zh-TW" altLang="en-US" dirty="0"/>
              <a:t>從</a:t>
            </a:r>
            <a:r>
              <a:rPr kumimoji="1" lang="en-US" altLang="zh-TW" dirty="0"/>
              <a:t>80 </a:t>
            </a:r>
            <a:r>
              <a:rPr kumimoji="1" lang="zh-TW" altLang="en-US" dirty="0"/>
              <a:t>指定成</a:t>
            </a:r>
            <a:r>
              <a:rPr kumimoji="1" lang="en-US" altLang="zh-TW" dirty="0"/>
              <a:t>10080</a:t>
            </a:r>
            <a:r>
              <a:rPr kumimoji="1" lang="zh-TW" altLang="en-US" dirty="0"/>
              <a:t>，</a:t>
            </a:r>
            <a:r>
              <a:rPr kumimoji="1" lang="en-US" altLang="zh-TW" dirty="0"/>
              <a:t>HTTPs</a:t>
            </a:r>
            <a:r>
              <a:rPr kumimoji="1" lang="zh-TW" altLang="en-US" dirty="0"/>
              <a:t>從</a:t>
            </a:r>
            <a:r>
              <a:rPr kumimoji="1" lang="en-US" altLang="zh-TW" dirty="0"/>
              <a:t>443</a:t>
            </a:r>
            <a:r>
              <a:rPr kumimoji="1" lang="zh-TW" altLang="en-US" dirty="0"/>
              <a:t>指定成</a:t>
            </a:r>
            <a:r>
              <a:rPr kumimoji="1" lang="en-US" altLang="zh-TW" dirty="0"/>
              <a:t>10443</a:t>
            </a:r>
            <a:r>
              <a:rPr kumimoji="1" lang="zh-TW" altLang="en-US" dirty="0"/>
              <a:t>。目的是為了留</a:t>
            </a:r>
            <a:r>
              <a:rPr kumimoji="1" lang="en-US" altLang="zh-TW" dirty="0"/>
              <a:t>80, 443 ports </a:t>
            </a:r>
            <a:r>
              <a:rPr kumimoji="1" lang="zh-TW" altLang="en-US" dirty="0"/>
              <a:t>給</a:t>
            </a:r>
            <a:r>
              <a:rPr kumimoji="1" lang="en-US" altLang="zh-TW" dirty="0"/>
              <a:t>GitLab</a:t>
            </a:r>
            <a:r>
              <a:rPr kumimoji="1" lang="zh-TW" altLang="en-US" dirty="0"/>
              <a:t> </a:t>
            </a:r>
            <a:r>
              <a:rPr kumimoji="1" lang="en-US" altLang="zh-TW" dirty="0"/>
              <a:t>server</a:t>
            </a:r>
            <a:r>
              <a:rPr kumimoji="1" lang="zh-TW" altLang="en-US" dirty="0"/>
              <a:t>。</a:t>
            </a:r>
          </a:p>
        </p:txBody>
      </p:sp>
      <p:pic>
        <p:nvPicPr>
          <p:cNvPr id="16" name="內容版面配置區 15">
            <a:extLst>
              <a:ext uri="{FF2B5EF4-FFF2-40B4-BE49-F238E27FC236}">
                <a16:creationId xmlns:a16="http://schemas.microsoft.com/office/drawing/2014/main" id="{933CD925-19C3-53CA-C072-3CA6BBBBFC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7645" y="3229769"/>
            <a:ext cx="9118600" cy="158750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6593AA8-3407-E870-F424-04F5D9D1B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48649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02149B-1796-B06D-1AC4-7C0A0D67D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Rancher </a:t>
            </a:r>
            <a:r>
              <a:rPr kumimoji="1" lang="zh-TW" altLang="en-US" dirty="0"/>
              <a:t>網頁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B8721BB-F03D-FF6E-7F83-6C2ACE415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https://{VM1_IP}:10443</a:t>
            </a:r>
          </a:p>
          <a:p>
            <a:pPr lvl="1"/>
            <a:r>
              <a:rPr kumimoji="1" lang="en-US" altLang="zh-TW" dirty="0"/>
              <a:t>e.g. </a:t>
            </a:r>
            <a:r>
              <a:rPr kumimoji="1" lang="en-US" altLang="zh-TW" dirty="0">
                <a:hlinkClick r:id="rId2"/>
              </a:rPr>
              <a:t>https://35.188.47.40:10443</a:t>
            </a:r>
            <a:endParaRPr kumimoji="1" lang="en-US" altLang="zh-TW" dirty="0"/>
          </a:p>
          <a:p>
            <a:pPr lvl="1"/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3D87BDF-403C-05D7-BBF8-41B27BD42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201" y="2737426"/>
            <a:ext cx="7352015" cy="3987009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86BCF53-EBCC-D867-2CC9-7D7EA6243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0559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8DB956-1BEA-8749-BB41-6EB684070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Rancher UI</a:t>
            </a:r>
            <a:endParaRPr kumimoji="1" lang="zh-TW" altLang="en-US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94C78999-D134-B60F-C433-3001D7AF20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6331" y="1825625"/>
            <a:ext cx="7879338" cy="4351338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1E264B0-A135-AF80-6D6C-F75E3BA56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68621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8C70AE-F301-ED40-9B81-85950B5A3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至</a:t>
            </a:r>
            <a:r>
              <a:rPr kumimoji="1" lang="en-US" altLang="zh-CN" dirty="0"/>
              <a:t>rancher container </a:t>
            </a:r>
            <a:r>
              <a:rPr kumimoji="1" lang="zh-CN" altLang="en-US" dirty="0"/>
              <a:t>取得</a:t>
            </a:r>
            <a:r>
              <a:rPr kumimoji="1" lang="en-US" altLang="zh-CN" dirty="0"/>
              <a:t>admin</a:t>
            </a:r>
            <a:r>
              <a:rPr kumimoji="1" lang="zh-CN" altLang="en-US" dirty="0"/>
              <a:t>預設密碼</a:t>
            </a:r>
            <a:endParaRPr kumimoji="1"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A803408E-2C01-6544-90E6-1DC4A3E4AC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68130" y="1265682"/>
            <a:ext cx="5102959" cy="444314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4D8D0D9F-0D21-B94A-864E-DA6FB4CB0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84" y="5806906"/>
            <a:ext cx="11756032" cy="549444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05292FC-4F2F-5F15-E94B-FAD85132A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88974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5F0804-977A-8F4D-9D21-FEC70D36A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設定</a:t>
            </a:r>
            <a:r>
              <a:rPr kumimoji="1" lang="en-US" altLang="zh-TW" dirty="0"/>
              <a:t> admin password,</a:t>
            </a:r>
            <a:r>
              <a:rPr kumimoji="1" lang="zh-TW" altLang="en-US" dirty="0"/>
              <a:t> </a:t>
            </a:r>
            <a:r>
              <a:rPr kumimoji="1" lang="en-US" altLang="zh-TW" dirty="0"/>
              <a:t>Server URL </a:t>
            </a:r>
            <a:endParaRPr kumimoji="1" lang="zh-TW" altLang="en-US" dirty="0"/>
          </a:p>
        </p:txBody>
      </p:sp>
      <p:pic>
        <p:nvPicPr>
          <p:cNvPr id="12" name="內容版面配置區 11">
            <a:extLst>
              <a:ext uri="{FF2B5EF4-FFF2-40B4-BE49-F238E27FC236}">
                <a16:creationId xmlns:a16="http://schemas.microsoft.com/office/drawing/2014/main" id="{A62C321D-1C8D-2249-A579-1F349E8442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81400" y="1460744"/>
            <a:ext cx="5029200" cy="5081101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969CC9C-E81F-42BA-B0D4-884CA57F4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41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65652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78F452-4EAA-4149-B8D3-4241845FC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Create Cluster(k8s) on Rancher UI</a:t>
            </a:r>
            <a:endParaRPr kumimoji="1" lang="zh-TW" altLang="en-US" dirty="0"/>
          </a:p>
        </p:txBody>
      </p:sp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11709B57-C5E7-E841-ACFA-CE9184C508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70205" y="1448577"/>
            <a:ext cx="7043352" cy="5099470"/>
          </a:xfr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13E99DC-8506-7F9B-E237-D863DAC95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42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488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699FB4-224C-5C46-86A8-5C5B97C79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預計裝在裸機，點選</a:t>
            </a:r>
            <a:r>
              <a:rPr kumimoji="1" lang="en-US" altLang="zh-CN" dirty="0"/>
              <a:t>Custom</a:t>
            </a:r>
            <a:endParaRPr kumimoji="1" lang="zh-TW" altLang="en-US" dirty="0"/>
          </a:p>
        </p:txBody>
      </p:sp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9F12966A-F79A-BD4A-9E63-8EDD89C3E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2026/4/18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348F0C9D-7010-C44D-85CB-82A97C43F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43</a:t>
            </a:fld>
            <a:endParaRPr kumimoji="1" lang="zh-TW" altLang="en-US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A278A368-AA4F-50DD-2479-962312E218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7323" y="1825625"/>
            <a:ext cx="8937354" cy="4351338"/>
          </a:xfrm>
        </p:spPr>
      </p:pic>
    </p:spTree>
    <p:extLst>
      <p:ext uri="{BB962C8B-B14F-4D97-AF65-F5344CB8AC3E}">
        <p14:creationId xmlns:p14="http://schemas.microsoft.com/office/powerpoint/2010/main" val="17602907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928851-7E04-5945-B88B-39C7D2891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Cluster</a:t>
            </a:r>
            <a:r>
              <a:rPr kumimoji="1" lang="zh-CN" altLang="en-US" dirty="0"/>
              <a:t>命名、選擇</a:t>
            </a:r>
            <a:r>
              <a:rPr kumimoji="1" lang="en-US" altLang="zh-CN" dirty="0"/>
              <a:t>k8s</a:t>
            </a:r>
            <a:r>
              <a:rPr kumimoji="1" lang="zh-CN" altLang="en-US" dirty="0"/>
              <a:t>版本，選擇網路模組</a:t>
            </a:r>
            <a:r>
              <a:rPr kumimoji="1" lang="en-US" altLang="zh-CN" dirty="0"/>
              <a:t>Calico</a:t>
            </a:r>
            <a:endParaRPr kumimoji="1" lang="zh-TW" altLang="en-US" dirty="0"/>
          </a:p>
        </p:txBody>
      </p:sp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995133B2-0129-494F-9B49-84EDD87E4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2026/4/18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A5DF8BD3-7306-E840-AEB5-6F72B6561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44</a:t>
            </a:fld>
            <a:endParaRPr kumimoji="1" lang="zh-TW" altLang="en-US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BA3A9282-C976-4A64-AA32-E0BBF5172E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8944" y="1825625"/>
            <a:ext cx="8674111" cy="4351338"/>
          </a:xfrm>
        </p:spPr>
      </p:pic>
    </p:spTree>
    <p:extLst>
      <p:ext uri="{BB962C8B-B14F-4D97-AF65-F5344CB8AC3E}">
        <p14:creationId xmlns:p14="http://schemas.microsoft.com/office/powerpoint/2010/main" val="18453046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A2A18F-CCDC-164F-84D0-6E8DD7923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勾選</a:t>
            </a:r>
            <a:r>
              <a:rPr kumimoji="1" lang="en-US" altLang="zh-CN" dirty="0" err="1"/>
              <a:t>etcd</a:t>
            </a:r>
            <a:r>
              <a:rPr kumimoji="1" lang="en-US" altLang="zh-CN" dirty="0"/>
              <a:t>, control plane, worker</a:t>
            </a:r>
            <a:r>
              <a:rPr kumimoji="1" lang="zh-CN" altLang="en-US" dirty="0"/>
              <a:t>三項，複製下面</a:t>
            </a:r>
            <a:r>
              <a:rPr kumimoji="1" lang="en-US" altLang="zh-CN" dirty="0"/>
              <a:t>docker command</a:t>
            </a:r>
            <a:endParaRPr kumimoji="1" lang="zh-TW" altLang="en-US" dirty="0"/>
          </a:p>
        </p:txBody>
      </p:sp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B6EFFB4F-2BEB-4A48-B1DE-1EFE144F7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2026/4/18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6483ACBB-B839-A143-BA6A-1CC454C86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45</a:t>
            </a:fld>
            <a:endParaRPr kumimoji="1" lang="zh-TW" altLang="en-US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9C641313-A113-3DC1-E147-C5BF32A258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0798" y="1825625"/>
            <a:ext cx="7830403" cy="4351338"/>
          </a:xfrm>
        </p:spPr>
      </p:pic>
    </p:spTree>
    <p:extLst>
      <p:ext uri="{BB962C8B-B14F-4D97-AF65-F5344CB8AC3E}">
        <p14:creationId xmlns:p14="http://schemas.microsoft.com/office/powerpoint/2010/main" val="4440223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E162D2-1CB2-2300-25E6-AA08FC369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VM2</a:t>
            </a:r>
            <a:r>
              <a:rPr kumimoji="1" lang="zh-TW" altLang="en-US" dirty="0"/>
              <a:t>上執行</a:t>
            </a: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7EA988FD-C692-F3EA-7DCC-53BB3CAA0B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43653"/>
            <a:ext cx="10515600" cy="4115282"/>
          </a:xfr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74DB5FC-1749-4B7C-6F01-E6D38BEA9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2026/4/18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1E02504-5EE8-1631-4186-3D58C0DAD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46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938984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740E14-6FDD-E443-EBDA-31DFD6B77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檢查</a:t>
            </a:r>
            <a:r>
              <a:rPr kumimoji="1" lang="en-US" altLang="zh-TW" dirty="0"/>
              <a:t>deploy</a:t>
            </a:r>
            <a:r>
              <a:rPr kumimoji="1" lang="zh-TW" altLang="en-US" dirty="0"/>
              <a:t>進度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CBF6C70-D5AF-21E3-1950-FEB4D0DD9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檢查</a:t>
            </a:r>
            <a:r>
              <a:rPr lang="en-US" altLang="zh-TW" dirty="0" err="1"/>
              <a:t>agenet</a:t>
            </a:r>
            <a:r>
              <a:rPr lang="en-US" altLang="zh-TW" dirty="0"/>
              <a:t> service </a:t>
            </a:r>
            <a:r>
              <a:rPr lang="zh-TW" altLang="en-US" dirty="0"/>
              <a:t>運作有正常啟動</a:t>
            </a:r>
            <a:endParaRPr lang="en" altLang="zh-TW" dirty="0">
              <a:effectLst/>
            </a:endParaRPr>
          </a:p>
          <a:p>
            <a:pPr lvl="1"/>
            <a:r>
              <a:rPr lang="en" altLang="zh-TW" dirty="0" err="1">
                <a:effectLst/>
              </a:rPr>
              <a:t>sudo</a:t>
            </a:r>
            <a:r>
              <a:rPr lang="en" altLang="zh-TW" dirty="0">
                <a:effectLst/>
              </a:rPr>
              <a:t> </a:t>
            </a:r>
            <a:r>
              <a:rPr lang="en" altLang="zh-TW" dirty="0" err="1">
                <a:effectLst/>
              </a:rPr>
              <a:t>systemctl</a:t>
            </a:r>
            <a:r>
              <a:rPr lang="en" altLang="zh-TW" dirty="0">
                <a:effectLst/>
              </a:rPr>
              <a:t> status rancher-system-agent</a:t>
            </a:r>
          </a:p>
          <a:p>
            <a:pPr lvl="1"/>
            <a:endParaRPr lang="en" altLang="zh-TW" dirty="0">
              <a:effectLst/>
            </a:endParaRPr>
          </a:p>
          <a:p>
            <a:pPr lvl="1"/>
            <a:endParaRPr lang="en" altLang="zh-TW" dirty="0">
              <a:effectLst/>
            </a:endParaRPr>
          </a:p>
          <a:p>
            <a:pPr marL="0" indent="0">
              <a:buNone/>
            </a:pPr>
            <a:endParaRPr lang="en" altLang="zh-TW" dirty="0"/>
          </a:p>
          <a:p>
            <a:r>
              <a:rPr lang="zh-TW" altLang="en-US" dirty="0">
                <a:effectLst/>
              </a:rPr>
              <a:t>查看</a:t>
            </a:r>
            <a:r>
              <a:rPr lang="en-US" altLang="zh-TW" dirty="0">
                <a:effectLst/>
              </a:rPr>
              <a:t>agent log</a:t>
            </a:r>
            <a:endParaRPr lang="en" altLang="zh-TW" dirty="0">
              <a:effectLst/>
            </a:endParaRPr>
          </a:p>
          <a:p>
            <a:pPr lvl="1"/>
            <a:r>
              <a:rPr lang="en" altLang="zh-TW" dirty="0" err="1">
                <a:effectLst/>
              </a:rPr>
              <a:t>sudo</a:t>
            </a:r>
            <a:r>
              <a:rPr lang="en" altLang="zh-TW" dirty="0">
                <a:effectLst/>
              </a:rPr>
              <a:t> </a:t>
            </a:r>
            <a:r>
              <a:rPr lang="en" altLang="zh-TW" dirty="0" err="1">
                <a:effectLst/>
              </a:rPr>
              <a:t>journalctl</a:t>
            </a:r>
            <a:r>
              <a:rPr lang="en" altLang="zh-TW" dirty="0">
                <a:effectLst/>
              </a:rPr>
              <a:t> -u rancher-system-agent -f</a:t>
            </a:r>
          </a:p>
          <a:p>
            <a:pPr lvl="1"/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B2FDDE1-CAEF-EBE3-EEC6-0917E84BB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47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368FF2F-E98F-4AD2-9200-BFD45579F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9992" y="2628182"/>
            <a:ext cx="5129676" cy="1441584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988170B7-AB99-8274-001A-56A4EFF4D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630" y="5044690"/>
            <a:ext cx="7772400" cy="131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8803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2F1D56-45D8-42E7-7221-BF9339338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Rancher agent </a:t>
            </a:r>
            <a:r>
              <a:rPr kumimoji="1" lang="zh-TW" altLang="en-US" dirty="0"/>
              <a:t>運行流程</a:t>
            </a:r>
            <a:r>
              <a:rPr kumimoji="1" lang="en-US" altLang="zh-TW" dirty="0"/>
              <a:t> </a:t>
            </a:r>
            <a:endParaRPr kumimoji="1"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8CC760D-EA71-5FC4-392E-81CFAECD1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48</a:t>
            </a:fld>
            <a:endParaRPr lang="zh-TW" altLang="en-US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C9CD0428-EB11-74DA-B91B-9C8350DADC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1450" y="2337594"/>
            <a:ext cx="9309100" cy="3327400"/>
          </a:xfrm>
        </p:spPr>
      </p:pic>
    </p:spTree>
    <p:extLst>
      <p:ext uri="{BB962C8B-B14F-4D97-AF65-F5344CB8AC3E}">
        <p14:creationId xmlns:p14="http://schemas.microsoft.com/office/powerpoint/2010/main" val="16605529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E11059-EA61-9640-9C69-227A58D1A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 </a:t>
            </a:r>
            <a:r>
              <a:rPr kumimoji="1" lang="zh-CN" altLang="en-US" dirty="0"/>
              <a:t>部署中</a:t>
            </a: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7B8AA87-312F-C942-9334-1A3D52AE8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2026/4/18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26F2379-05A0-F14A-82DA-14AD8A362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49</a:t>
            </a:fld>
            <a:endParaRPr kumimoji="1" lang="zh-TW" altLang="en-US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0ABCFB2C-D970-5A48-8F64-D87ECB4B26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72704"/>
            <a:ext cx="10515600" cy="305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6283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627445-D9DE-4047-B20E-F989280CF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部署完成，點選</a:t>
            </a:r>
            <a:r>
              <a:rPr kumimoji="1" lang="en-US" altLang="zh-CN" dirty="0"/>
              <a:t>Download </a:t>
            </a:r>
            <a:r>
              <a:rPr kumimoji="1" lang="en-US" altLang="zh-CN" dirty="0" err="1"/>
              <a:t>KubeConfig</a:t>
            </a:r>
            <a:r>
              <a:rPr kumimoji="1" lang="en-US" altLang="zh-CN" dirty="0"/>
              <a:t> </a:t>
            </a:r>
            <a:endParaRPr kumimoji="1" lang="zh-TW" altLang="en-US" dirty="0"/>
          </a:p>
        </p:txBody>
      </p:sp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FF824DC0-2006-E54A-85C2-B9CE2E8AE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2026/4/18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6A72F5DA-7693-7748-B953-62E667C23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50</a:t>
            </a:fld>
            <a:endParaRPr kumimoji="1" lang="zh-TW" altLang="en-US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2870BAFE-8029-DA46-AC9F-0307F584EF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46047"/>
            <a:ext cx="10515600" cy="4110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39099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92F632-3C09-7B45-BE8F-E3570729F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另存</a:t>
            </a:r>
            <a:r>
              <a:rPr kumimoji="1" lang="en-US" altLang="zh-CN" dirty="0" err="1"/>
              <a:t>Kubeconfig</a:t>
            </a:r>
            <a:r>
              <a:rPr kumimoji="1" lang="zh-TW" altLang="en-US" dirty="0"/>
              <a:t> </a:t>
            </a:r>
            <a:r>
              <a:rPr kumimoji="1" lang="en-US" altLang="zh-TW" dirty="0"/>
              <a:t>file.</a:t>
            </a: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BBF39B4-0228-4C4C-B5E4-C57BAFA14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2026/4/18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24CE738-5E7B-CD44-A97B-DC5878C9C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51</a:t>
            </a:fld>
            <a:endParaRPr kumimoji="1" lang="zh-TW" altLang="en-US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231EE3EC-5F84-A247-8578-B8768A7A35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9675" y="1825625"/>
            <a:ext cx="817265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21484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520A6C-28CF-EB2D-8BB8-4E7C400EA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部署完成</a:t>
            </a:r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5BD610A0-6B77-F314-AE76-DC8D43DB61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7582" y="2680707"/>
            <a:ext cx="8564310" cy="2864415"/>
          </a:xfrm>
          <a:prstGeom prst="rect">
            <a:avLst/>
          </a:prstGeo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43BC828-EB5A-46DC-63F6-681408C19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2026/4/18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5310E4B-D363-7D49-5857-9B9D7C926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52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7115198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BD88173B-54E7-3A43-A66B-57C57005C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Install </a:t>
            </a:r>
            <a:r>
              <a:rPr kumimoji="1" lang="en-US" altLang="zh-TW" dirty="0" err="1"/>
              <a:t>kubectl</a:t>
            </a:r>
            <a:endParaRPr kumimoji="1" lang="zh-TW" altLang="en-US" dirty="0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E1C0FE1C-52BA-F447-BD2D-6A83B77C04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zh-TW" dirty="0"/>
              <a:t>Ubuntu install </a:t>
            </a:r>
            <a:r>
              <a:rPr lang="en" altLang="zh-TW" dirty="0" err="1"/>
              <a:t>kubectl</a:t>
            </a:r>
            <a:endParaRPr lang="en" altLang="zh-TW" dirty="0"/>
          </a:p>
          <a:p>
            <a:pPr lvl="1"/>
            <a:r>
              <a:rPr lang="en" altLang="zh-TW" dirty="0" err="1"/>
              <a:t>sudo</a:t>
            </a:r>
            <a:r>
              <a:rPr lang="en" altLang="zh-TW" dirty="0"/>
              <a:t> snap install </a:t>
            </a:r>
            <a:r>
              <a:rPr lang="en" altLang="zh-TW" dirty="0" err="1"/>
              <a:t>kubectl</a:t>
            </a:r>
            <a:r>
              <a:rPr lang="en" altLang="zh-TW" dirty="0"/>
              <a:t> --classic</a:t>
            </a:r>
          </a:p>
          <a:p>
            <a:r>
              <a:rPr kumimoji="1" lang="zh-CN" altLang="en-US" dirty="0"/>
              <a:t>安裝方式可參照</a:t>
            </a:r>
            <a:endParaRPr kumimoji="1" lang="en-US" altLang="zh-CN" dirty="0"/>
          </a:p>
          <a:p>
            <a:pPr lvl="1"/>
            <a:r>
              <a:rPr lang="en-US" altLang="zh-TW" dirty="0">
                <a:hlinkClick r:id="rId2"/>
              </a:rPr>
              <a:t>https://kubernetes.io/docs/tasks/tools/install-kubectl/</a:t>
            </a:r>
            <a:endParaRPr kumimoji="1"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8ACF24F-00B4-2C2C-0272-6B6DEB8E0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53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33127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EDD4FD0F-69E2-1B43-89C9-228C4A6C4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 </a:t>
            </a:r>
            <a:r>
              <a:rPr kumimoji="1" lang="zh-Hant" altLang="en-US" dirty="0"/>
              <a:t>操作</a:t>
            </a:r>
            <a:endParaRPr kumimoji="1" lang="zh-TW" altLang="en-US" dirty="0"/>
          </a:p>
        </p:txBody>
      </p:sp>
      <p:sp>
        <p:nvSpPr>
          <p:cNvPr id="5" name="文字預留位置 4">
            <a:extLst>
              <a:ext uri="{FF2B5EF4-FFF2-40B4-BE49-F238E27FC236}">
                <a16:creationId xmlns:a16="http://schemas.microsoft.com/office/drawing/2014/main" id="{97EC1AAA-844F-6544-95DD-3E612AC639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B5D8918-CFBC-6055-295A-CA3F7C584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54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263925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ACBC5B-9F23-974A-AF5E-C63365D9C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放置</a:t>
            </a:r>
            <a:r>
              <a:rPr kumimoji="1" lang="en-US" altLang="zh-TW" dirty="0" err="1"/>
              <a:t>kube</a:t>
            </a:r>
            <a:r>
              <a:rPr kumimoji="1" lang="en-US" altLang="zh-TW" dirty="0"/>
              <a:t> </a:t>
            </a:r>
            <a:r>
              <a:rPr kumimoji="1" lang="en-US" altLang="zh-TW" dirty="0" err="1"/>
              <a:t>conf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BE59B2D-44D4-5840-BC1D-970DC321F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建立資料夾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mkdir</a:t>
            </a:r>
            <a:r>
              <a:rPr kumimoji="1" lang="en-US" altLang="zh-TW" dirty="0"/>
              <a:t> -p ~/.</a:t>
            </a:r>
            <a:r>
              <a:rPr kumimoji="1" lang="en-US" altLang="zh-TW" dirty="0" err="1"/>
              <a:t>kube</a:t>
            </a:r>
            <a:r>
              <a:rPr kumimoji="1" lang="en-US" altLang="zh-TW" dirty="0"/>
              <a:t>  </a:t>
            </a:r>
          </a:p>
          <a:p>
            <a:r>
              <a:rPr kumimoji="1" lang="en-US" altLang="zh-TW" dirty="0" err="1"/>
              <a:t>Kube</a:t>
            </a:r>
            <a:r>
              <a:rPr kumimoji="1" lang="en-US" altLang="zh-TW" dirty="0"/>
              <a:t> config file </a:t>
            </a:r>
            <a:r>
              <a:rPr kumimoji="1" lang="zh-CN" altLang="en-US" dirty="0"/>
              <a:t>放置到</a:t>
            </a:r>
            <a:r>
              <a:rPr kumimoji="1" lang="en-US" altLang="zh-CN" dirty="0"/>
              <a:t>VM1</a:t>
            </a:r>
            <a:r>
              <a:rPr kumimoji="1" lang="zh-CN" altLang="en-US" dirty="0"/>
              <a:t>上的</a:t>
            </a:r>
            <a:r>
              <a:rPr kumimoji="1" lang="zh-Hant" altLang="en-US" dirty="0"/>
              <a:t> </a:t>
            </a:r>
            <a:r>
              <a:rPr kumimoji="1" lang="en-US" altLang="zh-Hant" dirty="0"/>
              <a:t>~/.</a:t>
            </a:r>
            <a:r>
              <a:rPr kumimoji="1" lang="en-US" altLang="zh-Hant" dirty="0" err="1"/>
              <a:t>kube</a:t>
            </a:r>
            <a:r>
              <a:rPr kumimoji="1" lang="en-US" altLang="zh-Hant" dirty="0"/>
              <a:t>/config</a:t>
            </a:r>
          </a:p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node</a:t>
            </a:r>
          </a:p>
          <a:p>
            <a:pPr lvl="1"/>
            <a:r>
              <a:rPr kumimoji="1" lang="zh-TW" altLang="en-US" dirty="0"/>
              <a:t>檢查</a:t>
            </a:r>
            <a:r>
              <a:rPr kumimoji="1" lang="en-US" altLang="zh-TW" dirty="0"/>
              <a:t> k8s</a:t>
            </a:r>
            <a:r>
              <a:rPr kumimoji="1" lang="zh-TW" altLang="en-US" dirty="0"/>
              <a:t>節點</a:t>
            </a:r>
            <a:endParaRPr kumimoji="1" lang="en-US" altLang="zh-TW" dirty="0"/>
          </a:p>
          <a:p>
            <a:endParaRPr kumimoji="1"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D785465-5CB1-15A7-7BBC-7ACD9C8C8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1024" y="3429000"/>
            <a:ext cx="5816600" cy="86360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FFEAB30-86AE-7299-DC11-750B4B67A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55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617425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677948-267F-2A47-8264-6C183B545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切換</a:t>
            </a:r>
            <a:r>
              <a:rPr kumimoji="1" lang="en-US" altLang="zh-TW" dirty="0"/>
              <a:t>k8s </a:t>
            </a:r>
            <a:r>
              <a:rPr kumimoji="1" lang="zh-CN" altLang="en-US" dirty="0"/>
              <a:t>環境</a:t>
            </a:r>
            <a:r>
              <a:rPr kumimoji="1" lang="en-US" altLang="zh-CN" dirty="0"/>
              <a:t> (</a:t>
            </a:r>
            <a:r>
              <a:rPr kumimoji="1" lang="zh-CN" altLang="en-US" dirty="0"/>
              <a:t>讀取</a:t>
            </a:r>
            <a:r>
              <a:rPr kumimoji="1" lang="en-US" altLang="zh-CN" dirty="0"/>
              <a:t>~/.</a:t>
            </a:r>
            <a:r>
              <a:rPr kumimoji="1" lang="en-US" altLang="zh-CN" dirty="0" err="1"/>
              <a:t>kube</a:t>
            </a:r>
            <a:r>
              <a:rPr kumimoji="1" lang="en-US" altLang="zh-CN" dirty="0"/>
              <a:t>/config)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A736299-322B-C04A-9660-5E1EEFE44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Cluster </a:t>
            </a:r>
            <a:r>
              <a:rPr kumimoji="1" lang="zh-TW" altLang="en-US" dirty="0"/>
              <a:t>列表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config get-contexts </a:t>
            </a:r>
          </a:p>
          <a:p>
            <a:r>
              <a:rPr kumimoji="1" lang="zh-CN" altLang="en-US" dirty="0"/>
              <a:t>選擇使用</a:t>
            </a:r>
            <a:r>
              <a:rPr kumimoji="1" lang="en-US" altLang="zh-CN" dirty="0"/>
              <a:t> Cluster </a:t>
            </a:r>
          </a:p>
          <a:p>
            <a:pPr lvl="1"/>
            <a:r>
              <a:rPr lang="en-US" altLang="zh-TW" dirty="0" err="1"/>
              <a:t>kubectl</a:t>
            </a:r>
            <a:r>
              <a:rPr lang="en-US" altLang="zh-TW" dirty="0"/>
              <a:t> config use-context {cluster name}</a:t>
            </a:r>
            <a:endParaRPr kumimoji="1"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A22EAE5-CE5D-9823-176F-4D9B827FE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56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616506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538D3F-E4B9-F248-8246-63D60C4F3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</a:t>
            </a:r>
            <a:r>
              <a:rPr kumimoji="1" lang="zh-Hant" altLang="en-US" dirty="0"/>
              <a:t> </a:t>
            </a:r>
            <a:r>
              <a:rPr kumimoji="1" lang="zh-CN" altLang="en-US" dirty="0"/>
              <a:t>顯示資訊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81B685B-61BE-F444-AD4D-E76BD3025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all</a:t>
            </a:r>
          </a:p>
          <a:p>
            <a:pPr lvl="1"/>
            <a:r>
              <a:rPr kumimoji="1" lang="en-US" altLang="zh-TW" dirty="0" err="1"/>
              <a:t>po</a:t>
            </a:r>
            <a:r>
              <a:rPr kumimoji="1" lang="en-US" altLang="zh-TW" dirty="0"/>
              <a:t> : pods</a:t>
            </a:r>
          </a:p>
          <a:p>
            <a:pPr lvl="2"/>
            <a:r>
              <a:rPr kumimoji="1" lang="en-US" altLang="zh-TW" dirty="0" err="1"/>
              <a:t>kubectl</a:t>
            </a:r>
            <a:r>
              <a:rPr kumimoji="1" lang="en-US" altLang="zh-TW" dirty="0"/>
              <a:t> get pods</a:t>
            </a:r>
          </a:p>
          <a:p>
            <a:pPr lvl="1"/>
            <a:r>
              <a:rPr kumimoji="1" lang="en-US" altLang="zh-TW" dirty="0"/>
              <a:t>svc: Service</a:t>
            </a:r>
          </a:p>
          <a:p>
            <a:pPr lvl="2"/>
            <a:r>
              <a:rPr kumimoji="1" lang="en-US" altLang="zh-TW" dirty="0" err="1"/>
              <a:t>kubectl</a:t>
            </a:r>
            <a:r>
              <a:rPr kumimoji="1" lang="en-US" altLang="zh-TW" dirty="0"/>
              <a:t> get svc</a:t>
            </a:r>
          </a:p>
          <a:p>
            <a:pPr lvl="1"/>
            <a:r>
              <a:rPr kumimoji="1" lang="en-US" altLang="zh-TW" dirty="0"/>
              <a:t>deploy: deployment</a:t>
            </a:r>
          </a:p>
          <a:p>
            <a:pPr lvl="2"/>
            <a:r>
              <a:rPr kumimoji="1" lang="en-US" altLang="zh-TW" dirty="0" err="1"/>
              <a:t>kubectl</a:t>
            </a:r>
            <a:r>
              <a:rPr kumimoji="1" lang="en-US" altLang="zh-TW" dirty="0"/>
              <a:t> get deploy</a:t>
            </a:r>
          </a:p>
          <a:p>
            <a:pPr lvl="1"/>
            <a:r>
              <a:rPr kumimoji="1" lang="en-US" altLang="zh-TW" dirty="0" err="1"/>
              <a:t>rs</a:t>
            </a:r>
            <a:r>
              <a:rPr kumimoji="1" lang="en-US" altLang="zh-TW" dirty="0"/>
              <a:t>: replicate set</a:t>
            </a:r>
          </a:p>
          <a:p>
            <a:pPr lvl="2"/>
            <a:r>
              <a:rPr kumimoji="1" lang="en-US" altLang="zh-TW" dirty="0" err="1"/>
              <a:t>kubectl</a:t>
            </a:r>
            <a:r>
              <a:rPr kumimoji="1" lang="en-US" altLang="zh-TW" dirty="0"/>
              <a:t> get </a:t>
            </a:r>
            <a:r>
              <a:rPr kumimoji="1" lang="en-US" altLang="zh-TW" dirty="0" err="1"/>
              <a:t>rs</a:t>
            </a:r>
            <a:endParaRPr kumimoji="1" lang="en-US" altLang="zh-TW" dirty="0"/>
          </a:p>
          <a:p>
            <a:pPr marL="0" indent="0">
              <a:buNone/>
            </a:pPr>
            <a:endParaRPr kumimoji="1"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7C50E90-5786-3648-9EF1-E09AF175F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0060" y="1343815"/>
            <a:ext cx="6987255" cy="3344719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E4C2DE-F136-8CBB-4EE5-0B70365BB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57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045821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C08250-C5BF-4746-A6AA-90A458EF2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Kubernets</a:t>
            </a:r>
            <a:r>
              <a:rPr kumimoji="1" lang="en-US" altLang="zh-TW" dirty="0"/>
              <a:t> </a:t>
            </a:r>
            <a:r>
              <a:rPr kumimoji="1" lang="zh-TW" altLang="en-US" dirty="0"/>
              <a:t>最小單位</a:t>
            </a:r>
            <a:r>
              <a:rPr kumimoji="1" lang="en-US" altLang="zh-TW" dirty="0"/>
              <a:t>: pod</a:t>
            </a:r>
            <a:endParaRPr kumimoji="1"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59D437C-1BA0-0049-9FDC-B6306D8BF37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kumimoji="1" lang="en-US" altLang="zh-TW" sz="3200" dirty="0" err="1"/>
              <a:t>containers.image</a:t>
            </a:r>
            <a:endParaRPr kumimoji="1" lang="en-US" altLang="zh-TW" sz="3200" dirty="0"/>
          </a:p>
          <a:p>
            <a:pPr lvl="1"/>
            <a:r>
              <a:rPr kumimoji="1" lang="en-US" altLang="zh-TW" sz="2800" dirty="0"/>
              <a:t>Image:</a:t>
            </a:r>
            <a:r>
              <a:rPr kumimoji="1" lang="zh-CN" altLang="en-US" sz="2800" dirty="0"/>
              <a:t>版號</a:t>
            </a:r>
            <a:endParaRPr kumimoji="1" lang="en-US" altLang="zh-CN" sz="2800" dirty="0"/>
          </a:p>
          <a:p>
            <a:r>
              <a:rPr kumimoji="1" lang="en-US" altLang="zh-TW" sz="3200" dirty="0" err="1"/>
              <a:t>Containers.ports.containPort</a:t>
            </a:r>
            <a:endParaRPr kumimoji="1" lang="en-US" altLang="zh-TW" sz="3200" dirty="0"/>
          </a:p>
          <a:p>
            <a:pPr lvl="1"/>
            <a:r>
              <a:rPr kumimoji="1" lang="zh-TW" altLang="en-US" sz="2800" dirty="0"/>
              <a:t>此</a:t>
            </a:r>
            <a:r>
              <a:rPr kumimoji="1" lang="en-US" altLang="zh-TW" sz="2800" dirty="0"/>
              <a:t>container</a:t>
            </a:r>
            <a:r>
              <a:rPr kumimoji="1" lang="zh-CN" altLang="en-US" sz="2800" dirty="0"/>
              <a:t>對外服務</a:t>
            </a:r>
            <a:r>
              <a:rPr kumimoji="1" lang="en-US" altLang="zh-CN" sz="2800" dirty="0"/>
              <a:t>port</a:t>
            </a:r>
            <a:endParaRPr kumimoji="1" lang="zh-TW" altLang="en-US" sz="2800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570FFF7E-B0DE-24B1-C172-2503B8D50FE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7EA8DDBC-C510-27F2-BFB2-51585723D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67930"/>
            <a:ext cx="5273068" cy="4443970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6146889B-1CE4-2078-7F22-11B189F2771D}"/>
              </a:ext>
            </a:extLst>
          </p:cNvPr>
          <p:cNvSpPr txBox="1"/>
          <p:nvPr/>
        </p:nvSpPr>
        <p:spPr>
          <a:xfrm>
            <a:off x="6545549" y="5313333"/>
            <a:ext cx="8386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</a:rPr>
              <a:t>~/docker-</a:t>
            </a:r>
            <a:r>
              <a:rPr kumimoji="1" lang="en-US" altLang="zh-TW" dirty="0" err="1">
                <a:latin typeface="Times New Roman" panose="02020603050405020304" pitchFamily="18" charset="0"/>
              </a:rPr>
              <a:t>devops</a:t>
            </a:r>
            <a:r>
              <a:rPr kumimoji="1" lang="en-US" altLang="zh-TW" dirty="0">
                <a:latin typeface="Times New Roman" panose="02020603050405020304" pitchFamily="18" charset="0"/>
              </a:rPr>
              <a:t>/pod/</a:t>
            </a:r>
            <a:r>
              <a:rPr kumimoji="1" lang="en-US" altLang="zh-TW" dirty="0" err="1">
                <a:latin typeface="Times New Roman" panose="02020603050405020304" pitchFamily="18" charset="0"/>
              </a:rPr>
              <a:t>nginx.yaml</a:t>
            </a:r>
            <a:endParaRPr kumimoji="1"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41CBB71-3DA7-1CD6-412F-5691BC931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58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825097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6B52E666-08FA-6A61-69AC-7856C514E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部署</a:t>
            </a:r>
            <a:r>
              <a:rPr lang="en-US" altLang="zh-TW" dirty="0"/>
              <a:t>Kubernetes </a:t>
            </a:r>
            <a:r>
              <a:rPr lang="en-US" altLang="zh-TW" dirty="0" err="1"/>
              <a:t>yaml</a:t>
            </a:r>
            <a:r>
              <a:rPr lang="en-US" altLang="zh-TW" dirty="0"/>
              <a:t> </a:t>
            </a:r>
            <a:r>
              <a:rPr lang="zh-TW" altLang="en-US" dirty="0"/>
              <a:t>檔，</a:t>
            </a:r>
            <a:r>
              <a:rPr lang="en-US" altLang="zh-TW" dirty="0"/>
              <a:t>apply</a:t>
            </a:r>
            <a:endParaRPr lang="zh-TW" altLang="en-US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9B45B0B-E08D-5726-B93D-7C347543A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部署</a:t>
            </a:r>
            <a:endParaRPr lang="en-US" altLang="zh-TW" dirty="0"/>
          </a:p>
          <a:p>
            <a:pPr lvl="1"/>
            <a:r>
              <a:rPr lang="en-US" altLang="zh-TW" dirty="0" err="1"/>
              <a:t>kubectl</a:t>
            </a:r>
            <a:r>
              <a:rPr lang="en-US" altLang="zh-TW" dirty="0"/>
              <a:t> apply -f ~/docker-</a:t>
            </a:r>
            <a:r>
              <a:rPr lang="en-US" altLang="zh-TW" dirty="0" err="1"/>
              <a:t>devops</a:t>
            </a:r>
            <a:r>
              <a:rPr lang="en-US" altLang="zh-TW" dirty="0"/>
              <a:t>/pods/</a:t>
            </a:r>
            <a:r>
              <a:rPr lang="en-US" altLang="zh-TW" dirty="0" err="1"/>
              <a:t>nginx.yaml</a:t>
            </a:r>
            <a:endParaRPr lang="en-US" altLang="zh-TW" dirty="0"/>
          </a:p>
          <a:p>
            <a:r>
              <a:rPr lang="zh-TW" altLang="en-US" dirty="0"/>
              <a:t>檢查狀態</a:t>
            </a:r>
            <a:endParaRPr lang="en-US" altLang="zh-TW" dirty="0"/>
          </a:p>
          <a:p>
            <a:pPr lvl="1"/>
            <a:r>
              <a:rPr dirty="0" err="1"/>
              <a:t>kubectl</a:t>
            </a:r>
            <a:r>
              <a:rPr dirty="0"/>
              <a:t> get pod</a:t>
            </a:r>
          </a:p>
          <a:p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77C78AE-5B38-69CB-4397-5F34046DD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59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88776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8A9F81-2B5C-8C4C-B3B3-A43B04F9D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deployment YAML -1</a:t>
            </a:r>
            <a:endParaRPr kumimoji="1"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B760886E-30EB-5041-8509-F13AB4DA88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29119" y="1744978"/>
            <a:ext cx="3905755" cy="5092916"/>
          </a:xfr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1CB29FF4-A115-D248-B7F3-95D946C8A452}"/>
              </a:ext>
            </a:extLst>
          </p:cNvPr>
          <p:cNvSpPr txBox="1"/>
          <p:nvPr/>
        </p:nvSpPr>
        <p:spPr>
          <a:xfrm>
            <a:off x="1388662" y="1375646"/>
            <a:ext cx="8386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</a:rPr>
              <a:t>~/docker-</a:t>
            </a:r>
            <a:r>
              <a:rPr kumimoji="1" lang="en-US" altLang="zh-TW" dirty="0" err="1">
                <a:latin typeface="Times New Roman" panose="02020603050405020304" pitchFamily="18" charset="0"/>
              </a:rPr>
              <a:t>devops</a:t>
            </a:r>
            <a:r>
              <a:rPr kumimoji="1" lang="en-US" altLang="zh-TW" dirty="0">
                <a:latin typeface="Times New Roman" panose="02020603050405020304" pitchFamily="18" charset="0"/>
              </a:rPr>
              <a:t>/deployment/nginx/nginx-</a:t>
            </a:r>
            <a:r>
              <a:rPr kumimoji="1" lang="en-US" altLang="zh-TW" dirty="0" err="1">
                <a:latin typeface="Times New Roman" panose="02020603050405020304" pitchFamily="18" charset="0"/>
              </a:rPr>
              <a:t>deploy.yaml</a:t>
            </a:r>
            <a:endParaRPr kumimoji="1"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3E8B042-182B-4E7B-60E7-254E7D41E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388997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FF9B8C0A-DFA4-FC4A-9275-AE88DC5E9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deployment YAML -2</a:t>
            </a:r>
            <a:endParaRPr kumimoji="1" lang="zh-TW" altLang="en-US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D4F456F1-2D17-8248-8081-1E590AF8E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kind: </a:t>
            </a:r>
            <a:r>
              <a:rPr kumimoji="1" lang="en-US" altLang="zh-TW" dirty="0" err="1"/>
              <a:t>Deployment</a:t>
            </a:r>
            <a:endParaRPr kumimoji="1" lang="en-US" altLang="zh-TW" dirty="0"/>
          </a:p>
          <a:p>
            <a:r>
              <a:rPr kumimoji="1" lang="en-US" altLang="zh-TW" dirty="0" err="1"/>
              <a:t>metadata.name</a:t>
            </a:r>
            <a:r>
              <a:rPr kumimoji="1" lang="en-US" altLang="zh-TW" dirty="0"/>
              <a:t>: deployment name</a:t>
            </a:r>
          </a:p>
          <a:p>
            <a:r>
              <a:rPr kumimoji="1" lang="en-US" altLang="zh-TW" dirty="0" err="1"/>
              <a:t>metadata.labels</a:t>
            </a:r>
            <a:r>
              <a:rPr kumimoji="1" lang="en-US" altLang="zh-TW" dirty="0"/>
              <a:t>: </a:t>
            </a:r>
            <a:r>
              <a:rPr kumimoji="1" lang="en-US" altLang="zh-TW" dirty="0" err="1"/>
              <a:t>app:nginx</a:t>
            </a:r>
            <a:endParaRPr kumimoji="1" lang="en-US" altLang="zh-TW" dirty="0"/>
          </a:p>
          <a:p>
            <a:pPr lvl="1"/>
            <a:r>
              <a:rPr kumimoji="1" lang="zh-CN" altLang="en-US" dirty="0"/>
              <a:t>設定此</a:t>
            </a:r>
            <a:r>
              <a:rPr kumimoji="1" lang="en-US" altLang="zh-CN" dirty="0"/>
              <a:t>deployment </a:t>
            </a:r>
            <a:r>
              <a:rPr kumimoji="1" lang="zh-CN" altLang="en-US" dirty="0"/>
              <a:t>標籤</a:t>
            </a:r>
            <a:r>
              <a:rPr kumimoji="1" lang="en-US" altLang="zh-CN" dirty="0"/>
              <a:t>, key: value</a:t>
            </a:r>
          </a:p>
          <a:p>
            <a:r>
              <a:rPr kumimoji="1" lang="en-US" altLang="zh-TW" dirty="0" err="1"/>
              <a:t>Metadata.annotations</a:t>
            </a:r>
            <a:r>
              <a:rPr kumimoji="1" lang="en-US" altLang="zh-TW" dirty="0"/>
              <a:t>:</a:t>
            </a:r>
            <a:r>
              <a:rPr kumimoji="1" lang="zh-TW" altLang="en-US" dirty="0"/>
              <a:t> 註解</a:t>
            </a:r>
            <a:endParaRPr kumimoji="1" lang="en-US" altLang="zh-CN" dirty="0"/>
          </a:p>
          <a:p>
            <a:pPr marL="457200" lvl="1" indent="0">
              <a:buNone/>
            </a:pPr>
            <a:endParaRPr kumimoji="1" lang="en-US" altLang="zh-CN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47118D2-26E6-3803-54A1-734FF0268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214203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DE4782-3D17-144A-8115-B0E291631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deployment YAML -3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7E86E81-6A58-C14C-90DC-9AA2ED5BC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err="1"/>
              <a:t>spec.replicas</a:t>
            </a:r>
            <a:r>
              <a:rPr kumimoji="1" lang="en-US" altLang="zh-TW" dirty="0"/>
              <a:t>: 3</a:t>
            </a:r>
          </a:p>
          <a:p>
            <a:pPr lvl="1"/>
            <a:r>
              <a:rPr kumimoji="1" lang="zh-CN" altLang="en-US" dirty="0"/>
              <a:t>數量</a:t>
            </a:r>
            <a:endParaRPr kumimoji="1" lang="en-US" altLang="zh-CN" dirty="0"/>
          </a:p>
          <a:p>
            <a:r>
              <a:rPr kumimoji="1" lang="en-US" altLang="zh-CN" dirty="0" err="1"/>
              <a:t>spec.selector.matchLabels</a:t>
            </a:r>
            <a:r>
              <a:rPr kumimoji="1" lang="en-US" altLang="zh-CN" dirty="0"/>
              <a:t>: </a:t>
            </a:r>
            <a:r>
              <a:rPr kumimoji="1" lang="en-US" altLang="zh-CN" dirty="0" err="1"/>
              <a:t>app:nginx</a:t>
            </a:r>
            <a:endParaRPr kumimoji="1" lang="en-US" altLang="zh-CN" dirty="0"/>
          </a:p>
          <a:p>
            <a:pPr lvl="1"/>
            <a:r>
              <a:rPr kumimoji="1" lang="en-US" altLang="zh-TW" dirty="0"/>
              <a:t>Pod </a:t>
            </a:r>
            <a:r>
              <a:rPr kumimoji="1" lang="zh-CN" altLang="en-US" dirty="0"/>
              <a:t>裡的</a:t>
            </a:r>
            <a:r>
              <a:rPr kumimoji="1" lang="en-US" altLang="zh-CN" dirty="0"/>
              <a:t>labels </a:t>
            </a:r>
            <a:r>
              <a:rPr kumimoji="1" lang="zh-CN" altLang="en-US" dirty="0"/>
              <a:t>的值需與此相同</a:t>
            </a:r>
            <a:endParaRPr kumimoji="1" lang="en-US" altLang="zh-CN" dirty="0"/>
          </a:p>
          <a:p>
            <a:r>
              <a:rPr kumimoji="1" lang="en-US" altLang="zh-TW" dirty="0" err="1"/>
              <a:t>spec.template.metadata.labels</a:t>
            </a:r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D4D01FB-9167-5195-4D2E-DBB3B25C9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653562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42C998-0B8B-304A-A376-75C4FA252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pods -1</a:t>
            </a:r>
            <a:endParaRPr kumimoji="1"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CC713B3A-6478-404F-91E3-726E766702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964941" y="1447801"/>
            <a:ext cx="8255000" cy="1574800"/>
          </a:xfrm>
        </p:spPr>
      </p:pic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3B868C5-F4B2-1D43-90E5-6C3C349A34E0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0" y="2055813"/>
            <a:ext cx="6827838" cy="4200525"/>
          </a:xfrm>
        </p:spPr>
        <p:txBody>
          <a:bodyPr>
            <a:noAutofit/>
          </a:bodyPr>
          <a:lstStyle/>
          <a:p>
            <a:r>
              <a:rPr kumimoji="1" lang="en-US" altLang="zh-TW" sz="3200" dirty="0"/>
              <a:t>READY</a:t>
            </a:r>
          </a:p>
          <a:p>
            <a:pPr lvl="1"/>
            <a:r>
              <a:rPr kumimoji="1" lang="en-US" altLang="zh-TW" sz="3200" dirty="0"/>
              <a:t>Ready/ pods </a:t>
            </a:r>
            <a:r>
              <a:rPr kumimoji="1" lang="zh-CN" altLang="en-US" sz="3200" dirty="0"/>
              <a:t>數量</a:t>
            </a:r>
            <a:endParaRPr kumimoji="1" lang="en-US" altLang="zh-CN" sz="3200" dirty="0"/>
          </a:p>
          <a:p>
            <a:r>
              <a:rPr kumimoji="1" lang="en-US" altLang="zh-TW" sz="3200" dirty="0"/>
              <a:t>Restarts</a:t>
            </a:r>
          </a:p>
          <a:p>
            <a:pPr lvl="1"/>
            <a:r>
              <a:rPr kumimoji="1" lang="zh-CN" altLang="en-US" sz="3200" dirty="0"/>
              <a:t>重啟次數</a:t>
            </a:r>
            <a:endParaRPr kumimoji="1" lang="en-US" altLang="zh-CN" sz="3200" dirty="0"/>
          </a:p>
          <a:p>
            <a:r>
              <a:rPr kumimoji="1" lang="en-US" altLang="zh-TW" sz="3200" dirty="0"/>
              <a:t>AGE</a:t>
            </a:r>
          </a:p>
          <a:p>
            <a:pPr lvl="1"/>
            <a:r>
              <a:rPr kumimoji="1" lang="zh-CN" altLang="en-US" sz="3200" dirty="0"/>
              <a:t>此</a:t>
            </a:r>
            <a:r>
              <a:rPr kumimoji="1" lang="en-US" altLang="zh-CN" sz="3200" dirty="0"/>
              <a:t>pod </a:t>
            </a:r>
            <a:r>
              <a:rPr kumimoji="1" lang="zh-CN" altLang="en-US" sz="3200" dirty="0"/>
              <a:t>存在時間</a:t>
            </a:r>
            <a:endParaRPr kumimoji="1" lang="en-US" altLang="zh-CN" sz="3200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31DC03E-4A49-33EC-C308-3084818DF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19877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3FF85F-1AA0-8847-A83B-9CB3F9E89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pods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0568710-EA4A-6340-BB9C-8D7ED73FA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altLang="zh-TW" dirty="0"/>
              <a:t>Status</a:t>
            </a:r>
          </a:p>
          <a:p>
            <a:pPr lvl="1"/>
            <a:r>
              <a:rPr kumimoji="1" lang="en-US" altLang="zh-TW" sz="3200" dirty="0"/>
              <a:t>Pending</a:t>
            </a:r>
          </a:p>
          <a:p>
            <a:pPr lvl="2"/>
            <a:r>
              <a:rPr kumimoji="1" lang="zh-TW" altLang="en-US" sz="3200" dirty="0"/>
              <a:t>待建立</a:t>
            </a:r>
            <a:endParaRPr kumimoji="1" lang="en-US" altLang="zh-TW" sz="3200" dirty="0"/>
          </a:p>
          <a:p>
            <a:pPr lvl="1"/>
            <a:r>
              <a:rPr kumimoji="1" lang="en-US" altLang="zh-TW" sz="3200" dirty="0"/>
              <a:t>Running</a:t>
            </a:r>
          </a:p>
          <a:p>
            <a:pPr lvl="2"/>
            <a:r>
              <a:rPr kumimoji="1" lang="zh-TW" altLang="en-US" sz="3200" dirty="0"/>
              <a:t>運行中</a:t>
            </a:r>
            <a:endParaRPr kumimoji="1" lang="en-US" altLang="zh-TW" sz="3200" dirty="0"/>
          </a:p>
          <a:p>
            <a:pPr lvl="1"/>
            <a:r>
              <a:rPr kumimoji="1" lang="en-US" altLang="zh-TW" sz="3200" dirty="0"/>
              <a:t>Succeeded</a:t>
            </a:r>
          </a:p>
          <a:p>
            <a:pPr lvl="2"/>
            <a:r>
              <a:rPr kumimoji="1" lang="zh-CN" altLang="en-US" sz="3200" dirty="0"/>
              <a:t>終止成功</a:t>
            </a:r>
            <a:endParaRPr kumimoji="1" lang="en-US" altLang="zh-CN" sz="3200" dirty="0"/>
          </a:p>
          <a:p>
            <a:pPr lvl="1"/>
            <a:r>
              <a:rPr kumimoji="1" lang="en-US" altLang="zh-TW" sz="3200" dirty="0"/>
              <a:t>Failed</a:t>
            </a:r>
          </a:p>
          <a:p>
            <a:pPr lvl="2"/>
            <a:r>
              <a:rPr kumimoji="1" lang="zh-CN" altLang="en-US" sz="3200" dirty="0"/>
              <a:t>終止時有ㄧ</a:t>
            </a:r>
            <a:r>
              <a:rPr kumimoji="1" lang="en-US" altLang="zh-CN" sz="3200" dirty="0"/>
              <a:t>pod</a:t>
            </a:r>
            <a:r>
              <a:rPr kumimoji="1" lang="zh-CN" altLang="en-US" sz="3200" dirty="0"/>
              <a:t>不正常終止</a:t>
            </a:r>
            <a:endParaRPr kumimoji="1" lang="en-US" altLang="zh-TW" sz="32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3217094-BD06-8475-38E8-DDC10C176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295338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BDB11EF2-A2F1-8944-8A4C-04093DA05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deployment -1</a:t>
            </a:r>
            <a:endParaRPr kumimoji="1" lang="zh-TW" altLang="en-US" dirty="0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7EEF9DCC-65F1-A049-9866-BAC2700835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741656" y="1322916"/>
            <a:ext cx="8089900" cy="1282700"/>
          </a:xfrm>
        </p:spPr>
      </p:pic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8E13598-280B-3C49-AAE6-3D2C2454F56E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178351" y="1964266"/>
            <a:ext cx="7772400" cy="4200525"/>
          </a:xfrm>
        </p:spPr>
        <p:txBody>
          <a:bodyPr>
            <a:normAutofit/>
          </a:bodyPr>
          <a:lstStyle/>
          <a:p>
            <a:r>
              <a:rPr kumimoji="1" lang="en-US" altLang="zh-TW" sz="3200" dirty="0"/>
              <a:t>NAME</a:t>
            </a:r>
          </a:p>
          <a:p>
            <a:pPr lvl="1"/>
            <a:r>
              <a:rPr kumimoji="1" lang="en-US" altLang="zh-TW" sz="2800" dirty="0" err="1"/>
              <a:t>Deployment</a:t>
            </a:r>
            <a:r>
              <a:rPr kumimoji="1" lang="en-US" altLang="zh-TW" sz="2800" dirty="0"/>
              <a:t> name</a:t>
            </a:r>
          </a:p>
          <a:p>
            <a:r>
              <a:rPr kumimoji="1" lang="en-US" altLang="zh-TW" sz="3200" dirty="0"/>
              <a:t>DESIRED</a:t>
            </a:r>
          </a:p>
          <a:p>
            <a:pPr lvl="1"/>
            <a:r>
              <a:rPr kumimoji="1" lang="zh-CN" altLang="en-US" sz="2800" dirty="0"/>
              <a:t>要求此</a:t>
            </a:r>
            <a:r>
              <a:rPr kumimoji="1" lang="en-US" altLang="zh-CN" sz="2800" dirty="0"/>
              <a:t>deployment</a:t>
            </a:r>
            <a:r>
              <a:rPr kumimoji="1" lang="zh-Hant" altLang="en-US" sz="2800" dirty="0"/>
              <a:t> </a:t>
            </a:r>
            <a:r>
              <a:rPr kumimoji="1" lang="zh-CN" altLang="en-US" sz="2800" dirty="0"/>
              <a:t>須啟多少</a:t>
            </a:r>
            <a:r>
              <a:rPr kumimoji="1" lang="en-US" altLang="zh-CN" sz="2800" dirty="0"/>
              <a:t>replicas</a:t>
            </a:r>
          </a:p>
          <a:p>
            <a:r>
              <a:rPr kumimoji="1" lang="en-US" altLang="zh-CN" sz="3200" dirty="0"/>
              <a:t>CURRENT</a:t>
            </a:r>
          </a:p>
          <a:p>
            <a:pPr lvl="1"/>
            <a:r>
              <a:rPr kumimoji="1" lang="zh-CN" altLang="en-US" sz="2800" dirty="0"/>
              <a:t>顯示正在</a:t>
            </a:r>
            <a:r>
              <a:rPr kumimoji="1" lang="en-US" altLang="zh-CN" sz="2800" dirty="0"/>
              <a:t>running </a:t>
            </a:r>
            <a:r>
              <a:rPr kumimoji="1" lang="zh-CN" altLang="en-US" sz="2800" dirty="0"/>
              <a:t>的</a:t>
            </a:r>
            <a:r>
              <a:rPr kumimoji="1" lang="zh-Hant" altLang="en-US" sz="2800" dirty="0"/>
              <a:t> </a:t>
            </a:r>
            <a:r>
              <a:rPr kumimoji="1" lang="en-US" altLang="zh-CN" sz="2800" dirty="0"/>
              <a:t>replicas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758E34A-3B93-BE57-8415-5211BE628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031836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42EC5B-B0A6-1D43-88DA-6AC748A20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deployment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8FD601F-2B21-8A43-B992-1F035453C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UP-TO-DATE</a:t>
            </a:r>
          </a:p>
          <a:p>
            <a:pPr lvl="1"/>
            <a:r>
              <a:rPr kumimoji="1" lang="zh-CN" altLang="en-US" dirty="0"/>
              <a:t>已更新多少</a:t>
            </a:r>
            <a:r>
              <a:rPr kumimoji="1" lang="en-US" altLang="zh-CN" dirty="0"/>
              <a:t>replicas</a:t>
            </a:r>
            <a:r>
              <a:rPr kumimoji="1" lang="zh-CN" altLang="en-US" dirty="0"/>
              <a:t>數量</a:t>
            </a:r>
            <a:endParaRPr kumimoji="1" lang="en-US" altLang="zh-CN" dirty="0"/>
          </a:p>
          <a:p>
            <a:r>
              <a:rPr kumimoji="1" lang="en-US" altLang="zh-CN" dirty="0"/>
              <a:t>AVAILABLE</a:t>
            </a:r>
          </a:p>
          <a:p>
            <a:pPr lvl="1"/>
            <a:r>
              <a:rPr kumimoji="1" lang="zh-CN" altLang="en-US" dirty="0"/>
              <a:t>多少</a:t>
            </a:r>
            <a:r>
              <a:rPr kumimoji="1" lang="en-US" altLang="zh-CN" dirty="0"/>
              <a:t>replicas</a:t>
            </a:r>
            <a:r>
              <a:rPr kumimoji="1" lang="zh-Hant" altLang="en-US" dirty="0"/>
              <a:t> </a:t>
            </a:r>
            <a:r>
              <a:rPr kumimoji="1" lang="zh-CN" altLang="en-US" dirty="0"/>
              <a:t>可用</a:t>
            </a:r>
            <a:endParaRPr kumimoji="1" lang="en-US" altLang="zh-CN" dirty="0"/>
          </a:p>
          <a:p>
            <a:r>
              <a:rPr kumimoji="1" lang="en-US" altLang="zh-CN" dirty="0"/>
              <a:t>Age</a:t>
            </a:r>
          </a:p>
          <a:p>
            <a:pPr lvl="1"/>
            <a:r>
              <a:rPr kumimoji="1" lang="zh-CN" altLang="en-US" dirty="0"/>
              <a:t>此</a:t>
            </a:r>
            <a:r>
              <a:rPr kumimoji="1" lang="en-US" altLang="zh-CN" dirty="0" err="1"/>
              <a:t>Deployment</a:t>
            </a:r>
            <a:r>
              <a:rPr kumimoji="1" lang="zh-Hant" altLang="en-US" dirty="0"/>
              <a:t> </a:t>
            </a:r>
            <a:r>
              <a:rPr kumimoji="1" lang="zh-CN" altLang="en-US" dirty="0"/>
              <a:t>存在時間</a:t>
            </a:r>
            <a:endParaRPr kumimoji="1" lang="en-US" altLang="zh-CN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F56434E-915D-AA4C-2677-FCF43B7A0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807411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FA6298-1B10-A344-8C1E-4E8DD4E88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Pod</a:t>
            </a:r>
            <a:r>
              <a:rPr kumimoji="1" lang="zh-TW" altLang="en-US" dirty="0"/>
              <a:t> </a:t>
            </a:r>
            <a:r>
              <a:rPr kumimoji="1" lang="en-US" altLang="zh-TW" dirty="0"/>
              <a:t>information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9ADC85-AEFB-7F43-AC84-6D842FB39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Pod</a:t>
            </a:r>
            <a:r>
              <a:rPr kumimoji="1" lang="zh-CN" altLang="en-US" dirty="0"/>
              <a:t>狀態正常：可以讀取</a:t>
            </a:r>
            <a:r>
              <a:rPr kumimoji="1" lang="en-US" altLang="zh-CN" dirty="0" err="1"/>
              <a:t>stdout</a:t>
            </a:r>
            <a:r>
              <a:rPr kumimoji="1" lang="zh-TW" altLang="en-US" dirty="0"/>
              <a:t> 與</a:t>
            </a:r>
            <a:r>
              <a:rPr kumimoji="1" lang="en-US" altLang="zh-TW" dirty="0"/>
              <a:t>stderr</a:t>
            </a:r>
            <a:r>
              <a:rPr kumimoji="1" lang="zh-TW" altLang="en-US" dirty="0"/>
              <a:t> 來查看資訊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kuebectl</a:t>
            </a:r>
            <a:r>
              <a:rPr kumimoji="1" lang="en-US" altLang="zh-TW" dirty="0"/>
              <a:t> logs {pod-name} </a:t>
            </a:r>
          </a:p>
          <a:p>
            <a:r>
              <a:rPr kumimoji="1" lang="en-US" altLang="zh-CN" dirty="0"/>
              <a:t>Pod</a:t>
            </a:r>
            <a:r>
              <a:rPr kumimoji="1" lang="zh-CN" altLang="en-US" dirty="0"/>
              <a:t>狀態異常：可經由</a:t>
            </a:r>
            <a:r>
              <a:rPr kumimoji="1" lang="en-US" altLang="zh-CN" dirty="0"/>
              <a:t>describe </a:t>
            </a:r>
            <a:r>
              <a:rPr kumimoji="1" lang="zh-CN" altLang="en-US" dirty="0"/>
              <a:t>來查看</a:t>
            </a:r>
            <a:r>
              <a:rPr kumimoji="1" lang="en-US" altLang="zh-TW" dirty="0"/>
              <a:t>k8s</a:t>
            </a:r>
            <a:r>
              <a:rPr kumimoji="1" lang="zh-TW" altLang="en-US" dirty="0"/>
              <a:t> 啟動</a:t>
            </a:r>
            <a:r>
              <a:rPr kumimoji="1" lang="en-US" altLang="zh-TW" dirty="0"/>
              <a:t>pod</a:t>
            </a:r>
            <a:r>
              <a:rPr kumimoji="1" lang="zh-TW" altLang="en-US" dirty="0"/>
              <a:t>時所記錄下的</a:t>
            </a:r>
            <a:r>
              <a:rPr kumimoji="1" lang="en-US" altLang="zh-TW" dirty="0"/>
              <a:t>Events</a:t>
            </a:r>
            <a:r>
              <a:rPr kumimoji="1" lang="zh-TW" altLang="en-US" dirty="0"/>
              <a:t>與</a:t>
            </a:r>
            <a:r>
              <a:rPr kumimoji="1" lang="en-US" altLang="zh-TW" dirty="0"/>
              <a:t>pod</a:t>
            </a:r>
            <a:r>
              <a:rPr kumimoji="1" lang="zh-TW" altLang="en-US" dirty="0"/>
              <a:t>的詳細資訊</a:t>
            </a:r>
            <a:endParaRPr kumimoji="1" lang="en-US" altLang="zh-CN" dirty="0"/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describe pod {pod-name}</a:t>
            </a:r>
          </a:p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D92BDF4-8A5D-1B42-785C-9EBBBA58E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819247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828FDE-8B13-0442-949A-D07AD07D7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在</a:t>
            </a:r>
            <a:r>
              <a:rPr kumimoji="1" lang="en-US" altLang="zh-TW" dirty="0"/>
              <a:t>pod</a:t>
            </a:r>
            <a:r>
              <a:rPr kumimoji="1" lang="zh-CN" altLang="en-US" dirty="0"/>
              <a:t>執行命令</a:t>
            </a:r>
            <a:r>
              <a:rPr kumimoji="1" lang="en-US" altLang="zh-CN" dirty="0"/>
              <a:t> -1</a:t>
            </a:r>
            <a:endParaRPr kumimoji="1"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E4FA4D4-5E7E-3C45-9FD3-9A64AC004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exec -it {pod-name} -- {command}</a:t>
            </a:r>
          </a:p>
          <a:p>
            <a:endParaRPr kumimoji="1" lang="en-US" altLang="zh-TW" dirty="0"/>
          </a:p>
          <a:p>
            <a:endParaRPr kumimoji="1" lang="en-US" altLang="zh-TW" dirty="0"/>
          </a:p>
          <a:p>
            <a:r>
              <a:rPr kumimoji="1" lang="zh-CN" altLang="en-US" dirty="0"/>
              <a:t>直接到</a:t>
            </a:r>
            <a:r>
              <a:rPr kumimoji="1" lang="en-US" altLang="zh-CN" dirty="0"/>
              <a:t>pods</a:t>
            </a:r>
            <a:r>
              <a:rPr kumimoji="1" lang="zh-CN" altLang="en-US" dirty="0"/>
              <a:t>內執行</a:t>
            </a:r>
            <a:endParaRPr kumimoji="1" lang="en-US" altLang="zh-CN" dirty="0"/>
          </a:p>
          <a:p>
            <a:pPr lvl="1"/>
            <a:r>
              <a:rPr kumimoji="1" lang="en-US" altLang="zh-CN" dirty="0" err="1"/>
              <a:t>kubectl</a:t>
            </a:r>
            <a:r>
              <a:rPr kumimoji="1" lang="en-US" altLang="zh-CN" dirty="0"/>
              <a:t> exec -it </a:t>
            </a:r>
            <a:r>
              <a:rPr kumimoji="1" lang="en-US" altLang="zh-TW" dirty="0"/>
              <a:t>{pod-name}  -- /bin/bash</a:t>
            </a:r>
            <a:endParaRPr kumimoji="1" lang="en-US" altLang="zh-CN" dirty="0"/>
          </a:p>
          <a:p>
            <a:pPr lvl="1"/>
            <a:r>
              <a:rPr kumimoji="1" lang="en-US" altLang="zh-TW" dirty="0"/>
              <a:t>Ex: </a:t>
            </a:r>
            <a:r>
              <a:rPr kumimoji="1" lang="en-US" altLang="zh-TW" dirty="0" err="1"/>
              <a:t>kubectl</a:t>
            </a:r>
            <a:r>
              <a:rPr kumimoji="1" lang="en-US" altLang="zh-TW" dirty="0"/>
              <a:t> exec -it nginx-deployment-76659fcbf6-djgxd -- /bin/bash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8F6BE53-5238-6448-B2FD-F62BBF60D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" y="2348651"/>
            <a:ext cx="12054840" cy="728135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3FDEDF53-31E2-F001-48D4-9AE7896D6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441799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0742B7-F677-EE44-992F-364768628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在</a:t>
            </a:r>
            <a:r>
              <a:rPr kumimoji="1" lang="en-US" altLang="zh-TW" dirty="0"/>
              <a:t>pod</a:t>
            </a:r>
            <a:r>
              <a:rPr kumimoji="1" lang="zh-CN" altLang="en-US" dirty="0"/>
              <a:t>執行命令</a:t>
            </a:r>
            <a:r>
              <a:rPr kumimoji="1" lang="en-US" altLang="zh-CN" dirty="0"/>
              <a:t>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EDF62D6-4A42-FE4D-A5FC-A9E098829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到</a:t>
            </a:r>
            <a:r>
              <a:rPr kumimoji="1" lang="en-US" altLang="zh-CN" dirty="0"/>
              <a:t>pods</a:t>
            </a:r>
            <a:r>
              <a:rPr kumimoji="1" lang="zh-CN" altLang="en-US" dirty="0"/>
              <a:t>內的指定</a:t>
            </a:r>
            <a:r>
              <a:rPr kumimoji="1" lang="en-US" altLang="zh-CN" dirty="0"/>
              <a:t>Container</a:t>
            </a:r>
          </a:p>
          <a:p>
            <a:pPr lvl="1"/>
            <a:r>
              <a:rPr kumimoji="1" lang="en-US" altLang="zh-CN" dirty="0" err="1"/>
              <a:t>kubectl</a:t>
            </a:r>
            <a:r>
              <a:rPr kumimoji="1" lang="en-US" altLang="zh-CN" dirty="0"/>
              <a:t> exec -it </a:t>
            </a:r>
            <a:r>
              <a:rPr kumimoji="1" lang="en-US" altLang="zh-TW" dirty="0"/>
              <a:t>{pod-name} -c {container-name}  -- /bin/bash</a:t>
            </a:r>
            <a:endParaRPr kumimoji="1" lang="en-US" altLang="zh-CN" dirty="0"/>
          </a:p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DC8C4CB-7894-37AA-478F-C390EE36A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153024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D3C0C2-B685-C64D-A210-ECA6CE12B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service </a:t>
            </a:r>
            <a:r>
              <a:rPr kumimoji="1" lang="en-US" altLang="zh-TW" dirty="0" err="1"/>
              <a:t>yaml</a:t>
            </a:r>
            <a:r>
              <a:rPr kumimoji="1" lang="zh-Hant" altLang="en-US" dirty="0"/>
              <a:t> </a:t>
            </a:r>
            <a:r>
              <a:rPr kumimoji="1" lang="en-US" altLang="zh-Hant" dirty="0"/>
              <a:t>-1</a:t>
            </a:r>
            <a:endParaRPr kumimoji="1"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DC918E8-CDCA-3CAB-9196-C9103107DD3E}"/>
              </a:ext>
            </a:extLst>
          </p:cNvPr>
          <p:cNvSpPr txBox="1"/>
          <p:nvPr/>
        </p:nvSpPr>
        <p:spPr>
          <a:xfrm>
            <a:off x="6774305" y="843240"/>
            <a:ext cx="4060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~/docker-</a:t>
            </a:r>
            <a:r>
              <a:rPr kumimoji="1" lang="en" altLang="zh-TW" dirty="0" err="1"/>
              <a:t>devops</a:t>
            </a:r>
            <a:r>
              <a:rPr kumimoji="1" lang="en" altLang="zh-TW" dirty="0"/>
              <a:t>/service/nginx-service</a:t>
            </a:r>
            <a:endParaRPr kumimoji="1"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8D17C82-0952-2CA9-361C-89D8F0DAC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70</a:t>
            </a:fld>
            <a:endParaRPr lang="zh-TW" altLang="en-US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D16E4E92-35C0-7ED6-9C23-82823517E3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0916" y="1825625"/>
            <a:ext cx="2950168" cy="4351338"/>
          </a:xfrm>
        </p:spPr>
      </p:pic>
    </p:spTree>
    <p:extLst>
      <p:ext uri="{BB962C8B-B14F-4D97-AF65-F5344CB8AC3E}">
        <p14:creationId xmlns:p14="http://schemas.microsoft.com/office/powerpoint/2010/main" val="122803411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B67D718D-8759-4747-B592-5A6D6A07D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service </a:t>
            </a:r>
            <a:r>
              <a:rPr kumimoji="1" lang="en-US" altLang="zh-TW" dirty="0" err="1"/>
              <a:t>yaml</a:t>
            </a:r>
            <a:r>
              <a:rPr kumimoji="1" lang="zh-Hant" altLang="en-US" dirty="0"/>
              <a:t> </a:t>
            </a:r>
            <a:r>
              <a:rPr kumimoji="1" lang="en-US" altLang="zh-Hant" dirty="0"/>
              <a:t>-2</a:t>
            </a:r>
            <a:endParaRPr kumimoji="1" lang="zh-TW" altLang="en-US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C63B5390-E4C4-594C-BE20-2423FA9B8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Type:</a:t>
            </a:r>
          </a:p>
          <a:p>
            <a:pPr lvl="1"/>
            <a:r>
              <a:rPr kumimoji="1" lang="en-US" altLang="zh-TW" dirty="0" err="1"/>
              <a:t>NodePort</a:t>
            </a:r>
            <a:endParaRPr kumimoji="1" lang="en-US" altLang="zh-TW" dirty="0"/>
          </a:p>
          <a:p>
            <a:pPr lvl="2"/>
            <a:r>
              <a:rPr kumimoji="1" lang="zh-CN" altLang="en-US" dirty="0"/>
              <a:t>需設</a:t>
            </a:r>
            <a:r>
              <a:rPr kumimoji="1" lang="en-US" altLang="zh-CN" dirty="0" err="1"/>
              <a:t>nodePort</a:t>
            </a:r>
            <a:r>
              <a:rPr kumimoji="1" lang="zh-CN" altLang="en-US" dirty="0"/>
              <a:t>，預設可用範圍：</a:t>
            </a:r>
            <a:r>
              <a:rPr kumimoji="1" lang="en-US" altLang="zh-CN" dirty="0"/>
              <a:t>30000~32767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ClusterIP</a:t>
            </a:r>
            <a:endParaRPr kumimoji="1" lang="en-US" altLang="zh-TW" dirty="0"/>
          </a:p>
          <a:p>
            <a:pPr lvl="2"/>
            <a:r>
              <a:rPr kumimoji="1" lang="zh-CN" altLang="en-US" dirty="0"/>
              <a:t>不直接對外，</a:t>
            </a:r>
            <a:r>
              <a:rPr kumimoji="1" lang="en-US" altLang="zh-CN" dirty="0"/>
              <a:t>k8s</a:t>
            </a:r>
            <a:r>
              <a:rPr kumimoji="1" lang="zh-CN" altLang="en-US" dirty="0"/>
              <a:t>內部服務使用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LoadBalancer</a:t>
            </a:r>
            <a:endParaRPr kumimoji="1" lang="en-US" altLang="zh-TW" dirty="0"/>
          </a:p>
          <a:p>
            <a:pPr lvl="2"/>
            <a:r>
              <a:rPr kumimoji="1" lang="zh-CN" altLang="en-US" dirty="0"/>
              <a:t>需接</a:t>
            </a:r>
            <a:r>
              <a:rPr kumimoji="1" lang="en-US" altLang="zh-CN" dirty="0"/>
              <a:t>Cloud</a:t>
            </a:r>
            <a:r>
              <a:rPr kumimoji="1" lang="zh-CN" altLang="en-US" dirty="0"/>
              <a:t>使用</a:t>
            </a:r>
            <a:endParaRPr kumimoji="1" lang="en-US" altLang="zh-TW" dirty="0"/>
          </a:p>
          <a:p>
            <a:r>
              <a:rPr kumimoji="1" lang="en-US" altLang="zh-TW" dirty="0" err="1"/>
              <a:t>nodePort</a:t>
            </a:r>
            <a:r>
              <a:rPr kumimoji="1" lang="en-US" altLang="zh-TW" dirty="0"/>
              <a:t>: cluster</a:t>
            </a:r>
            <a:r>
              <a:rPr kumimoji="1" lang="zh-CN" altLang="en-US" dirty="0"/>
              <a:t>外對</a:t>
            </a:r>
            <a:r>
              <a:rPr kumimoji="1" lang="en-US" altLang="zh-CN" dirty="0"/>
              <a:t>Service</a:t>
            </a:r>
            <a:r>
              <a:rPr kumimoji="1" lang="zh-Hant" altLang="en-US" dirty="0"/>
              <a:t>使用的</a:t>
            </a:r>
            <a:r>
              <a:rPr kumimoji="1" lang="en-US" altLang="zh-Hant" dirty="0"/>
              <a:t>port</a:t>
            </a:r>
            <a:endParaRPr kumimoji="1" lang="en-US" altLang="zh-TW" dirty="0"/>
          </a:p>
          <a:p>
            <a:r>
              <a:rPr kumimoji="1" lang="en-US" altLang="zh-TW" dirty="0" err="1"/>
              <a:t>targetPort</a:t>
            </a:r>
            <a:r>
              <a:rPr kumimoji="1" lang="en-US" altLang="zh-TW" dirty="0"/>
              <a:t>: </a:t>
            </a:r>
            <a:r>
              <a:rPr kumimoji="1" lang="en-US" altLang="zh-CN" dirty="0"/>
              <a:t>pod</a:t>
            </a:r>
            <a:r>
              <a:rPr kumimoji="1" lang="zh-CN" altLang="en-US" dirty="0"/>
              <a:t>端口所使用的</a:t>
            </a:r>
            <a:r>
              <a:rPr kumimoji="1" lang="en-US" altLang="zh-CN" dirty="0"/>
              <a:t>port</a:t>
            </a:r>
          </a:p>
          <a:p>
            <a:r>
              <a:rPr kumimoji="1" lang="en-US" altLang="zh-TW" dirty="0"/>
              <a:t>port: cluster</a:t>
            </a:r>
            <a:r>
              <a:rPr kumimoji="1" lang="zh-CN" altLang="en-US" dirty="0"/>
              <a:t>內對</a:t>
            </a:r>
            <a:r>
              <a:rPr kumimoji="1" lang="en-US" altLang="zh-CN" dirty="0"/>
              <a:t>Service</a:t>
            </a:r>
            <a:r>
              <a:rPr kumimoji="1" lang="zh-Hant" altLang="en-US" dirty="0"/>
              <a:t>使用的</a:t>
            </a:r>
            <a:r>
              <a:rPr kumimoji="1" lang="en-US" altLang="zh-Hant" dirty="0"/>
              <a:t>port</a:t>
            </a:r>
          </a:p>
          <a:p>
            <a:pPr marL="0" indent="0">
              <a:buNone/>
            </a:pPr>
            <a:endParaRPr kumimoji="1"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4FE3FCD-D202-4958-0B61-0A783BA81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322227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CD6966-38F5-EB44-AA6A-D09F66871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實作</a:t>
            </a:r>
            <a:r>
              <a:rPr kumimoji="1" lang="en-US" altLang="zh-CN" dirty="0"/>
              <a:t>2 K8s Service Expose -4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188BE10-DDCA-3941-8207-BDA8836E8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部署</a:t>
            </a:r>
            <a:r>
              <a:rPr kumimoji="1" lang="en-US" altLang="zh-CN" dirty="0"/>
              <a:t>service</a:t>
            </a:r>
          </a:p>
          <a:p>
            <a:pPr lvl="1"/>
            <a:r>
              <a:rPr kumimoji="1" lang="en-US" altLang="zh-CN" dirty="0" err="1"/>
              <a:t>kubectl</a:t>
            </a:r>
            <a:r>
              <a:rPr kumimoji="1" lang="en-US" altLang="zh-CN" dirty="0"/>
              <a:t> apply -f ~/docker-</a:t>
            </a:r>
            <a:r>
              <a:rPr kumimoji="1" lang="en-US" altLang="zh-CN" dirty="0" err="1"/>
              <a:t>devops</a:t>
            </a:r>
            <a:r>
              <a:rPr kumimoji="1" lang="en-US" altLang="zh-CN" dirty="0"/>
              <a:t>/service/nginx-</a:t>
            </a:r>
            <a:r>
              <a:rPr kumimoji="1" lang="en-US" altLang="zh-CN" dirty="0" err="1"/>
              <a:t>service.yaml</a:t>
            </a:r>
            <a:r>
              <a:rPr kumimoji="1" lang="en-US" altLang="zh-CN" dirty="0"/>
              <a:t> </a:t>
            </a:r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TW" altLang="en-US" dirty="0"/>
              <a:t>連線驗證，瀏覽器開啟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http://{k8s node (vm2) </a:t>
            </a:r>
            <a:r>
              <a:rPr kumimoji="1" lang="en-US" altLang="zh-TW" dirty="0" err="1"/>
              <a:t>ip</a:t>
            </a:r>
            <a:r>
              <a:rPr kumimoji="1" lang="en-US" altLang="zh-TW" dirty="0"/>
              <a:t>}:30060</a:t>
            </a:r>
            <a:endParaRPr kumimoji="1"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919F54F-46E6-8443-8D2C-E3754B9E1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48" y="3094591"/>
            <a:ext cx="8002515" cy="1235476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AA569F6-E25C-E8D7-B3B1-B2D898004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61055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reeform 2">
            <a:extLst>
              <a:ext uri="{FF2B5EF4-FFF2-40B4-BE49-F238E27FC236}">
                <a16:creationId xmlns:a16="http://schemas.microsoft.com/office/drawing/2014/main" id="{60D37E97-0C55-354B-A0CA-EC0CC931F2B9}"/>
              </a:ext>
            </a:extLst>
          </p:cNvPr>
          <p:cNvSpPr>
            <a:spLocks/>
          </p:cNvSpPr>
          <p:nvPr/>
        </p:nvSpPr>
        <p:spPr bwMode="auto">
          <a:xfrm>
            <a:off x="1703389" y="2299855"/>
            <a:ext cx="5494337" cy="3381809"/>
          </a:xfrm>
          <a:custGeom>
            <a:avLst/>
            <a:gdLst>
              <a:gd name="T0" fmla="*/ 3496 w 3496"/>
              <a:gd name="T1" fmla="*/ 2080 h 2120"/>
              <a:gd name="T2" fmla="*/ 3456 w 3496"/>
              <a:gd name="T3" fmla="*/ 2120 h 2120"/>
              <a:gd name="T4" fmla="*/ 40 w 3496"/>
              <a:gd name="T5" fmla="*/ 2120 h 2120"/>
              <a:gd name="T6" fmla="*/ 0 w 3496"/>
              <a:gd name="T7" fmla="*/ 2080 h 2120"/>
              <a:gd name="T8" fmla="*/ 0 w 3496"/>
              <a:gd name="T9" fmla="*/ 40 h 2120"/>
              <a:gd name="T10" fmla="*/ 40 w 3496"/>
              <a:gd name="T11" fmla="*/ 0 h 2120"/>
              <a:gd name="T12" fmla="*/ 3456 w 3496"/>
              <a:gd name="T13" fmla="*/ 0 h 2120"/>
              <a:gd name="T14" fmla="*/ 3496 w 3496"/>
              <a:gd name="T15" fmla="*/ 40 h 2120"/>
              <a:gd name="T16" fmla="*/ 3496 w 3496"/>
              <a:gd name="T17" fmla="*/ 2080 h 2120"/>
              <a:gd name="T18" fmla="*/ 3496 w 3496"/>
              <a:gd name="T19" fmla="*/ 2080 h 2120"/>
              <a:gd name="T20" fmla="*/ 3496 w 3496"/>
              <a:gd name="T21" fmla="*/ 2080 h 2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96" h="2120">
                <a:moveTo>
                  <a:pt x="3496" y="2080"/>
                </a:moveTo>
                <a:cubicBezTo>
                  <a:pt x="3496" y="2106"/>
                  <a:pt x="3482" y="2120"/>
                  <a:pt x="3456" y="2120"/>
                </a:cubicBezTo>
                <a:lnTo>
                  <a:pt x="40" y="2120"/>
                </a:lnTo>
                <a:cubicBezTo>
                  <a:pt x="13" y="2120"/>
                  <a:pt x="0" y="2106"/>
                  <a:pt x="0" y="2080"/>
                </a:cubicBezTo>
                <a:lnTo>
                  <a:pt x="0" y="40"/>
                </a:lnTo>
                <a:cubicBezTo>
                  <a:pt x="0" y="13"/>
                  <a:pt x="13" y="0"/>
                  <a:pt x="40" y="0"/>
                </a:cubicBezTo>
                <a:lnTo>
                  <a:pt x="3456" y="0"/>
                </a:lnTo>
                <a:cubicBezTo>
                  <a:pt x="3482" y="0"/>
                  <a:pt x="3496" y="13"/>
                  <a:pt x="3496" y="40"/>
                </a:cubicBezTo>
                <a:lnTo>
                  <a:pt x="3496" y="2080"/>
                </a:lnTo>
                <a:lnTo>
                  <a:pt x="3496" y="2080"/>
                </a:lnTo>
                <a:lnTo>
                  <a:pt x="3496" y="2080"/>
                </a:lnTo>
                <a:close/>
              </a:path>
            </a:pathLst>
          </a:custGeom>
          <a:solidFill>
            <a:srgbClr val="FFFFFF"/>
          </a:solidFill>
          <a:ln w="24094">
            <a:solidFill>
              <a:srgbClr val="00796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099" name="Text Box 3">
            <a:extLst>
              <a:ext uri="{FF2B5EF4-FFF2-40B4-BE49-F238E27FC236}">
                <a16:creationId xmlns:a16="http://schemas.microsoft.com/office/drawing/2014/main" id="{84FEC9BE-34C2-F246-90D5-E92390CCCE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6089" y="3915361"/>
            <a:ext cx="524033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algn="ctr"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 </a:t>
            </a:r>
          </a:p>
        </p:txBody>
      </p:sp>
      <p:sp>
        <p:nvSpPr>
          <p:cNvPr id="4100" name="Freeform 4">
            <a:extLst>
              <a:ext uri="{FF2B5EF4-FFF2-40B4-BE49-F238E27FC236}">
                <a16:creationId xmlns:a16="http://schemas.microsoft.com/office/drawing/2014/main" id="{3D2CC538-C2C4-104A-A301-5D7A898CC44F}"/>
              </a:ext>
            </a:extLst>
          </p:cNvPr>
          <p:cNvSpPr>
            <a:spLocks/>
          </p:cNvSpPr>
          <p:nvPr/>
        </p:nvSpPr>
        <p:spPr bwMode="auto">
          <a:xfrm>
            <a:off x="2125663" y="4403726"/>
            <a:ext cx="842962" cy="842963"/>
          </a:xfrm>
          <a:custGeom>
            <a:avLst/>
            <a:gdLst>
              <a:gd name="T0" fmla="*/ 560 w 560"/>
              <a:gd name="T1" fmla="*/ 520 h 560"/>
              <a:gd name="T2" fmla="*/ 520 w 560"/>
              <a:gd name="T3" fmla="*/ 560 h 560"/>
              <a:gd name="T4" fmla="*/ 40 w 560"/>
              <a:gd name="T5" fmla="*/ 560 h 560"/>
              <a:gd name="T6" fmla="*/ 0 w 560"/>
              <a:gd name="T7" fmla="*/ 520 h 560"/>
              <a:gd name="T8" fmla="*/ 0 w 560"/>
              <a:gd name="T9" fmla="*/ 40 h 560"/>
              <a:gd name="T10" fmla="*/ 40 w 560"/>
              <a:gd name="T11" fmla="*/ 0 h 560"/>
              <a:gd name="T12" fmla="*/ 520 w 560"/>
              <a:gd name="T13" fmla="*/ 0 h 560"/>
              <a:gd name="T14" fmla="*/ 560 w 560"/>
              <a:gd name="T15" fmla="*/ 40 h 560"/>
              <a:gd name="T16" fmla="*/ 560 w 560"/>
              <a:gd name="T17" fmla="*/ 520 h 560"/>
              <a:gd name="T18" fmla="*/ 560 w 560"/>
              <a:gd name="T19" fmla="*/ 520 h 560"/>
              <a:gd name="T20" fmla="*/ 560 w 560"/>
              <a:gd name="T21" fmla="*/ 520 h 5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60" h="560">
                <a:moveTo>
                  <a:pt x="560" y="520"/>
                </a:moveTo>
                <a:cubicBezTo>
                  <a:pt x="560" y="546"/>
                  <a:pt x="546" y="560"/>
                  <a:pt x="520" y="560"/>
                </a:cubicBezTo>
                <a:lnTo>
                  <a:pt x="40" y="560"/>
                </a:lnTo>
                <a:cubicBezTo>
                  <a:pt x="13" y="560"/>
                  <a:pt x="0" y="546"/>
                  <a:pt x="0" y="520"/>
                </a:cubicBezTo>
                <a:lnTo>
                  <a:pt x="0" y="40"/>
                </a:lnTo>
                <a:cubicBezTo>
                  <a:pt x="0" y="13"/>
                  <a:pt x="13" y="0"/>
                  <a:pt x="40" y="0"/>
                </a:cubicBezTo>
                <a:lnTo>
                  <a:pt x="520" y="0"/>
                </a:lnTo>
                <a:cubicBezTo>
                  <a:pt x="546" y="0"/>
                  <a:pt x="560" y="13"/>
                  <a:pt x="560" y="40"/>
                </a:cubicBezTo>
                <a:lnTo>
                  <a:pt x="560" y="520"/>
                </a:lnTo>
                <a:lnTo>
                  <a:pt x="560" y="520"/>
                </a:lnTo>
                <a:lnTo>
                  <a:pt x="560" y="520"/>
                </a:lnTo>
                <a:close/>
              </a:path>
            </a:pathLst>
          </a:custGeom>
          <a:solidFill>
            <a:srgbClr val="FFFFFF"/>
          </a:solidFill>
          <a:ln w="12047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01" name="Text Box 5">
            <a:extLst>
              <a:ext uri="{FF2B5EF4-FFF2-40B4-BE49-F238E27FC236}">
                <a16:creationId xmlns:a16="http://schemas.microsoft.com/office/drawing/2014/main" id="{DDA5648C-21C7-D040-97C8-8981E481C4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8363" y="4656723"/>
            <a:ext cx="81915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algn="ctr"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Pod</a:t>
            </a:r>
          </a:p>
        </p:txBody>
      </p:sp>
      <p:sp>
        <p:nvSpPr>
          <p:cNvPr id="4102" name="Freeform 6">
            <a:extLst>
              <a:ext uri="{FF2B5EF4-FFF2-40B4-BE49-F238E27FC236}">
                <a16:creationId xmlns:a16="http://schemas.microsoft.com/office/drawing/2014/main" id="{94FDDEB3-D70F-8944-821B-5A753572D20E}"/>
              </a:ext>
            </a:extLst>
          </p:cNvPr>
          <p:cNvSpPr>
            <a:spLocks/>
          </p:cNvSpPr>
          <p:nvPr/>
        </p:nvSpPr>
        <p:spPr bwMode="auto">
          <a:xfrm>
            <a:off x="3311526" y="4403726"/>
            <a:ext cx="842963" cy="842963"/>
          </a:xfrm>
          <a:custGeom>
            <a:avLst/>
            <a:gdLst>
              <a:gd name="T0" fmla="*/ 560 w 560"/>
              <a:gd name="T1" fmla="*/ 520 h 560"/>
              <a:gd name="T2" fmla="*/ 520 w 560"/>
              <a:gd name="T3" fmla="*/ 560 h 560"/>
              <a:gd name="T4" fmla="*/ 40 w 560"/>
              <a:gd name="T5" fmla="*/ 560 h 560"/>
              <a:gd name="T6" fmla="*/ 0 w 560"/>
              <a:gd name="T7" fmla="*/ 520 h 560"/>
              <a:gd name="T8" fmla="*/ 0 w 560"/>
              <a:gd name="T9" fmla="*/ 40 h 560"/>
              <a:gd name="T10" fmla="*/ 40 w 560"/>
              <a:gd name="T11" fmla="*/ 0 h 560"/>
              <a:gd name="T12" fmla="*/ 520 w 560"/>
              <a:gd name="T13" fmla="*/ 0 h 560"/>
              <a:gd name="T14" fmla="*/ 560 w 560"/>
              <a:gd name="T15" fmla="*/ 40 h 560"/>
              <a:gd name="T16" fmla="*/ 560 w 560"/>
              <a:gd name="T17" fmla="*/ 520 h 560"/>
              <a:gd name="T18" fmla="*/ 560 w 560"/>
              <a:gd name="T19" fmla="*/ 520 h 560"/>
              <a:gd name="T20" fmla="*/ 560 w 560"/>
              <a:gd name="T21" fmla="*/ 520 h 5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60" h="560">
                <a:moveTo>
                  <a:pt x="560" y="520"/>
                </a:moveTo>
                <a:cubicBezTo>
                  <a:pt x="560" y="546"/>
                  <a:pt x="546" y="560"/>
                  <a:pt x="520" y="560"/>
                </a:cubicBezTo>
                <a:lnTo>
                  <a:pt x="40" y="560"/>
                </a:lnTo>
                <a:cubicBezTo>
                  <a:pt x="13" y="560"/>
                  <a:pt x="0" y="546"/>
                  <a:pt x="0" y="520"/>
                </a:cubicBezTo>
                <a:lnTo>
                  <a:pt x="0" y="40"/>
                </a:lnTo>
                <a:cubicBezTo>
                  <a:pt x="0" y="13"/>
                  <a:pt x="13" y="0"/>
                  <a:pt x="40" y="0"/>
                </a:cubicBezTo>
                <a:lnTo>
                  <a:pt x="520" y="0"/>
                </a:lnTo>
                <a:cubicBezTo>
                  <a:pt x="546" y="0"/>
                  <a:pt x="560" y="13"/>
                  <a:pt x="560" y="40"/>
                </a:cubicBezTo>
                <a:lnTo>
                  <a:pt x="560" y="520"/>
                </a:lnTo>
                <a:lnTo>
                  <a:pt x="560" y="520"/>
                </a:lnTo>
                <a:lnTo>
                  <a:pt x="560" y="520"/>
                </a:lnTo>
                <a:close/>
              </a:path>
            </a:pathLst>
          </a:custGeom>
          <a:solidFill>
            <a:srgbClr val="FFFFFF"/>
          </a:solidFill>
          <a:ln w="12047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03" name="Text Box 7">
            <a:extLst>
              <a:ext uri="{FF2B5EF4-FFF2-40B4-BE49-F238E27FC236}">
                <a16:creationId xmlns:a16="http://schemas.microsoft.com/office/drawing/2014/main" id="{73F59A0F-B1C6-9E43-A9F9-D808A8E6CD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2638" y="4656723"/>
            <a:ext cx="81915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algn="ctr"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Pod</a:t>
            </a:r>
          </a:p>
        </p:txBody>
      </p:sp>
      <p:sp>
        <p:nvSpPr>
          <p:cNvPr id="4104" name="Freeform 8">
            <a:extLst>
              <a:ext uri="{FF2B5EF4-FFF2-40B4-BE49-F238E27FC236}">
                <a16:creationId xmlns:a16="http://schemas.microsoft.com/office/drawing/2014/main" id="{EBA7DA2B-181D-DE4C-80F4-8D9D6D0697AB}"/>
              </a:ext>
            </a:extLst>
          </p:cNvPr>
          <p:cNvSpPr>
            <a:spLocks/>
          </p:cNvSpPr>
          <p:nvPr/>
        </p:nvSpPr>
        <p:spPr bwMode="auto">
          <a:xfrm>
            <a:off x="5751513" y="4403726"/>
            <a:ext cx="842962" cy="842963"/>
          </a:xfrm>
          <a:custGeom>
            <a:avLst/>
            <a:gdLst>
              <a:gd name="T0" fmla="*/ 560 w 560"/>
              <a:gd name="T1" fmla="*/ 520 h 560"/>
              <a:gd name="T2" fmla="*/ 520 w 560"/>
              <a:gd name="T3" fmla="*/ 560 h 560"/>
              <a:gd name="T4" fmla="*/ 40 w 560"/>
              <a:gd name="T5" fmla="*/ 560 h 560"/>
              <a:gd name="T6" fmla="*/ 0 w 560"/>
              <a:gd name="T7" fmla="*/ 520 h 560"/>
              <a:gd name="T8" fmla="*/ 0 w 560"/>
              <a:gd name="T9" fmla="*/ 40 h 560"/>
              <a:gd name="T10" fmla="*/ 40 w 560"/>
              <a:gd name="T11" fmla="*/ 0 h 560"/>
              <a:gd name="T12" fmla="*/ 520 w 560"/>
              <a:gd name="T13" fmla="*/ 0 h 560"/>
              <a:gd name="T14" fmla="*/ 560 w 560"/>
              <a:gd name="T15" fmla="*/ 40 h 560"/>
              <a:gd name="T16" fmla="*/ 560 w 560"/>
              <a:gd name="T17" fmla="*/ 520 h 560"/>
              <a:gd name="T18" fmla="*/ 560 w 560"/>
              <a:gd name="T19" fmla="*/ 520 h 560"/>
              <a:gd name="T20" fmla="*/ 560 w 560"/>
              <a:gd name="T21" fmla="*/ 520 h 5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60" h="560">
                <a:moveTo>
                  <a:pt x="560" y="520"/>
                </a:moveTo>
                <a:cubicBezTo>
                  <a:pt x="560" y="546"/>
                  <a:pt x="546" y="560"/>
                  <a:pt x="520" y="560"/>
                </a:cubicBezTo>
                <a:lnTo>
                  <a:pt x="40" y="560"/>
                </a:lnTo>
                <a:cubicBezTo>
                  <a:pt x="13" y="560"/>
                  <a:pt x="0" y="546"/>
                  <a:pt x="0" y="520"/>
                </a:cubicBezTo>
                <a:lnTo>
                  <a:pt x="0" y="40"/>
                </a:lnTo>
                <a:cubicBezTo>
                  <a:pt x="0" y="13"/>
                  <a:pt x="13" y="0"/>
                  <a:pt x="40" y="0"/>
                </a:cubicBezTo>
                <a:lnTo>
                  <a:pt x="520" y="0"/>
                </a:lnTo>
                <a:cubicBezTo>
                  <a:pt x="546" y="0"/>
                  <a:pt x="560" y="13"/>
                  <a:pt x="560" y="40"/>
                </a:cubicBezTo>
                <a:lnTo>
                  <a:pt x="560" y="520"/>
                </a:lnTo>
                <a:lnTo>
                  <a:pt x="560" y="520"/>
                </a:lnTo>
                <a:lnTo>
                  <a:pt x="560" y="520"/>
                </a:lnTo>
                <a:close/>
              </a:path>
            </a:pathLst>
          </a:custGeom>
          <a:solidFill>
            <a:srgbClr val="FFFFFF"/>
          </a:solidFill>
          <a:ln w="12047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05" name="Text Box 9">
            <a:extLst>
              <a:ext uri="{FF2B5EF4-FFF2-40B4-BE49-F238E27FC236}">
                <a16:creationId xmlns:a16="http://schemas.microsoft.com/office/drawing/2014/main" id="{06542EAF-D99B-B94B-A777-1DE554D32F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4213" y="4656723"/>
            <a:ext cx="81915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algn="ctr"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Pod</a:t>
            </a:r>
          </a:p>
        </p:txBody>
      </p:sp>
      <p:sp>
        <p:nvSpPr>
          <p:cNvPr id="4106" name="Freeform 10">
            <a:extLst>
              <a:ext uri="{FF2B5EF4-FFF2-40B4-BE49-F238E27FC236}">
                <a16:creationId xmlns:a16="http://schemas.microsoft.com/office/drawing/2014/main" id="{0DDADDB5-A6CC-0543-B151-49C5BC22ED5C}"/>
              </a:ext>
            </a:extLst>
          </p:cNvPr>
          <p:cNvSpPr>
            <a:spLocks/>
          </p:cNvSpPr>
          <p:nvPr/>
        </p:nvSpPr>
        <p:spPr bwMode="auto">
          <a:xfrm>
            <a:off x="4541838" y="4403726"/>
            <a:ext cx="844550" cy="842963"/>
          </a:xfrm>
          <a:custGeom>
            <a:avLst/>
            <a:gdLst>
              <a:gd name="T0" fmla="*/ 560 w 560"/>
              <a:gd name="T1" fmla="*/ 520 h 560"/>
              <a:gd name="T2" fmla="*/ 520 w 560"/>
              <a:gd name="T3" fmla="*/ 560 h 560"/>
              <a:gd name="T4" fmla="*/ 40 w 560"/>
              <a:gd name="T5" fmla="*/ 560 h 560"/>
              <a:gd name="T6" fmla="*/ 0 w 560"/>
              <a:gd name="T7" fmla="*/ 520 h 560"/>
              <a:gd name="T8" fmla="*/ 0 w 560"/>
              <a:gd name="T9" fmla="*/ 40 h 560"/>
              <a:gd name="T10" fmla="*/ 40 w 560"/>
              <a:gd name="T11" fmla="*/ 0 h 560"/>
              <a:gd name="T12" fmla="*/ 520 w 560"/>
              <a:gd name="T13" fmla="*/ 0 h 560"/>
              <a:gd name="T14" fmla="*/ 560 w 560"/>
              <a:gd name="T15" fmla="*/ 40 h 560"/>
              <a:gd name="T16" fmla="*/ 560 w 560"/>
              <a:gd name="T17" fmla="*/ 520 h 560"/>
              <a:gd name="T18" fmla="*/ 560 w 560"/>
              <a:gd name="T19" fmla="*/ 520 h 560"/>
              <a:gd name="T20" fmla="*/ 560 w 560"/>
              <a:gd name="T21" fmla="*/ 520 h 5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60" h="560">
                <a:moveTo>
                  <a:pt x="560" y="520"/>
                </a:moveTo>
                <a:cubicBezTo>
                  <a:pt x="560" y="546"/>
                  <a:pt x="546" y="560"/>
                  <a:pt x="520" y="560"/>
                </a:cubicBezTo>
                <a:lnTo>
                  <a:pt x="40" y="560"/>
                </a:lnTo>
                <a:cubicBezTo>
                  <a:pt x="13" y="560"/>
                  <a:pt x="0" y="546"/>
                  <a:pt x="0" y="520"/>
                </a:cubicBezTo>
                <a:lnTo>
                  <a:pt x="0" y="40"/>
                </a:lnTo>
                <a:cubicBezTo>
                  <a:pt x="0" y="13"/>
                  <a:pt x="13" y="0"/>
                  <a:pt x="40" y="0"/>
                </a:cubicBezTo>
                <a:lnTo>
                  <a:pt x="520" y="0"/>
                </a:lnTo>
                <a:cubicBezTo>
                  <a:pt x="546" y="0"/>
                  <a:pt x="560" y="13"/>
                  <a:pt x="560" y="40"/>
                </a:cubicBezTo>
                <a:lnTo>
                  <a:pt x="560" y="520"/>
                </a:lnTo>
                <a:lnTo>
                  <a:pt x="560" y="520"/>
                </a:lnTo>
                <a:lnTo>
                  <a:pt x="560" y="520"/>
                </a:lnTo>
                <a:close/>
              </a:path>
            </a:pathLst>
          </a:custGeom>
          <a:solidFill>
            <a:srgbClr val="FFFFFF"/>
          </a:solidFill>
          <a:ln w="12047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07" name="Text Box 11">
            <a:extLst>
              <a:ext uri="{FF2B5EF4-FFF2-40B4-BE49-F238E27FC236}">
                <a16:creationId xmlns:a16="http://schemas.microsoft.com/office/drawing/2014/main" id="{B7138F90-D8EA-D843-A5F3-0A98832948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4538" y="4656723"/>
            <a:ext cx="81915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algn="ctr"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Pod</a:t>
            </a:r>
          </a:p>
        </p:txBody>
      </p:sp>
      <p:sp>
        <p:nvSpPr>
          <p:cNvPr id="4108" name="Freeform 12">
            <a:extLst>
              <a:ext uri="{FF2B5EF4-FFF2-40B4-BE49-F238E27FC236}">
                <a16:creationId xmlns:a16="http://schemas.microsoft.com/office/drawing/2014/main" id="{E4050AA7-B2D5-5C48-8855-A3E35FA1825F}"/>
              </a:ext>
            </a:extLst>
          </p:cNvPr>
          <p:cNvSpPr>
            <a:spLocks/>
          </p:cNvSpPr>
          <p:nvPr/>
        </p:nvSpPr>
        <p:spPr bwMode="auto">
          <a:xfrm>
            <a:off x="3065464" y="2681288"/>
            <a:ext cx="3101975" cy="900112"/>
          </a:xfrm>
          <a:custGeom>
            <a:avLst/>
            <a:gdLst>
              <a:gd name="T0" fmla="*/ 2060 w 2060"/>
              <a:gd name="T1" fmla="*/ 557 h 597"/>
              <a:gd name="T2" fmla="*/ 2020 w 2060"/>
              <a:gd name="T3" fmla="*/ 597 h 597"/>
              <a:gd name="T4" fmla="*/ 40 w 2060"/>
              <a:gd name="T5" fmla="*/ 597 h 597"/>
              <a:gd name="T6" fmla="*/ 0 w 2060"/>
              <a:gd name="T7" fmla="*/ 557 h 597"/>
              <a:gd name="T8" fmla="*/ 0 w 2060"/>
              <a:gd name="T9" fmla="*/ 40 h 597"/>
              <a:gd name="T10" fmla="*/ 40 w 2060"/>
              <a:gd name="T11" fmla="*/ 0 h 597"/>
              <a:gd name="T12" fmla="*/ 2020 w 2060"/>
              <a:gd name="T13" fmla="*/ 0 h 597"/>
              <a:gd name="T14" fmla="*/ 2060 w 2060"/>
              <a:gd name="T15" fmla="*/ 40 h 597"/>
              <a:gd name="T16" fmla="*/ 2060 w 2060"/>
              <a:gd name="T17" fmla="*/ 557 h 597"/>
              <a:gd name="T18" fmla="*/ 2060 w 2060"/>
              <a:gd name="T19" fmla="*/ 557 h 597"/>
              <a:gd name="T20" fmla="*/ 2060 w 2060"/>
              <a:gd name="T21" fmla="*/ 557 h 5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060" h="597">
                <a:moveTo>
                  <a:pt x="2060" y="557"/>
                </a:moveTo>
                <a:cubicBezTo>
                  <a:pt x="2060" y="584"/>
                  <a:pt x="2046" y="597"/>
                  <a:pt x="2020" y="597"/>
                </a:cubicBezTo>
                <a:lnTo>
                  <a:pt x="40" y="597"/>
                </a:lnTo>
                <a:cubicBezTo>
                  <a:pt x="13" y="597"/>
                  <a:pt x="0" y="584"/>
                  <a:pt x="0" y="557"/>
                </a:cubicBezTo>
                <a:lnTo>
                  <a:pt x="0" y="40"/>
                </a:lnTo>
                <a:cubicBezTo>
                  <a:pt x="0" y="13"/>
                  <a:pt x="13" y="0"/>
                  <a:pt x="40" y="0"/>
                </a:cubicBezTo>
                <a:lnTo>
                  <a:pt x="2020" y="0"/>
                </a:lnTo>
                <a:cubicBezTo>
                  <a:pt x="2046" y="0"/>
                  <a:pt x="2060" y="13"/>
                  <a:pt x="2060" y="40"/>
                </a:cubicBezTo>
                <a:lnTo>
                  <a:pt x="2060" y="557"/>
                </a:lnTo>
                <a:lnTo>
                  <a:pt x="2060" y="557"/>
                </a:lnTo>
                <a:lnTo>
                  <a:pt x="2060" y="557"/>
                </a:lnTo>
                <a:close/>
              </a:path>
            </a:pathLst>
          </a:custGeom>
          <a:solidFill>
            <a:srgbClr val="FFFFFF"/>
          </a:solidFill>
          <a:ln w="36142">
            <a:solidFill>
              <a:srgbClr val="1A76D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09" name="Text Box 13">
            <a:extLst>
              <a:ext uri="{FF2B5EF4-FFF2-40B4-BE49-F238E27FC236}">
                <a16:creationId xmlns:a16="http://schemas.microsoft.com/office/drawing/2014/main" id="{EA98EC9F-C614-E74F-B206-A4E1E80676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6576" y="2610506"/>
            <a:ext cx="3084513" cy="1046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algn="ctr" eaLnBrk="1" hangingPunct="1"/>
            <a:r>
              <a:rPr lang="en-US" altLang="zh-TW" sz="3400" dirty="0">
                <a:solidFill>
                  <a:srgbClr val="1A76D2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Service (10.43.x.x)</a:t>
            </a:r>
          </a:p>
        </p:txBody>
      </p:sp>
      <p:sp>
        <p:nvSpPr>
          <p:cNvPr id="4110" name="Freeform 14">
            <a:extLst>
              <a:ext uri="{FF2B5EF4-FFF2-40B4-BE49-F238E27FC236}">
                <a16:creationId xmlns:a16="http://schemas.microsoft.com/office/drawing/2014/main" id="{00A0EE25-9FBB-2143-993F-D39F3930CAA3}"/>
              </a:ext>
            </a:extLst>
          </p:cNvPr>
          <p:cNvSpPr>
            <a:spLocks/>
          </p:cNvSpPr>
          <p:nvPr/>
        </p:nvSpPr>
        <p:spPr bwMode="auto">
          <a:xfrm>
            <a:off x="4964113" y="4143375"/>
            <a:ext cx="0" cy="260350"/>
          </a:xfrm>
          <a:custGeom>
            <a:avLst/>
            <a:gdLst>
              <a:gd name="T0" fmla="*/ 173 h 173"/>
              <a:gd name="T1" fmla="*/ 0 h 173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173">
                <a:moveTo>
                  <a:pt x="0" y="173"/>
                </a:moveTo>
                <a:lnTo>
                  <a:pt x="0" y="0"/>
                </a:lnTo>
              </a:path>
            </a:pathLst>
          </a:custGeom>
          <a:noFill/>
          <a:ln w="12047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11" name="Freeform 15">
            <a:extLst>
              <a:ext uri="{FF2B5EF4-FFF2-40B4-BE49-F238E27FC236}">
                <a16:creationId xmlns:a16="http://schemas.microsoft.com/office/drawing/2014/main" id="{364EB0A3-A5B9-174C-AAEA-F375F8FF1CE1}"/>
              </a:ext>
            </a:extLst>
          </p:cNvPr>
          <p:cNvSpPr>
            <a:spLocks/>
          </p:cNvSpPr>
          <p:nvPr/>
        </p:nvSpPr>
        <p:spPr bwMode="auto">
          <a:xfrm>
            <a:off x="5392738" y="1778000"/>
            <a:ext cx="0" cy="903288"/>
          </a:xfrm>
          <a:custGeom>
            <a:avLst/>
            <a:gdLst>
              <a:gd name="T0" fmla="*/ 600 h 600"/>
              <a:gd name="T1" fmla="*/ 0 h 600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600">
                <a:moveTo>
                  <a:pt x="0" y="600"/>
                </a:moveTo>
                <a:lnTo>
                  <a:pt x="0" y="0"/>
                </a:lnTo>
              </a:path>
            </a:pathLst>
          </a:custGeom>
          <a:noFill/>
          <a:ln w="36142">
            <a:solidFill>
              <a:srgbClr val="689E3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13" name="Freeform 17">
            <a:extLst>
              <a:ext uri="{FF2B5EF4-FFF2-40B4-BE49-F238E27FC236}">
                <a16:creationId xmlns:a16="http://schemas.microsoft.com/office/drawing/2014/main" id="{FC5C1385-CD37-9645-912A-49E7EC0FB76E}"/>
              </a:ext>
            </a:extLst>
          </p:cNvPr>
          <p:cNvSpPr>
            <a:spLocks/>
          </p:cNvSpPr>
          <p:nvPr/>
        </p:nvSpPr>
        <p:spPr bwMode="auto">
          <a:xfrm>
            <a:off x="5595939" y="1439863"/>
            <a:ext cx="1360487" cy="385762"/>
          </a:xfrm>
          <a:custGeom>
            <a:avLst/>
            <a:gdLst>
              <a:gd name="T0" fmla="*/ 904 w 904"/>
              <a:gd name="T1" fmla="*/ 0 h 256"/>
              <a:gd name="T2" fmla="*/ 0 w 904"/>
              <a:gd name="T3" fmla="*/ 256 h 25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904" h="256">
                <a:moveTo>
                  <a:pt x="904" y="0"/>
                </a:moveTo>
                <a:lnTo>
                  <a:pt x="0" y="256"/>
                </a:lnTo>
              </a:path>
            </a:pathLst>
          </a:custGeom>
          <a:noFill/>
          <a:ln w="36142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14" name="Freeform 18">
            <a:extLst>
              <a:ext uri="{FF2B5EF4-FFF2-40B4-BE49-F238E27FC236}">
                <a16:creationId xmlns:a16="http://schemas.microsoft.com/office/drawing/2014/main" id="{CBB81F74-B232-D648-B60D-67EA443CD3BB}"/>
              </a:ext>
            </a:extLst>
          </p:cNvPr>
          <p:cNvSpPr>
            <a:spLocks/>
          </p:cNvSpPr>
          <p:nvPr/>
        </p:nvSpPr>
        <p:spPr bwMode="auto">
          <a:xfrm>
            <a:off x="5595938" y="1698626"/>
            <a:ext cx="184150" cy="161925"/>
          </a:xfrm>
          <a:custGeom>
            <a:avLst/>
            <a:gdLst>
              <a:gd name="T0" fmla="*/ 0 w 123"/>
              <a:gd name="T1" fmla="*/ 84 h 107"/>
              <a:gd name="T2" fmla="*/ 92 w 123"/>
              <a:gd name="T3" fmla="*/ 0 h 107"/>
              <a:gd name="T4" fmla="*/ 123 w 123"/>
              <a:gd name="T5" fmla="*/ 107 h 107"/>
              <a:gd name="T6" fmla="*/ 0 w 123"/>
              <a:gd name="T7" fmla="*/ 84 h 107"/>
              <a:gd name="T8" fmla="*/ 0 w 123"/>
              <a:gd name="T9" fmla="*/ 84 h 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3" h="107">
                <a:moveTo>
                  <a:pt x="0" y="84"/>
                </a:moveTo>
                <a:lnTo>
                  <a:pt x="92" y="0"/>
                </a:lnTo>
                <a:lnTo>
                  <a:pt x="123" y="107"/>
                </a:lnTo>
                <a:lnTo>
                  <a:pt x="0" y="84"/>
                </a:lnTo>
                <a:lnTo>
                  <a:pt x="0" y="84"/>
                </a:lnTo>
                <a:close/>
              </a:path>
            </a:pathLst>
          </a:custGeom>
          <a:solidFill>
            <a:srgbClr val="000000"/>
          </a:solidFill>
          <a:ln w="36142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15" name="Text Box 19">
            <a:extLst>
              <a:ext uri="{FF2B5EF4-FFF2-40B4-BE49-F238E27FC236}">
                <a16:creationId xmlns:a16="http://schemas.microsoft.com/office/drawing/2014/main" id="{E8EEB7EC-9944-5B46-B617-E42B09D703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7726" y="1174750"/>
            <a:ext cx="2011363" cy="687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1" hangingPunct="1"/>
            <a:r>
              <a:rPr lang="en-US" altLang="zh-TW" sz="2200" dirty="0" err="1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nodePort</a:t>
            </a:r>
            <a:endParaRPr lang="en-US" altLang="zh-TW" sz="2200" dirty="0">
              <a:solidFill>
                <a:srgbClr val="00000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30000~32767</a:t>
            </a:r>
          </a:p>
        </p:txBody>
      </p:sp>
      <p:sp>
        <p:nvSpPr>
          <p:cNvPr id="4116" name="Freeform 20">
            <a:extLst>
              <a:ext uri="{FF2B5EF4-FFF2-40B4-BE49-F238E27FC236}">
                <a16:creationId xmlns:a16="http://schemas.microsoft.com/office/drawing/2014/main" id="{1515527E-97DF-F142-BE12-E524EA02D337}"/>
              </a:ext>
            </a:extLst>
          </p:cNvPr>
          <p:cNvSpPr>
            <a:spLocks/>
          </p:cNvSpPr>
          <p:nvPr/>
        </p:nvSpPr>
        <p:spPr bwMode="auto">
          <a:xfrm>
            <a:off x="6359525" y="4259263"/>
            <a:ext cx="2482850" cy="254000"/>
          </a:xfrm>
          <a:custGeom>
            <a:avLst/>
            <a:gdLst>
              <a:gd name="T0" fmla="*/ 1648 w 1648"/>
              <a:gd name="T1" fmla="*/ 168 h 168"/>
              <a:gd name="T2" fmla="*/ 0 w 1648"/>
              <a:gd name="T3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648" h="168">
                <a:moveTo>
                  <a:pt x="1648" y="168"/>
                </a:moveTo>
                <a:lnTo>
                  <a:pt x="0" y="0"/>
                </a:lnTo>
              </a:path>
            </a:pathLst>
          </a:custGeom>
          <a:noFill/>
          <a:ln w="36142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17" name="Freeform 21">
            <a:extLst>
              <a:ext uri="{FF2B5EF4-FFF2-40B4-BE49-F238E27FC236}">
                <a16:creationId xmlns:a16="http://schemas.microsoft.com/office/drawing/2014/main" id="{CAAB7448-80B3-0F4F-BF4D-614994DC003C}"/>
              </a:ext>
            </a:extLst>
          </p:cNvPr>
          <p:cNvSpPr>
            <a:spLocks/>
          </p:cNvSpPr>
          <p:nvPr/>
        </p:nvSpPr>
        <p:spPr bwMode="auto">
          <a:xfrm>
            <a:off x="6359525" y="4192589"/>
            <a:ext cx="177800" cy="168275"/>
          </a:xfrm>
          <a:custGeom>
            <a:avLst/>
            <a:gdLst>
              <a:gd name="T0" fmla="*/ 0 w 117"/>
              <a:gd name="T1" fmla="*/ 44 h 111"/>
              <a:gd name="T2" fmla="*/ 117 w 117"/>
              <a:gd name="T3" fmla="*/ 0 h 111"/>
              <a:gd name="T4" fmla="*/ 105 w 117"/>
              <a:gd name="T5" fmla="*/ 111 h 111"/>
              <a:gd name="T6" fmla="*/ 0 w 117"/>
              <a:gd name="T7" fmla="*/ 44 h 111"/>
              <a:gd name="T8" fmla="*/ 0 w 117"/>
              <a:gd name="T9" fmla="*/ 44 h 1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7" h="111">
                <a:moveTo>
                  <a:pt x="0" y="44"/>
                </a:moveTo>
                <a:lnTo>
                  <a:pt x="117" y="0"/>
                </a:lnTo>
                <a:lnTo>
                  <a:pt x="105" y="111"/>
                </a:lnTo>
                <a:lnTo>
                  <a:pt x="0" y="44"/>
                </a:lnTo>
                <a:lnTo>
                  <a:pt x="0" y="44"/>
                </a:lnTo>
                <a:close/>
              </a:path>
            </a:pathLst>
          </a:custGeom>
          <a:solidFill>
            <a:srgbClr val="000000"/>
          </a:solidFill>
          <a:ln w="36142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18" name="Text Box 22">
            <a:extLst>
              <a:ext uri="{FF2B5EF4-FFF2-40B4-BE49-F238E27FC236}">
                <a16:creationId xmlns:a16="http://schemas.microsoft.com/office/drawing/2014/main" id="{D6AC59BE-4B08-C346-B3EE-4935BAFB4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77325" y="4235450"/>
            <a:ext cx="1409700" cy="687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1" hangingPunct="1"/>
            <a:r>
              <a:rPr lang="en-US" altLang="zh-TW" sz="2200" dirty="0" err="1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targetPort</a:t>
            </a:r>
            <a:endParaRPr lang="en-US" altLang="zh-TW" sz="2200" dirty="0">
              <a:solidFill>
                <a:srgbClr val="00000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80</a:t>
            </a:r>
          </a:p>
        </p:txBody>
      </p:sp>
      <p:sp>
        <p:nvSpPr>
          <p:cNvPr id="4119" name="Freeform 23">
            <a:extLst>
              <a:ext uri="{FF2B5EF4-FFF2-40B4-BE49-F238E27FC236}">
                <a16:creationId xmlns:a16="http://schemas.microsoft.com/office/drawing/2014/main" id="{5D2D132E-BE29-2244-8EC8-86DE2E9BCDB9}"/>
              </a:ext>
            </a:extLst>
          </p:cNvPr>
          <p:cNvSpPr>
            <a:spLocks/>
          </p:cNvSpPr>
          <p:nvPr/>
        </p:nvSpPr>
        <p:spPr bwMode="auto">
          <a:xfrm>
            <a:off x="6270625" y="4138614"/>
            <a:ext cx="0" cy="261937"/>
          </a:xfrm>
          <a:custGeom>
            <a:avLst/>
            <a:gdLst>
              <a:gd name="T0" fmla="*/ 173 h 173"/>
              <a:gd name="T1" fmla="*/ 0 h 173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173">
                <a:moveTo>
                  <a:pt x="0" y="173"/>
                </a:moveTo>
                <a:lnTo>
                  <a:pt x="0" y="0"/>
                </a:lnTo>
              </a:path>
            </a:pathLst>
          </a:custGeom>
          <a:noFill/>
          <a:ln w="12047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20" name="Freeform 24">
            <a:extLst>
              <a:ext uri="{FF2B5EF4-FFF2-40B4-BE49-F238E27FC236}">
                <a16:creationId xmlns:a16="http://schemas.microsoft.com/office/drawing/2014/main" id="{E2E1DACC-2568-524B-B73D-7C2FC010A591}"/>
              </a:ext>
            </a:extLst>
          </p:cNvPr>
          <p:cNvSpPr>
            <a:spLocks/>
          </p:cNvSpPr>
          <p:nvPr/>
        </p:nvSpPr>
        <p:spPr bwMode="auto">
          <a:xfrm>
            <a:off x="5392738" y="3581400"/>
            <a:ext cx="0" cy="312738"/>
          </a:xfrm>
          <a:custGeom>
            <a:avLst/>
            <a:gdLst>
              <a:gd name="T0" fmla="*/ 208 h 208"/>
              <a:gd name="T1" fmla="*/ 0 h 208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208">
                <a:moveTo>
                  <a:pt x="0" y="208"/>
                </a:moveTo>
                <a:lnTo>
                  <a:pt x="0" y="0"/>
                </a:lnTo>
              </a:path>
            </a:pathLst>
          </a:custGeom>
          <a:noFill/>
          <a:ln w="36142">
            <a:solidFill>
              <a:srgbClr val="689E3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21" name="Text Box 25">
            <a:extLst>
              <a:ext uri="{FF2B5EF4-FFF2-40B4-BE49-F238E27FC236}">
                <a16:creationId xmlns:a16="http://schemas.microsoft.com/office/drawing/2014/main" id="{1A7096F5-EA0B-FF4F-9E79-F3727326EA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4725" y="3127375"/>
            <a:ext cx="14097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Port</a:t>
            </a:r>
          </a:p>
          <a:p>
            <a:pPr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80</a:t>
            </a:r>
          </a:p>
        </p:txBody>
      </p:sp>
      <p:sp>
        <p:nvSpPr>
          <p:cNvPr id="4122" name="Freeform 26">
            <a:extLst>
              <a:ext uri="{FF2B5EF4-FFF2-40B4-BE49-F238E27FC236}">
                <a16:creationId xmlns:a16="http://schemas.microsoft.com/office/drawing/2014/main" id="{6519816C-AA88-0A4E-AA78-896C41E37A09}"/>
              </a:ext>
            </a:extLst>
          </p:cNvPr>
          <p:cNvSpPr>
            <a:spLocks/>
          </p:cNvSpPr>
          <p:nvPr/>
        </p:nvSpPr>
        <p:spPr bwMode="auto">
          <a:xfrm>
            <a:off x="5510213" y="3584575"/>
            <a:ext cx="2482850" cy="228600"/>
          </a:xfrm>
          <a:custGeom>
            <a:avLst/>
            <a:gdLst>
              <a:gd name="T0" fmla="*/ 1648 w 1648"/>
              <a:gd name="T1" fmla="*/ 0 h 152"/>
              <a:gd name="T2" fmla="*/ 0 w 1648"/>
              <a:gd name="T3" fmla="*/ 152 h 15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648" h="152">
                <a:moveTo>
                  <a:pt x="1648" y="0"/>
                </a:moveTo>
                <a:lnTo>
                  <a:pt x="0" y="152"/>
                </a:lnTo>
              </a:path>
            </a:pathLst>
          </a:custGeom>
          <a:noFill/>
          <a:ln w="36142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23" name="Freeform 27">
            <a:extLst>
              <a:ext uri="{FF2B5EF4-FFF2-40B4-BE49-F238E27FC236}">
                <a16:creationId xmlns:a16="http://schemas.microsoft.com/office/drawing/2014/main" id="{54AB5414-B4AB-ED48-A11B-7FBD62C1BA37}"/>
              </a:ext>
            </a:extLst>
          </p:cNvPr>
          <p:cNvSpPr>
            <a:spLocks/>
          </p:cNvSpPr>
          <p:nvPr/>
        </p:nvSpPr>
        <p:spPr bwMode="auto">
          <a:xfrm>
            <a:off x="5510213" y="3714750"/>
            <a:ext cx="176212" cy="166688"/>
          </a:xfrm>
          <a:custGeom>
            <a:avLst/>
            <a:gdLst>
              <a:gd name="T0" fmla="*/ 0 w 116"/>
              <a:gd name="T1" fmla="*/ 66 h 111"/>
              <a:gd name="T2" fmla="*/ 106 w 116"/>
              <a:gd name="T3" fmla="*/ 0 h 111"/>
              <a:gd name="T4" fmla="*/ 116 w 116"/>
              <a:gd name="T5" fmla="*/ 111 h 111"/>
              <a:gd name="T6" fmla="*/ 0 w 116"/>
              <a:gd name="T7" fmla="*/ 66 h 111"/>
              <a:gd name="T8" fmla="*/ 0 w 116"/>
              <a:gd name="T9" fmla="*/ 66 h 1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6" h="111">
                <a:moveTo>
                  <a:pt x="0" y="66"/>
                </a:moveTo>
                <a:lnTo>
                  <a:pt x="106" y="0"/>
                </a:lnTo>
                <a:lnTo>
                  <a:pt x="116" y="111"/>
                </a:lnTo>
                <a:lnTo>
                  <a:pt x="0" y="66"/>
                </a:lnTo>
                <a:lnTo>
                  <a:pt x="0" y="66"/>
                </a:lnTo>
                <a:close/>
              </a:path>
            </a:pathLst>
          </a:custGeom>
          <a:solidFill>
            <a:srgbClr val="000000"/>
          </a:solidFill>
          <a:ln w="36142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C2A8CA4-9589-3D42-95D4-947635718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Service ports </a:t>
            </a:r>
            <a:r>
              <a:rPr lang="zh-CN" altLang="en-US" dirty="0"/>
              <a:t>介紹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FCF1FD0-400B-3977-B806-44A8B711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16474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05108361-29DF-CD44-88DC-2E9F51FB5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App</a:t>
            </a:r>
            <a:r>
              <a:rPr lang="zh-CN" altLang="en-US" dirty="0"/>
              <a:t>間互相呼叫，已</a:t>
            </a:r>
            <a:r>
              <a:rPr lang="en-US" altLang="zh-CN" dirty="0"/>
              <a:t>Web </a:t>
            </a:r>
            <a:r>
              <a:rPr lang="zh-CN" altLang="en-US" dirty="0"/>
              <a:t>呼叫</a:t>
            </a:r>
            <a:r>
              <a:rPr lang="en-US" altLang="zh-CN" dirty="0"/>
              <a:t>API</a:t>
            </a:r>
            <a:r>
              <a:rPr lang="zh-CN" altLang="en-US" dirty="0"/>
              <a:t>為例</a:t>
            </a:r>
            <a:endParaRPr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1419DABC-0E95-594F-A5D0-44E990AA02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838200" y="2368629"/>
            <a:ext cx="10515600" cy="3265329"/>
          </a:xfr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4877361-88A6-FD64-7A4E-10BF68A09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160629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113693-95B1-434D-90C7-893BBE94B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查看</a:t>
            </a:r>
            <a:r>
              <a:rPr kumimoji="1" lang="zh-TW" altLang="en-US" dirty="0"/>
              <a:t> </a:t>
            </a:r>
            <a:r>
              <a:rPr kumimoji="1" lang="en-US" altLang="zh-TW" dirty="0"/>
              <a:t>k</a:t>
            </a:r>
            <a:r>
              <a:rPr kumimoji="1" lang="en-US" altLang="zh-CN" dirty="0"/>
              <a:t>8s Service </a:t>
            </a:r>
            <a:r>
              <a:rPr kumimoji="1" lang="zh-CN" altLang="en-US" dirty="0"/>
              <a:t>詳細資訊</a:t>
            </a:r>
            <a:r>
              <a:rPr kumimoji="1" lang="en-US" altLang="zh-CN" dirty="0"/>
              <a:t> 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3AFE1AB-392C-2944-809A-42A4D6039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describe svc nginx-service</a:t>
            </a:r>
          </a:p>
          <a:p>
            <a:endParaRPr kumimoji="1" lang="en-US" altLang="zh-TW" dirty="0"/>
          </a:p>
          <a:p>
            <a:endParaRPr kumimoji="1"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6832E69-888D-3844-A1DB-A1A3248FD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00264"/>
            <a:ext cx="12085320" cy="220206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88EEB3-C766-CCED-4723-73DEDFAD1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165934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21323A-F65E-3B75-67B6-74C131272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 Namespace</a:t>
            </a:r>
            <a:r>
              <a:rPr kumimoji="1" lang="zh-TW" altLang="en-US" dirty="0"/>
              <a:t> </a:t>
            </a:r>
            <a:r>
              <a:rPr kumimoji="1" lang="en-US" altLang="zh-TW" dirty="0"/>
              <a:t>(</a:t>
            </a:r>
            <a:r>
              <a:rPr kumimoji="1" lang="zh-TW" altLang="en-US" dirty="0"/>
              <a:t>縮寫：</a:t>
            </a:r>
            <a:r>
              <a:rPr kumimoji="1" lang="en-US" altLang="zh-TW" dirty="0"/>
              <a:t>ns)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6628982-D539-FEF8-8D62-7744C1602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命名空間，目的將資源進行區隔</a:t>
            </a:r>
            <a:endParaRPr kumimoji="1" lang="en-US" altLang="zh-TW" dirty="0"/>
          </a:p>
          <a:p>
            <a:r>
              <a:rPr kumimoji="1" lang="en-US" altLang="zh-TW" dirty="0"/>
              <a:t>Namespace list</a:t>
            </a:r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get namespace</a:t>
            </a:r>
          </a:p>
          <a:p>
            <a:r>
              <a:rPr kumimoji="1" lang="en-US" altLang="zh-TW" dirty="0"/>
              <a:t>Create namespace</a:t>
            </a:r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create namespace </a:t>
            </a:r>
            <a:r>
              <a:rPr kumimoji="1" lang="en-US" altLang="zh-TW" dirty="0" err="1"/>
              <a:t>xxxxxxxx</a:t>
            </a:r>
            <a:endParaRPr kumimoji="1" lang="en-US" altLang="zh-TW" dirty="0"/>
          </a:p>
          <a:p>
            <a:r>
              <a:rPr kumimoji="1" lang="en-US" altLang="zh-TW" dirty="0"/>
              <a:t>Delete namespace (</a:t>
            </a:r>
            <a:r>
              <a:rPr kumimoji="1" lang="zh-TW" altLang="en-US" dirty="0"/>
              <a:t>刪除時，屬於此</a:t>
            </a:r>
            <a:r>
              <a:rPr kumimoji="1" lang="en-US" altLang="zh-TW" dirty="0"/>
              <a:t>namespace</a:t>
            </a:r>
            <a:r>
              <a:rPr kumimoji="1" lang="zh-TW" altLang="en-US" dirty="0"/>
              <a:t>上的資源也會依一起刪除</a:t>
            </a:r>
            <a:r>
              <a:rPr kumimoji="1" lang="en-US" altLang="zh-TW" dirty="0"/>
              <a:t>)</a:t>
            </a:r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delete namespace</a:t>
            </a:r>
          </a:p>
          <a:p>
            <a:pPr lvl="1"/>
            <a:endParaRPr kumimoji="1" lang="en-US" altLang="zh-TW" dirty="0"/>
          </a:p>
          <a:p>
            <a:endParaRPr kumimoji="1"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8DC2647-804C-B8B4-C295-98DFF571F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393743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C99E8A-5526-7229-76E5-C7D365B8B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 Namespace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7F0ACE1-87C7-49CD-795B-363D00CDB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查詢指定</a:t>
            </a:r>
            <a:r>
              <a:rPr kumimoji="1" lang="en-US" altLang="zh-TW" dirty="0"/>
              <a:t>namespace</a:t>
            </a:r>
          </a:p>
          <a:p>
            <a:pPr lvl="1"/>
            <a:r>
              <a:rPr kumimoji="1" lang="en-US" altLang="zh-TW" dirty="0" err="1"/>
              <a:t>Kubect</a:t>
            </a:r>
            <a:r>
              <a:rPr kumimoji="1" lang="en-US" altLang="zh-TW" dirty="0"/>
              <a:t> get all -n </a:t>
            </a:r>
            <a:r>
              <a:rPr kumimoji="1" lang="en-US" altLang="zh-TW" dirty="0" err="1"/>
              <a:t>kube</a:t>
            </a:r>
            <a:r>
              <a:rPr kumimoji="1" lang="en-US" altLang="zh-TW" dirty="0"/>
              <a:t>-system</a:t>
            </a:r>
          </a:p>
          <a:p>
            <a:r>
              <a:rPr kumimoji="1" lang="zh-TW" altLang="en-US" dirty="0"/>
              <a:t>取得全域資源</a:t>
            </a:r>
            <a:endParaRPr kumimoji="1" lang="en-US" altLang="zh-TW" dirty="0"/>
          </a:p>
          <a:p>
            <a:pPr lvl="1"/>
            <a:r>
              <a:t>kubectl get all -A</a:t>
            </a:r>
          </a:p>
          <a:p>
            <a:r>
              <a:rPr kumimoji="1" lang="zh-TW" altLang="en-US" dirty="0"/>
              <a:t>不指定</a:t>
            </a:r>
            <a:r>
              <a:rPr kumimoji="1" lang="en-US" altLang="zh-TW" dirty="0"/>
              <a:t>namespace</a:t>
            </a:r>
            <a:r>
              <a:rPr kumimoji="1" lang="zh-TW" altLang="en-US" dirty="0"/>
              <a:t>，預設使用名為</a:t>
            </a:r>
            <a:r>
              <a:rPr kumimoji="1" lang="en-US" altLang="zh-TW" dirty="0"/>
              <a:t>default namespace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7FA737-9255-3DE1-5A65-D686D1527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864789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D1425C-2502-1B4D-813C-697CDE6DA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</a:t>
            </a:r>
            <a:r>
              <a:rPr kumimoji="1" lang="zh-Hant" altLang="en-US" dirty="0"/>
              <a:t> 系統資訊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C948203-89B0-204B-A7AF-5F097187B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pods -n </a:t>
            </a:r>
            <a:r>
              <a:rPr kumimoji="1" lang="en-US" altLang="zh-TW" dirty="0" err="1"/>
              <a:t>kube</a:t>
            </a:r>
            <a:r>
              <a:rPr kumimoji="1" lang="en-US" altLang="zh-TW" dirty="0"/>
              <a:t>-system</a:t>
            </a:r>
          </a:p>
          <a:p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575A3D8-F426-334D-891C-157C95659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312" y="3371388"/>
            <a:ext cx="9372600" cy="229870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EB8823E-27A3-CA2F-FB5B-F536D2C55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667106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6545E9-F69D-274C-A04A-CFCF101B7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Volume: </a:t>
            </a:r>
            <a:r>
              <a:rPr kumimoji="1" lang="en-US" altLang="zh-TW" dirty="0" err="1"/>
              <a:t>hostpath</a:t>
            </a:r>
            <a:r>
              <a:rPr kumimoji="1" lang="en-US" altLang="zh-TW" dirty="0"/>
              <a:t> -1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AFD712A-4975-C144-80C6-144FA70F1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Pod </a:t>
            </a:r>
            <a:r>
              <a:rPr kumimoji="1" lang="zh-CN" altLang="en-US" dirty="0"/>
              <a:t>掛載</a:t>
            </a:r>
            <a:r>
              <a:rPr kumimoji="1" lang="en-US" altLang="zh-CN" dirty="0"/>
              <a:t>node</a:t>
            </a:r>
            <a:r>
              <a:rPr kumimoji="1" lang="zh-CN" altLang="en-US" dirty="0"/>
              <a:t>上的資料夾</a:t>
            </a:r>
            <a:endParaRPr kumimoji="1" lang="en-US" altLang="zh-CN" dirty="0"/>
          </a:p>
          <a:p>
            <a:r>
              <a:rPr kumimoji="1" lang="zh-TW" altLang="en-US" dirty="0"/>
              <a:t>當</a:t>
            </a:r>
            <a:r>
              <a:rPr kumimoji="1" lang="en-US" altLang="zh-TW" dirty="0"/>
              <a:t>node</a:t>
            </a:r>
            <a:r>
              <a:rPr kumimoji="1" lang="zh-CN" altLang="en-US" dirty="0"/>
              <a:t>消失資料遺失</a:t>
            </a:r>
            <a:endParaRPr kumimoji="1" lang="en-US" altLang="zh-CN" dirty="0"/>
          </a:p>
          <a:p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541E89F-D6FA-AF4C-9DC7-F192908C6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3729" y="0"/>
            <a:ext cx="4116567" cy="49121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A1622E59-D665-FA4A-9D37-A70829D6A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739" y="5163990"/>
            <a:ext cx="10668000" cy="1193800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342135DD-7938-A142-45F1-DFD737433F71}"/>
              </a:ext>
            </a:extLst>
          </p:cNvPr>
          <p:cNvSpPr txBox="1"/>
          <p:nvPr/>
        </p:nvSpPr>
        <p:spPr>
          <a:xfrm>
            <a:off x="838200" y="3148553"/>
            <a:ext cx="4073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~/docker-</a:t>
            </a:r>
            <a:r>
              <a:rPr kumimoji="1" lang="en-US" altLang="zh-TW" dirty="0" err="1"/>
              <a:t>devops</a:t>
            </a:r>
            <a:r>
              <a:rPr kumimoji="1" lang="en-US" altLang="zh-TW" dirty="0"/>
              <a:t>/pods/nginx-</a:t>
            </a:r>
            <a:r>
              <a:rPr kumimoji="1" lang="en-US" altLang="zh-TW" dirty="0" err="1"/>
              <a:t>hostpath.yaml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A18F96-1E30-FD30-6E0F-5F29E6EED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037025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E7D86D-3346-E245-A452-32802DA4F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Volume: </a:t>
            </a:r>
            <a:r>
              <a:rPr kumimoji="1" lang="en-US" altLang="zh-TW" dirty="0" err="1"/>
              <a:t>hostpath</a:t>
            </a:r>
            <a:r>
              <a:rPr kumimoji="1" lang="en-US" altLang="zh-TW" dirty="0"/>
              <a:t> -2</a:t>
            </a:r>
            <a:endParaRPr kumimoji="1" lang="zh-TW" altLang="en-US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90BC302F-5770-9646-A6BB-37DAA0B4EF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480" y="2048512"/>
            <a:ext cx="10817817" cy="1261841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B9519FE2-6DF0-AF45-93CA-13F70FC0D3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480" y="4048563"/>
            <a:ext cx="10817817" cy="930565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04F85D3-6D6F-8D80-B21C-A50065E76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481461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D4CAD7-C840-E342-B1DA-D6BE3097E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Install </a:t>
            </a:r>
            <a:r>
              <a:rPr kumimoji="1" lang="en-US" altLang="zh-TW" dirty="0" err="1"/>
              <a:t>nfs</a:t>
            </a:r>
            <a:r>
              <a:rPr kumimoji="1" lang="en-US" altLang="zh-TW" dirty="0"/>
              <a:t> server on rancher server</a:t>
            </a:r>
            <a:endParaRPr kumimoji="1"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FA7ADEC-60AA-4845-BAE6-49AB7393F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Install on VM1</a:t>
            </a:r>
          </a:p>
          <a:p>
            <a:pPr lvl="1"/>
            <a:r>
              <a:rPr kumimoji="1" lang="en-US" altLang="zh-TW" dirty="0" err="1"/>
              <a:t>sudo</a:t>
            </a:r>
            <a:r>
              <a:rPr kumimoji="1" lang="en-US" altLang="zh-TW" dirty="0"/>
              <a:t> apt install </a:t>
            </a:r>
            <a:r>
              <a:rPr lang="en-US" altLang="zh-TW" dirty="0" err="1"/>
              <a:t>nfs</a:t>
            </a:r>
            <a:r>
              <a:rPr lang="en-US" altLang="zh-TW" dirty="0"/>
              <a:t>-kernel-server -y</a:t>
            </a:r>
          </a:p>
          <a:p>
            <a:pPr lvl="1"/>
            <a:r>
              <a:rPr lang="en-US" altLang="zh-TW" dirty="0" err="1"/>
              <a:t>sudo</a:t>
            </a:r>
            <a:r>
              <a:rPr lang="en-US" altLang="zh-TW" dirty="0"/>
              <a:t> vim /</a:t>
            </a:r>
            <a:r>
              <a:rPr lang="en-US" altLang="zh-TW" dirty="0" err="1"/>
              <a:t>etc</a:t>
            </a:r>
            <a:r>
              <a:rPr lang="en-US" altLang="zh-TW" dirty="0"/>
              <a:t>/exports</a:t>
            </a:r>
          </a:p>
          <a:p>
            <a:pPr lvl="2"/>
            <a:r>
              <a:rPr lang="en-US" altLang="zh-TW" dirty="0"/>
              <a:t>/k8sNFS *(</a:t>
            </a:r>
            <a:r>
              <a:rPr lang="en-US" altLang="zh-TW" dirty="0" err="1"/>
              <a:t>no_root_squash,rw,sync,no_subtree_check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 err="1"/>
              <a:t>sudo</a:t>
            </a:r>
            <a:r>
              <a:rPr lang="en-US" altLang="zh-TW" dirty="0"/>
              <a:t> </a:t>
            </a:r>
            <a:r>
              <a:rPr lang="en-US" altLang="zh-TW" dirty="0" err="1"/>
              <a:t>mkdir</a:t>
            </a:r>
            <a:r>
              <a:rPr lang="en-US" altLang="zh-TW" dirty="0"/>
              <a:t> /k8sNFS</a:t>
            </a:r>
          </a:p>
          <a:p>
            <a:pPr lvl="1"/>
            <a:r>
              <a:rPr lang="en-US" altLang="zh-TW" dirty="0" err="1"/>
              <a:t>sudo</a:t>
            </a:r>
            <a:r>
              <a:rPr lang="en-US" altLang="zh-TW" dirty="0"/>
              <a:t> </a:t>
            </a:r>
            <a:r>
              <a:rPr lang="en-US" altLang="zh-TW" dirty="0" err="1"/>
              <a:t>chmod</a:t>
            </a:r>
            <a:r>
              <a:rPr lang="en-US" altLang="zh-TW" dirty="0"/>
              <a:t> 777 /k8sNFS</a:t>
            </a:r>
          </a:p>
          <a:p>
            <a:pPr lvl="1"/>
            <a:r>
              <a:rPr lang="en-US" altLang="zh-TW" dirty="0" err="1"/>
              <a:t>sudo</a:t>
            </a:r>
            <a:r>
              <a:rPr lang="en-US" altLang="zh-TW" dirty="0"/>
              <a:t> </a:t>
            </a:r>
            <a:r>
              <a:rPr lang="en-US" altLang="zh-TW" dirty="0" err="1"/>
              <a:t>systemctl</a:t>
            </a:r>
            <a:r>
              <a:rPr lang="en-US" altLang="zh-TW" dirty="0"/>
              <a:t> restart </a:t>
            </a:r>
            <a:r>
              <a:rPr lang="en-US" altLang="zh-TW" dirty="0" err="1"/>
              <a:t>nfs</a:t>
            </a:r>
            <a:r>
              <a:rPr lang="en-US" altLang="zh-TW" dirty="0"/>
              <a:t>-kernel-server</a:t>
            </a:r>
          </a:p>
          <a:p>
            <a:pPr lvl="1"/>
            <a:r>
              <a:rPr lang="en-US" altLang="zh-TW" dirty="0" err="1"/>
              <a:t>sudo</a:t>
            </a:r>
            <a:r>
              <a:rPr lang="en-US" altLang="zh-TW" dirty="0"/>
              <a:t> </a:t>
            </a:r>
            <a:r>
              <a:rPr lang="en-US" altLang="zh-TW" dirty="0" err="1"/>
              <a:t>showmount</a:t>
            </a:r>
            <a:r>
              <a:rPr lang="en-US" altLang="zh-TW" dirty="0"/>
              <a:t> -e localhost</a:t>
            </a:r>
            <a:br>
              <a:rPr lang="en-US" altLang="zh-TW" dirty="0"/>
            </a:br>
            <a:endParaRPr lang="en-US" altLang="zh-TW" dirty="0"/>
          </a:p>
          <a:p>
            <a:endParaRPr kumimoji="1"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D310C52-FE25-8AF4-31FD-464772AC5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969176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707BAA-D4B8-5C47-8A77-66571AF30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server install mount package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A6810C4-6F1F-054A-86CC-7FE392DEB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Install on VM2</a:t>
            </a:r>
          </a:p>
          <a:p>
            <a:pPr lvl="1"/>
            <a:r>
              <a:rPr kumimoji="1" lang="en-US" altLang="zh-TW" dirty="0" err="1"/>
              <a:t>sudo</a:t>
            </a:r>
            <a:r>
              <a:rPr kumimoji="1" lang="en-US" altLang="zh-TW" dirty="0"/>
              <a:t> apt install </a:t>
            </a:r>
            <a:r>
              <a:rPr kumimoji="1" lang="en-US" altLang="zh-TW" dirty="0" err="1"/>
              <a:t>nfs</a:t>
            </a:r>
            <a:r>
              <a:rPr kumimoji="1" lang="en-US" altLang="zh-TW"/>
              <a:t>-common</a:t>
            </a:r>
            <a:endParaRPr kumimoji="1" lang="en-US" altLang="zh-TW" dirty="0"/>
          </a:p>
          <a:p>
            <a:r>
              <a:rPr kumimoji="1" lang="en-US" altLang="zh-TW" dirty="0"/>
              <a:t>Check</a:t>
            </a:r>
          </a:p>
          <a:p>
            <a:pPr lvl="1"/>
            <a:r>
              <a:rPr kumimoji="1" lang="en-US" altLang="zh-TW" dirty="0" err="1"/>
              <a:t>showmount</a:t>
            </a:r>
            <a:r>
              <a:rPr kumimoji="1" lang="en-US" altLang="zh-TW" dirty="0"/>
              <a:t> -e {VM1 </a:t>
            </a:r>
            <a:r>
              <a:rPr kumimoji="1" lang="zh-CN" altLang="en-US" dirty="0"/>
              <a:t>內網</a:t>
            </a:r>
            <a:r>
              <a:rPr kumimoji="1" lang="en-US" altLang="zh-TW" dirty="0"/>
              <a:t> IP}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DFDDDD9-04E4-EE54-C8B7-9EC51526B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137184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4B4251-20FB-1C45-8F5E-6BABB1813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Volume: NFS -1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29C6641F-7419-0746-BF3A-FDFC2FA74F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38286" y="1212353"/>
            <a:ext cx="4165600" cy="5467351"/>
          </a:xfr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96887981-8D92-3039-01DC-3941E938FD43}"/>
              </a:ext>
            </a:extLst>
          </p:cNvPr>
          <p:cNvSpPr txBox="1"/>
          <p:nvPr/>
        </p:nvSpPr>
        <p:spPr>
          <a:xfrm>
            <a:off x="7967389" y="3429000"/>
            <a:ext cx="4073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~/docker-</a:t>
            </a:r>
            <a:r>
              <a:rPr kumimoji="1" lang="en-US" altLang="zh-TW" dirty="0" err="1"/>
              <a:t>devops</a:t>
            </a:r>
            <a:r>
              <a:rPr kumimoji="1" lang="en-US" altLang="zh-TW" dirty="0"/>
              <a:t>/pods/nginx-</a:t>
            </a:r>
            <a:r>
              <a:rPr kumimoji="1" lang="en-US" altLang="zh-TW" dirty="0" err="1"/>
              <a:t>nfs.yaml</a:t>
            </a:r>
            <a:endParaRPr kumimoji="1"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CB767EF-616F-AD44-0D53-1B55CF88C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339363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6C02AB-F830-3D45-8E73-6C33DDE3A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Volume: NFS -2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1EE9743A-2BEE-9440-94E4-AD8E63CADC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9969" y="1825625"/>
            <a:ext cx="9172062" cy="4351338"/>
          </a:xfr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8B4E9E7-690D-F498-1477-9944123E8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374772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824F129D-87A5-224E-BDEE-75057368E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Volume plugin </a:t>
            </a:r>
            <a:r>
              <a:rPr kumimoji="1" lang="zh-CN" altLang="en-US" dirty="0"/>
              <a:t>支援程度</a:t>
            </a:r>
            <a:r>
              <a:rPr kumimoji="1" lang="en-US" altLang="zh-TW" dirty="0"/>
              <a:t>  </a:t>
            </a:r>
            <a:endParaRPr kumimoji="1" lang="zh-TW" altLang="en-US" dirty="0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0DA216ED-B408-084D-9ED6-A1FA5D8941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3571" y="1825625"/>
            <a:ext cx="8624857" cy="4351338"/>
          </a:xfr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CB96470-4F31-12DD-FCF4-0D32B618C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161033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3FEF4E-C298-6D44-A74B-21471D008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</a:t>
            </a:r>
            <a:r>
              <a:rPr kumimoji="1" lang="zh-CN" altLang="en-US" dirty="0"/>
              <a:t>資源使用率</a:t>
            </a:r>
            <a:r>
              <a:rPr kumimoji="1" lang="en-US" altLang="zh-CN" dirty="0"/>
              <a:t>	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36C420E-DEC5-1140-BF28-1ACE063AA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top nodes</a:t>
            </a:r>
          </a:p>
          <a:p>
            <a:endParaRPr kumimoji="1" lang="en-US" altLang="zh-TW" dirty="0"/>
          </a:p>
          <a:p>
            <a:pPr marL="0" indent="0">
              <a:buNone/>
            </a:pPr>
            <a:endParaRPr kumimoji="1" lang="en-US" altLang="zh-TW" dirty="0"/>
          </a:p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top pods</a:t>
            </a:r>
          </a:p>
          <a:p>
            <a:endParaRPr kumimoji="1"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23A186B-BF25-ED4A-BECD-CB7047E0B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424" y="2260405"/>
            <a:ext cx="9420514" cy="1139004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2233FF1D-0104-2443-8EC9-588868406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424" y="3962784"/>
            <a:ext cx="9171132" cy="1650804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B663594-1CF8-6685-F52E-9BAB487ED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299231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DevOps</a:t>
            </a:r>
          </a:p>
        </p:txBody>
      </p:sp>
      <p:sp>
        <p:nvSpPr>
          <p:cNvPr id="289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>
                <a:latin typeface="+mj-lt"/>
                <a:ea typeface="+mj-ea"/>
                <a:cs typeface="+mj-cs"/>
                <a:sym typeface="Helvetica"/>
              </a:rPr>
              <a:t>一種文化，開發團隊</a:t>
            </a:r>
            <a:r>
              <a:rPr dirty="0"/>
              <a:t>(Dev)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與維運團隊</a:t>
            </a:r>
            <a:r>
              <a:rPr dirty="0"/>
              <a:t>(Ops)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相互合作模式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  <a:p>
            <a:r>
              <a:rPr dirty="0" err="1">
                <a:latin typeface="+mj-lt"/>
                <a:ea typeface="+mj-ea"/>
                <a:cs typeface="+mj-cs"/>
                <a:sym typeface="Helvetica"/>
              </a:rPr>
              <a:t>自動化軟體交付、架構變更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  <a:p>
            <a:r>
              <a:rPr dirty="0" err="1">
                <a:latin typeface="+mj-lt"/>
                <a:ea typeface="+mj-ea"/>
                <a:cs typeface="+mj-cs"/>
                <a:sym typeface="Helvetica"/>
              </a:rPr>
              <a:t>提高軟體</a:t>
            </a:r>
            <a:r>
              <a:rPr dirty="0" err="1"/>
              <a:t>release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速度、穩定性及可維護性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  <a:p>
            <a:r>
              <a:rPr dirty="0" err="1">
                <a:latin typeface="+mj-lt"/>
                <a:ea typeface="+mj-ea"/>
                <a:cs typeface="+mj-cs"/>
                <a:sym typeface="Helvetica"/>
              </a:rPr>
              <a:t>避免開發出難維護、穩定性差的產品</a:t>
            </a:r>
            <a:r>
              <a:rPr dirty="0">
                <a:latin typeface="+mj-lt"/>
                <a:ea typeface="+mj-ea"/>
                <a:cs typeface="+mj-cs"/>
                <a:sym typeface="Helvetica"/>
              </a:rPr>
              <a:t>。</a:t>
            </a:r>
          </a:p>
        </p:txBody>
      </p:sp>
      <p:sp>
        <p:nvSpPr>
          <p:cNvPr id="290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4A99D5B-9048-D6C9-0603-3859E0EFA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709628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模式</a:t>
            </a:r>
            <a:r>
              <a:rPr dirty="0"/>
              <a:t> Dev + Ops</a:t>
            </a:r>
          </a:p>
        </p:txBody>
      </p:sp>
      <p:sp>
        <p:nvSpPr>
          <p:cNvPr id="299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301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979" y="1689278"/>
            <a:ext cx="7223633" cy="4195763"/>
          </a:xfrm>
          <a:prstGeom prst="rect">
            <a:avLst/>
          </a:prstGeom>
          <a:ln w="12700">
            <a:miter lim="400000"/>
          </a:ln>
        </p:spPr>
      </p:pic>
      <p:sp>
        <p:nvSpPr>
          <p:cNvPr id="302" name="文字方塊 5"/>
          <p:cNvSpPr txBox="1"/>
          <p:nvPr/>
        </p:nvSpPr>
        <p:spPr>
          <a:xfrm>
            <a:off x="1186697" y="5721069"/>
            <a:ext cx="10144985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Dev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與</a:t>
            </a:r>
            <a:r>
              <a:t>Ops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兩個團隊互相合作，而中間的交集即為</a:t>
            </a:r>
            <a:r>
              <a:t>DevOps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人員，暨了解</a:t>
            </a:r>
            <a:r>
              <a:t>Dev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且同時了解</a:t>
            </a:r>
            <a:r>
              <a:t>Ops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，當作</a:t>
            </a:r>
            <a:r>
              <a:t>Dev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與</a:t>
            </a:r>
            <a:r>
              <a:t>Ops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間溝通的橋樑。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2871AD5-4533-FC33-63A4-92E50B138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665980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Agile vs Waterfall</a:t>
            </a:r>
          </a:p>
        </p:txBody>
      </p:sp>
      <p:pic>
        <p:nvPicPr>
          <p:cNvPr id="347" name="內容版面配置區 6" descr="內容版面配置區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121" y="1493520"/>
            <a:ext cx="9413191" cy="5076777"/>
          </a:xfrm>
          <a:prstGeom prst="rect">
            <a:avLst/>
          </a:prstGeom>
          <a:ln w="12700">
            <a:miter lim="400000"/>
          </a:ln>
        </p:spPr>
      </p:pic>
      <p:sp>
        <p:nvSpPr>
          <p:cNvPr id="348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350" name="文字方塊 7"/>
          <p:cNvSpPr txBox="1"/>
          <p:nvPr/>
        </p:nvSpPr>
        <p:spPr>
          <a:xfrm>
            <a:off x="916577" y="6545943"/>
            <a:ext cx="9676674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Ref: https://www.linkedin.com/pulse/transforming-from-waterfall-agile-iqbal-ismailwala-/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5860C25-0522-A493-C616-1361A116A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791449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CI/CD</a:t>
            </a:r>
          </a:p>
        </p:txBody>
      </p:sp>
      <p:sp>
        <p:nvSpPr>
          <p:cNvPr id="353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+mj-lt"/>
                <a:ea typeface="+mj-ea"/>
                <a:cs typeface="+mj-cs"/>
                <a:sym typeface="Helvetica"/>
              </a:rPr>
              <a:t>持續整合、持續交付、持續部署</a:t>
            </a:r>
          </a:p>
          <a:p>
            <a:r>
              <a:rPr>
                <a:latin typeface="+mj-lt"/>
                <a:ea typeface="+mj-ea"/>
                <a:cs typeface="+mj-cs"/>
                <a:sym typeface="Helvetica"/>
              </a:rPr>
              <a:t>持續</a:t>
            </a:r>
            <a:r>
              <a:t> =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自動化</a:t>
            </a:r>
          </a:p>
          <a:p>
            <a:r>
              <a:rPr>
                <a:latin typeface="+mj-lt"/>
                <a:ea typeface="+mj-ea"/>
                <a:cs typeface="+mj-cs"/>
                <a:sym typeface="Helvetica"/>
              </a:rPr>
              <a:t>自動編譯、自動釋出版本、自動部署</a:t>
            </a:r>
          </a:p>
        </p:txBody>
      </p:sp>
      <p:sp>
        <p:nvSpPr>
          <p:cNvPr id="35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1A80ABE-732E-FB62-AA36-8DF7E9ED5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366875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CI/CD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步驟</a:t>
            </a:r>
          </a:p>
        </p:txBody>
      </p:sp>
      <p:pic>
        <p:nvPicPr>
          <p:cNvPr id="364" name="內容版面配置區 8" descr="內容版面配置區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0484" y="1737049"/>
            <a:ext cx="5824256" cy="4195763"/>
          </a:xfrm>
          <a:prstGeom prst="rect">
            <a:avLst/>
          </a:prstGeom>
          <a:ln w="12700">
            <a:miter lim="400000"/>
          </a:ln>
        </p:spPr>
      </p:pic>
      <p:sp>
        <p:nvSpPr>
          <p:cNvPr id="365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367" name="文字方塊 9"/>
          <p:cNvSpPr txBox="1"/>
          <p:nvPr/>
        </p:nvSpPr>
        <p:spPr>
          <a:xfrm>
            <a:off x="2208112" y="6220616"/>
            <a:ext cx="7141021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https://techblog.rakuten.co.jp/2018/02/06/cd-the-best-practice/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1D8C166-A56F-DF78-D128-EF694F062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854776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Gitflow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開發流程圖</a:t>
            </a:r>
          </a:p>
        </p:txBody>
      </p:sp>
      <p:pic>
        <p:nvPicPr>
          <p:cNvPr id="370" name="內容版面配置區 6" descr="內容版面配置區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0480" y="1493520"/>
            <a:ext cx="3740313" cy="4956727"/>
          </a:xfrm>
          <a:prstGeom prst="rect">
            <a:avLst/>
          </a:prstGeom>
          <a:ln w="12700">
            <a:miter lim="400000"/>
          </a:ln>
        </p:spPr>
      </p:pic>
      <p:sp>
        <p:nvSpPr>
          <p:cNvPr id="371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373" name="文字方塊 2"/>
          <p:cNvSpPr txBox="1"/>
          <p:nvPr/>
        </p:nvSpPr>
        <p:spPr>
          <a:xfrm>
            <a:off x="4116568" y="6280922"/>
            <a:ext cx="7028451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資料來源：nvie.com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33E7120-CAC1-09F4-D39F-395A89177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639026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Gitflow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分支定義</a:t>
            </a:r>
          </a:p>
        </p:txBody>
      </p:sp>
      <p:sp>
        <p:nvSpPr>
          <p:cNvPr id="376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15468" indent="-315468" defTabSz="420623">
              <a:spcBef>
                <a:spcPts val="900"/>
              </a:spcBef>
              <a:defRPr sz="2944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長期存在分支</a:t>
            </a:r>
          </a:p>
          <a:p>
            <a:pPr marL="683513" lvl="1" indent="-262890" defTabSz="420623">
              <a:spcBef>
                <a:spcPts val="900"/>
              </a:spcBef>
              <a:defRPr sz="2576"/>
            </a:pPr>
            <a:r>
              <a:t>master: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核心分支，不開放工程師直接</a:t>
            </a:r>
            <a:r>
              <a:t>Commit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。</a:t>
            </a:r>
          </a:p>
          <a:p>
            <a:pPr marL="683513" lvl="1" indent="-262890" defTabSz="420623">
              <a:spcBef>
                <a:spcPts val="900"/>
              </a:spcBef>
              <a:defRPr sz="2576"/>
            </a:pPr>
            <a:r>
              <a:t>develop: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功能開發分支</a:t>
            </a:r>
          </a:p>
          <a:p>
            <a:pPr marL="315468" indent="-315468" defTabSz="420623">
              <a:spcBef>
                <a:spcPts val="900"/>
              </a:spcBef>
              <a:defRPr sz="2944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短期存在分支</a:t>
            </a:r>
          </a:p>
          <a:p>
            <a:pPr marL="683513" lvl="1" indent="-262890" defTabSz="420623">
              <a:spcBef>
                <a:spcPts val="900"/>
              </a:spcBef>
              <a:defRPr sz="2576"/>
            </a:pPr>
            <a:r>
              <a:t>Hotfixes: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處理</a:t>
            </a:r>
            <a:r>
              <a:t>release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產品的重大</a:t>
            </a:r>
            <a:r>
              <a:t>bug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。</a:t>
            </a:r>
          </a:p>
          <a:p>
            <a:pPr marL="683513" lvl="1" indent="-262890" defTabSz="420623">
              <a:spcBef>
                <a:spcPts val="900"/>
              </a:spcBef>
              <a:defRPr sz="2576"/>
            </a:pPr>
            <a:r>
              <a:t>Release branch: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在出版前，進行</a:t>
            </a:r>
            <a:r>
              <a:t>release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前測試。</a:t>
            </a:r>
          </a:p>
          <a:p>
            <a:pPr marL="683513" lvl="1" indent="-262890" defTabSz="420623">
              <a:spcBef>
                <a:spcPts val="900"/>
              </a:spcBef>
              <a:defRPr sz="2576"/>
            </a:pPr>
            <a:r>
              <a:t>Feature: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功能開發分支。</a:t>
            </a:r>
          </a:p>
        </p:txBody>
      </p:sp>
      <p:sp>
        <p:nvSpPr>
          <p:cNvPr id="377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C3D6372-307F-1991-D9B8-4EECBCE7A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484505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Gitflow</a:t>
            </a:r>
          </a:p>
        </p:txBody>
      </p:sp>
      <p:sp>
        <p:nvSpPr>
          <p:cNvPr id="381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+mj-lt"/>
                <a:ea typeface="+mj-ea"/>
                <a:cs typeface="+mj-cs"/>
                <a:sym typeface="Helvetica"/>
              </a:rPr>
              <a:t>除了</a:t>
            </a:r>
            <a:r>
              <a:t>master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與</a:t>
            </a:r>
            <a:r>
              <a:t>develop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，其他</a:t>
            </a:r>
            <a:r>
              <a:t>branch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建議勿長期存在，特別是</a:t>
            </a:r>
            <a:r>
              <a:t>feature</a:t>
            </a:r>
          </a:p>
          <a:p>
            <a:r>
              <a:t>Release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與</a:t>
            </a:r>
            <a:r>
              <a:t>Hotfix branch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只能修</a:t>
            </a:r>
            <a:r>
              <a:t>Bug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，不能增加新功能。</a:t>
            </a:r>
          </a:p>
        </p:txBody>
      </p:sp>
      <p:sp>
        <p:nvSpPr>
          <p:cNvPr id="382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70B45CD-0B58-EA00-C359-406678214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421788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標題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+mj-lt"/>
                <a:ea typeface="+mj-ea"/>
                <a:cs typeface="+mj-cs"/>
                <a:sym typeface="Helvetica"/>
              </a:rPr>
              <a:t>部署</a:t>
            </a:r>
            <a:r>
              <a:t>Gitlab</a:t>
            </a:r>
          </a:p>
        </p:txBody>
      </p:sp>
      <p:sp>
        <p:nvSpPr>
          <p:cNvPr id="652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EF74C4F-1066-D8B3-71F2-731731E84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95</a:t>
            </a:fld>
            <a:endParaRPr lang="zh-TW" altLang="en-US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187E3A73-DFCE-9486-A451-49320AAEEA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7550" y="2420144"/>
            <a:ext cx="8216900" cy="3162300"/>
          </a:xfrm>
        </p:spPr>
      </p:pic>
    </p:spTree>
    <p:extLst>
      <p:ext uri="{BB962C8B-B14F-4D97-AF65-F5344CB8AC3E}">
        <p14:creationId xmlns:p14="http://schemas.microsoft.com/office/powerpoint/2010/main" val="114393610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Deploy GitLab server on VM1 docker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sudo</a:t>
            </a:r>
            <a:r>
              <a:rPr lang="en-US" altLang="zh-TW" dirty="0"/>
              <a:t> ~/docker-</a:t>
            </a:r>
            <a:r>
              <a:rPr lang="en-US" altLang="zh-TW" dirty="0" err="1"/>
              <a:t>devops</a:t>
            </a:r>
            <a:r>
              <a:rPr lang="en-US" altLang="zh-TW" dirty="0"/>
              <a:t>/script/</a:t>
            </a:r>
            <a:r>
              <a:rPr lang="en-US" altLang="zh-TW" dirty="0" err="1"/>
              <a:t>deploy_gitlab.sh</a:t>
            </a:r>
            <a:endParaRPr lang="en-US" altLang="zh-TW" dirty="0"/>
          </a:p>
          <a:p>
            <a:r>
              <a:rPr lang="zh-TW" altLang="en-US" dirty="0"/>
              <a:t>執行前檢查</a:t>
            </a:r>
            <a:r>
              <a:rPr lang="en-US" altLang="zh-TW" dirty="0"/>
              <a:t>container name and VM1</a:t>
            </a:r>
            <a:r>
              <a:rPr lang="zh-TW" altLang="en-US" dirty="0"/>
              <a:t>上使用的</a:t>
            </a:r>
            <a:r>
              <a:rPr lang="en-US" altLang="zh-TW" dirty="0"/>
              <a:t>port </a:t>
            </a:r>
            <a:r>
              <a:rPr lang="zh-TW" altLang="en-US" dirty="0"/>
              <a:t>是否有衝突</a:t>
            </a:r>
            <a:endParaRPr lang="en-US" altLang="zh-TW" dirty="0"/>
          </a:p>
          <a:p>
            <a:r>
              <a:rPr lang="zh-TW" altLang="en-US" dirty="0"/>
              <a:t>執行後依提示輸入 VM1 外部 IP 位址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30A8C8-C117-98BD-8825-C6B222AA6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925777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Gitlab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參數講解</a:t>
            </a:r>
            <a:r>
              <a:t> -1</a:t>
            </a:r>
          </a:p>
        </p:txBody>
      </p:sp>
      <p:sp>
        <p:nvSpPr>
          <p:cNvPr id="661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ENV (-e)</a:t>
            </a:r>
          </a:p>
          <a:p>
            <a:pPr marL="742950" lvl="1" indent="-285750">
              <a:defRPr sz="2800"/>
            </a:pPr>
            <a:r>
              <a:rPr dirty="0" err="1"/>
              <a:t>external_url</a:t>
            </a:r>
            <a:r>
              <a:rPr dirty="0"/>
              <a:t> </a:t>
            </a:r>
          </a:p>
          <a:p>
            <a:pPr marL="1143000" lvl="2" indent="-228600">
              <a:defRPr sz="2400"/>
            </a:pPr>
            <a:r>
              <a:rPr dirty="0"/>
              <a:t>'http://{vm1</a:t>
            </a:r>
            <a:r>
              <a:rPr dirty="0">
                <a:latin typeface="+mj-lt"/>
                <a:ea typeface="+mj-ea"/>
                <a:cs typeface="+mj-cs"/>
                <a:sym typeface="Helvetica"/>
              </a:rPr>
              <a:t>外部</a:t>
            </a:r>
            <a:r>
              <a:rPr dirty="0"/>
              <a:t>ip}';</a:t>
            </a:r>
          </a:p>
          <a:p>
            <a:pPr lvl="1">
              <a:defRPr sz="2400"/>
            </a:pPr>
            <a:r>
              <a:rPr dirty="0" err="1"/>
              <a:t>prometheus_monitoring</a:t>
            </a:r>
            <a:r>
              <a:rPr dirty="0"/>
              <a:t>['enable'] = false;</a:t>
            </a:r>
            <a:endParaRPr lang="en-US" dirty="0"/>
          </a:p>
          <a:p>
            <a:pPr lvl="2">
              <a:defRPr sz="2400"/>
            </a:pPr>
            <a:r>
              <a:rPr lang="zh-TW" altLang="en-US" dirty="0"/>
              <a:t>監控不啟用</a:t>
            </a:r>
            <a:r>
              <a:rPr lang="en-US" altLang="zh-TW" dirty="0"/>
              <a:t>(</a:t>
            </a:r>
            <a:r>
              <a:rPr lang="zh-TW" altLang="en-US" dirty="0"/>
              <a:t>資源使用較高</a:t>
            </a:r>
            <a:r>
              <a:rPr lang="en-US" altLang="zh-TW" dirty="0"/>
              <a:t>)</a:t>
            </a:r>
            <a:endParaRPr lang="en-US" dirty="0"/>
          </a:p>
          <a:p>
            <a:pPr lvl="1">
              <a:defRPr sz="2400"/>
            </a:pPr>
            <a:r>
              <a:rPr lang="en-US" altLang="zh-TW" dirty="0" err="1"/>
              <a:t>gitlab_kas</a:t>
            </a:r>
            <a:r>
              <a:rPr lang="en-US" altLang="zh-TW" dirty="0"/>
              <a:t>['enable'] = true;</a:t>
            </a:r>
          </a:p>
          <a:p>
            <a:pPr lvl="2">
              <a:defRPr sz="2400"/>
            </a:pPr>
            <a:r>
              <a:rPr lang="zh-TW" altLang="en-US" dirty="0"/>
              <a:t>啟用</a:t>
            </a:r>
            <a:r>
              <a:rPr lang="en-US" altLang="zh-TW" dirty="0"/>
              <a:t>Agent server for </a:t>
            </a:r>
            <a:r>
              <a:rPr lang="en-US" altLang="zh-TW" dirty="0" err="1"/>
              <a:t>kubernetes</a:t>
            </a:r>
            <a:endParaRPr dirty="0"/>
          </a:p>
          <a:p>
            <a:r>
              <a:rPr dirty="0"/>
              <a:t>Detach (-d)</a:t>
            </a:r>
          </a:p>
          <a:p>
            <a:pPr marL="742950" lvl="1" indent="-285750">
              <a:defRPr sz="2800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背景執行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662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61591C8-B405-A123-E73E-9869978F9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042833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Gitlab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參數講解</a:t>
            </a:r>
            <a:r>
              <a:t> -2</a:t>
            </a:r>
          </a:p>
        </p:txBody>
      </p:sp>
      <p:sp>
        <p:nvSpPr>
          <p:cNvPr id="666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2900"/>
            </a:pPr>
            <a:r>
              <a:rPr dirty="0"/>
              <a:t>Port (-p)</a:t>
            </a:r>
          </a:p>
          <a:p>
            <a:pPr marL="742950" lvl="1" indent="-285750">
              <a:lnSpc>
                <a:spcPct val="90000"/>
              </a:lnSpc>
              <a:defRPr sz="2500"/>
            </a:pPr>
            <a:r>
              <a:rPr dirty="0"/>
              <a:t>80:80</a:t>
            </a:r>
          </a:p>
          <a:p>
            <a:pPr marL="742950" lvl="1" indent="-285750">
              <a:lnSpc>
                <a:spcPct val="90000"/>
              </a:lnSpc>
              <a:defRPr sz="2500"/>
            </a:pPr>
            <a:r>
              <a:rPr dirty="0"/>
              <a:t>443:443</a:t>
            </a:r>
          </a:p>
          <a:p>
            <a:pPr marL="742950" lvl="1" indent="-285750">
              <a:lnSpc>
                <a:spcPct val="90000"/>
              </a:lnSpc>
              <a:defRPr sz="2500"/>
            </a:pPr>
            <a:r>
              <a:rPr dirty="0"/>
              <a:t>10022:22</a:t>
            </a:r>
          </a:p>
          <a:p>
            <a:pPr>
              <a:lnSpc>
                <a:spcPct val="90000"/>
              </a:lnSpc>
              <a:defRPr sz="2900"/>
            </a:pPr>
            <a:r>
              <a:rPr dirty="0"/>
              <a:t>--restart always</a:t>
            </a:r>
          </a:p>
          <a:p>
            <a:pPr marL="742950" lvl="1" indent="-285750">
              <a:lnSpc>
                <a:spcPct val="90000"/>
              </a:lnSpc>
              <a:defRPr sz="2500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永遠啟動此</a:t>
            </a:r>
            <a:r>
              <a:rPr dirty="0" err="1"/>
              <a:t>Container</a:t>
            </a:r>
            <a:endParaRPr dirty="0"/>
          </a:p>
          <a:p>
            <a:pPr>
              <a:lnSpc>
                <a:spcPct val="90000"/>
              </a:lnSpc>
              <a:defRPr sz="2900"/>
            </a:pPr>
            <a:r>
              <a:rPr dirty="0"/>
              <a:t>--name </a:t>
            </a:r>
            <a:r>
              <a:rPr dirty="0" err="1"/>
              <a:t>gitlab</a:t>
            </a:r>
            <a:endParaRPr dirty="0"/>
          </a:p>
          <a:p>
            <a:pPr marL="742950" lvl="1" indent="-285750">
              <a:lnSpc>
                <a:spcPct val="90000"/>
              </a:lnSpc>
              <a:defRPr sz="2500"/>
            </a:pPr>
            <a:r>
              <a:rPr dirty="0" err="1"/>
              <a:t>containe</a:t>
            </a:r>
            <a:r>
              <a:rPr dirty="0"/>
              <a:t>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名稱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667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08E8A6E-8969-2BFC-04D1-056938D80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656609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Gitlab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參數講解</a:t>
            </a:r>
            <a:r>
              <a:t> -3</a:t>
            </a:r>
          </a:p>
        </p:txBody>
      </p:sp>
      <p:sp>
        <p:nvSpPr>
          <p:cNvPr id="671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-v (volume)</a:t>
            </a:r>
          </a:p>
          <a:p>
            <a:pPr marL="742950" lvl="1" indent="-285750">
              <a:defRPr sz="2800"/>
            </a:pPr>
            <a:r>
              <a:rPr dirty="0"/>
              <a:t>$HOME/</a:t>
            </a:r>
            <a:r>
              <a:rPr dirty="0" err="1"/>
              <a:t>gitlab</a:t>
            </a:r>
            <a:r>
              <a:rPr dirty="0"/>
              <a:t>/config:/</a:t>
            </a:r>
            <a:r>
              <a:rPr dirty="0" err="1"/>
              <a:t>etc</a:t>
            </a:r>
            <a:r>
              <a:rPr dirty="0"/>
              <a:t>/</a:t>
            </a:r>
            <a:r>
              <a:rPr dirty="0" err="1"/>
              <a:t>gitlab</a:t>
            </a:r>
            <a:endParaRPr dirty="0"/>
          </a:p>
          <a:p>
            <a:pPr marL="1143000" lvl="2" indent="-228600">
              <a:defRPr sz="2400"/>
            </a:pPr>
            <a:r>
              <a:rPr dirty="0"/>
              <a:t>Gitlab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設定檔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  <a:p>
            <a:pPr marL="742950" lvl="1" indent="-285750">
              <a:defRPr sz="2800"/>
            </a:pPr>
            <a:r>
              <a:rPr dirty="0"/>
              <a:t>$HOME/</a:t>
            </a:r>
            <a:r>
              <a:rPr dirty="0" err="1"/>
              <a:t>gitlab</a:t>
            </a:r>
            <a:r>
              <a:rPr dirty="0"/>
              <a:t>/logs:/var/log/</a:t>
            </a:r>
            <a:r>
              <a:rPr dirty="0" err="1"/>
              <a:t>gitlab</a:t>
            </a:r>
            <a:endParaRPr dirty="0"/>
          </a:p>
          <a:p>
            <a:pPr marL="1143000" lvl="2" indent="-228600">
              <a:defRPr sz="2400"/>
            </a:pPr>
            <a:r>
              <a:rPr dirty="0"/>
              <a:t>Gitlab </a:t>
            </a:r>
            <a:r>
              <a:rPr dirty="0" err="1"/>
              <a:t>log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檔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  <a:p>
            <a:pPr marL="742950" lvl="1" indent="-285750">
              <a:defRPr sz="2800"/>
            </a:pPr>
            <a:r>
              <a:rPr dirty="0"/>
              <a:t>$HOME/</a:t>
            </a:r>
            <a:r>
              <a:rPr dirty="0" err="1"/>
              <a:t>gitlab</a:t>
            </a:r>
            <a:r>
              <a:rPr dirty="0"/>
              <a:t>/data:/var/opt/</a:t>
            </a:r>
            <a:r>
              <a:rPr dirty="0" err="1"/>
              <a:t>gitlab</a:t>
            </a:r>
            <a:endParaRPr dirty="0"/>
          </a:p>
          <a:p>
            <a:pPr marL="1143000" lvl="2" indent="-228600">
              <a:defRPr sz="2400"/>
            </a:pPr>
            <a:r>
              <a:rPr dirty="0"/>
              <a:t>Gitlab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資料儲存位置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672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F720D62-FD9A-4E09-AE0E-E71C931CE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585652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C9FEC3-3617-5483-2BBA-C166DBCFF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等待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 ready </a:t>
            </a:r>
            <a:endParaRPr kumimoji="1"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2E02231F-C8C9-3F06-84ED-2E2E259854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24355"/>
            <a:ext cx="8264703" cy="1601505"/>
          </a:xfr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6D9E1D30-B088-4E3F-ACCC-E82F6A5FB5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5019252"/>
            <a:ext cx="8367863" cy="1217358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F0F60C64-58E8-739B-FFC1-149A7708CF29}"/>
              </a:ext>
            </a:extLst>
          </p:cNvPr>
          <p:cNvSpPr txBox="1"/>
          <p:nvPr/>
        </p:nvSpPr>
        <p:spPr>
          <a:xfrm>
            <a:off x="2506894" y="4695290"/>
            <a:ext cx="757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Ready</a:t>
            </a:r>
            <a:endParaRPr kumimoji="1"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E1B88BF-5800-01F1-CCB9-B44AAEBDD7F7}"/>
              </a:ext>
            </a:extLst>
          </p:cNvPr>
          <p:cNvSpPr txBox="1"/>
          <p:nvPr/>
        </p:nvSpPr>
        <p:spPr>
          <a:xfrm>
            <a:off x="2363057" y="1772855"/>
            <a:ext cx="1218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In progress</a:t>
            </a:r>
            <a:endParaRPr kumimoji="1"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19C863C-7C18-7C15-01CE-135B59492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148484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dirty="0" err="1"/>
              <a:t>gitlab</a:t>
            </a:r>
            <a:r>
              <a:rPr dirty="0"/>
              <a:t> </a:t>
            </a:r>
            <a:r>
              <a:rPr dirty="0" err="1"/>
              <a:t>init</a:t>
            </a:r>
            <a:r>
              <a:rPr dirty="0"/>
              <a:t> password</a:t>
            </a:r>
          </a:p>
        </p:txBody>
      </p:sp>
      <p:sp>
        <p:nvSpPr>
          <p:cNvPr id="676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A717F83-C145-94DA-DB46-64FF57123667}"/>
              </a:ext>
            </a:extLst>
          </p:cNvPr>
          <p:cNvSpPr txBox="1"/>
          <p:nvPr/>
        </p:nvSpPr>
        <p:spPr>
          <a:xfrm>
            <a:off x="719191" y="2044557"/>
            <a:ext cx="10346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 err="1"/>
              <a:t>sudo</a:t>
            </a:r>
            <a:r>
              <a:rPr kumimoji="1" lang="en" altLang="zh-TW" dirty="0"/>
              <a:t> cat ~/</a:t>
            </a:r>
            <a:r>
              <a:rPr kumimoji="1" lang="en" altLang="zh-TW" dirty="0" err="1"/>
              <a:t>gitlab</a:t>
            </a:r>
            <a:r>
              <a:rPr kumimoji="1" lang="en" altLang="zh-TW" dirty="0"/>
              <a:t>/config/</a:t>
            </a:r>
            <a:r>
              <a:rPr kumimoji="1" lang="en" altLang="zh-TW" dirty="0" err="1"/>
              <a:t>initial_root_password</a:t>
            </a:r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570A3CE-6ACE-7F29-262E-5630E4E547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951" y="2808582"/>
            <a:ext cx="11471902" cy="2934672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052BF45-265E-6A96-E507-76F057C4B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904477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Gitlab login</a:t>
            </a:r>
            <a:r>
              <a:rPr lang="en-US" dirty="0"/>
              <a:t>, username: root</a:t>
            </a:r>
            <a:endParaRPr dirty="0"/>
          </a:p>
        </p:txBody>
      </p:sp>
      <p:sp>
        <p:nvSpPr>
          <p:cNvPr id="68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C37F42CC-03E7-D27F-8EDF-398A665CE804}"/>
              </a:ext>
            </a:extLst>
          </p:cNvPr>
          <p:cNvSpPr txBox="1"/>
          <p:nvPr/>
        </p:nvSpPr>
        <p:spPr>
          <a:xfrm>
            <a:off x="2167847" y="1690688"/>
            <a:ext cx="2094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TW" dirty="0"/>
              <a:t>http://{vm1</a:t>
            </a:r>
            <a:r>
              <a:rPr kumimoji="1" lang="zh-TW" altLang="en-US" dirty="0"/>
              <a:t>外部</a:t>
            </a:r>
            <a:r>
              <a:rPr kumimoji="1" lang="en-US" altLang="zh-TW" dirty="0" err="1"/>
              <a:t>ip</a:t>
            </a:r>
            <a:r>
              <a:rPr kumimoji="1" lang="en" altLang="zh-TW" dirty="0"/>
              <a:t>}/</a:t>
            </a:r>
            <a:endParaRPr kumimoji="1"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7AA4AA7-D6B0-5314-0E38-183D442E9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2641" y="2245639"/>
            <a:ext cx="7137400" cy="388620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F3FEBCE-86CB-E984-A09D-9A695E7E6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31695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B1662E-C8F6-F0E7-F526-DB0BD6722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啟用</a:t>
            </a:r>
            <a:r>
              <a:rPr kumimoji="1" lang="en-US" altLang="zh-TW" dirty="0"/>
              <a:t> import project </a:t>
            </a:r>
            <a:r>
              <a:rPr kumimoji="1" lang="zh-TW" altLang="en-US" dirty="0"/>
              <a:t>功能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EF07244-5CE3-ECE3-6756-0C9E1B2C7E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27107"/>
            <a:ext cx="2007742" cy="5123925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008622EB-ECDE-4D3D-7D9A-DCFCEBB27C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5765" y="1318153"/>
            <a:ext cx="5360470" cy="5038197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DBD4186-6E23-54FE-DDDE-F834C6DE3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800682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D1BAA2-0C61-7C74-65B7-C28772101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勾選</a:t>
            </a:r>
            <a:r>
              <a:rPr kumimoji="1" lang="en" altLang="zh-TW" dirty="0"/>
              <a:t>Repository by URL</a:t>
            </a:r>
            <a:r>
              <a:rPr kumimoji="1" lang="zh-TW" altLang="en-US" dirty="0"/>
              <a:t>，並</a:t>
            </a:r>
            <a:r>
              <a:rPr kumimoji="1" lang="en-US" altLang="zh-TW" dirty="0"/>
              <a:t>Save changes</a:t>
            </a:r>
            <a:r>
              <a:rPr kumimoji="1" lang="zh-TW" altLang="en-US" dirty="0"/>
              <a:t> 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67BCCD57-AFF0-F4AC-5D73-7EDFB89D83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0692" y="2346726"/>
            <a:ext cx="4876800" cy="31242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2F08BB62-E911-ED12-40F8-F99495281E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4912" y="1823538"/>
            <a:ext cx="3635054" cy="4669337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9F13169-0D84-3348-E85A-444B973D5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2012713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Gitlab UI </a:t>
            </a:r>
          </a:p>
        </p:txBody>
      </p:sp>
      <p:sp>
        <p:nvSpPr>
          <p:cNvPr id="689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673AFDD-3345-6923-8780-A00C158AE1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86" y="1791404"/>
            <a:ext cx="9629553" cy="3862953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E509DA4-99B9-BA09-6363-0053652B5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748554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Gitlab – </a:t>
            </a:r>
            <a:r>
              <a:rPr lang="en-US" dirty="0">
                <a:sym typeface="Helvetica"/>
              </a:rPr>
              <a:t>Import </a:t>
            </a:r>
            <a:r>
              <a:rPr lang="en-US" dirty="0" err="1">
                <a:sym typeface="Helvetica"/>
              </a:rPr>
              <a:t>Porject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，</a:t>
            </a:r>
            <a:r>
              <a:rPr lang="en-US" dirty="0" err="1">
                <a:sym typeface="Helvetica"/>
              </a:rPr>
              <a:t>選擇Repo</a:t>
            </a:r>
            <a:r>
              <a:rPr lang="en-US" dirty="0">
                <a:sym typeface="Helvetica"/>
              </a:rPr>
              <a:t> by</a:t>
            </a:r>
            <a:r>
              <a:rPr dirty="0"/>
              <a:t> URL</a:t>
            </a:r>
          </a:p>
        </p:txBody>
      </p:sp>
      <p:sp>
        <p:nvSpPr>
          <p:cNvPr id="69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453F86A-FC72-5450-359D-55AE63DC96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4539" y="1383803"/>
            <a:ext cx="6385260" cy="2639715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1925B09E-6BEC-1007-62F5-3EE539EB95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1249" y="4166097"/>
            <a:ext cx="7213600" cy="261620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1C5D8FB-4593-90E2-5863-7C2F06D8E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532967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dirty="0" err="1">
                <a:latin typeface="+mj-lt"/>
                <a:ea typeface="+mj-ea"/>
                <a:cs typeface="+mj-cs"/>
                <a:sym typeface="Helvetica"/>
              </a:rPr>
              <a:t>這邊用課程docker-devops</a:t>
            </a:r>
            <a:r>
              <a:rPr lang="en-US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  <a:sym typeface="Helvetica"/>
              </a:rPr>
              <a:t>作為</a:t>
            </a:r>
            <a:r>
              <a:rPr lang="zh-TW" altLang="en-US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lang="en-US" altLang="zh-TW" dirty="0">
                <a:latin typeface="+mj-lt"/>
                <a:ea typeface="+mj-ea"/>
                <a:cs typeface="+mj-cs"/>
                <a:sym typeface="Helvetica"/>
              </a:rPr>
              <a:t>import repo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699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1079B126-42BC-909B-4991-793C6BFFFB82}"/>
              </a:ext>
            </a:extLst>
          </p:cNvPr>
          <p:cNvSpPr txBox="1"/>
          <p:nvPr/>
        </p:nvSpPr>
        <p:spPr>
          <a:xfrm>
            <a:off x="246580" y="1493520"/>
            <a:ext cx="110138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>
                <a:hlinkClick r:id="rId2"/>
              </a:rPr>
              <a:t>Git repository URL: https://github.com/demoyuw/docker-devops.git</a:t>
            </a:r>
            <a:endParaRPr kumimoji="1" lang="en" altLang="zh-TW" dirty="0"/>
          </a:p>
          <a:p>
            <a:endParaRPr kumimoji="1" lang="en" altLang="zh-TW" dirty="0"/>
          </a:p>
          <a:p>
            <a:endParaRPr kumimoji="1"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705C1B9-E2EC-0EE3-184C-8A9B8AE0BB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4283" y="2054831"/>
            <a:ext cx="7519435" cy="4438044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67D1568-94CA-9235-BB91-7BCD84506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761854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dirty="0" err="1">
                <a:latin typeface="+mj-lt"/>
                <a:ea typeface="+mj-ea"/>
                <a:cs typeface="+mj-cs"/>
                <a:sym typeface="Helvetica"/>
              </a:rPr>
              <a:t>選擇建立專案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70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B99B322-3FB2-03C3-56B3-C2FB7B9F8C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7936" y="1943100"/>
            <a:ext cx="5892800" cy="435610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A7A8915-5C7F-514D-F988-69B6AAD59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9849917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11732C-1E60-6AA5-B860-063D0616C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專案建立後，準備設定</a:t>
            </a:r>
            <a:r>
              <a:rPr kumimoji="1" lang="en-US" altLang="zh-TW" dirty="0"/>
              <a:t>Runner </a:t>
            </a:r>
            <a:br>
              <a:rPr kumimoji="1" lang="en-US" altLang="zh-TW" dirty="0"/>
            </a:br>
            <a:r>
              <a:rPr kumimoji="1" lang="zh-TW" altLang="en-US" dirty="0"/>
              <a:t>到</a:t>
            </a:r>
            <a:r>
              <a:rPr kumimoji="1" lang="en-US" altLang="zh-TW" dirty="0"/>
              <a:t>Settings -&gt; CI/CD</a:t>
            </a:r>
            <a:endParaRPr kumimoji="1"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D8AD71A0-A79B-E7A0-7195-DB3FD16DCE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2160" y="1774254"/>
            <a:ext cx="3121801" cy="4351338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2BDE55-CBD6-C47F-CD82-50245F1B8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7097125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11972D-E66A-B4E2-AAB9-C99CFC857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點擊</a:t>
            </a:r>
            <a:r>
              <a:rPr kumimoji="1" lang="en-US" altLang="zh-TW" dirty="0"/>
              <a:t>Runners</a:t>
            </a:r>
            <a:r>
              <a:rPr kumimoji="1" lang="zh-TW" altLang="en-US" dirty="0"/>
              <a:t>，把</a:t>
            </a:r>
            <a:r>
              <a:rPr kumimoji="1" lang="en-US" altLang="zh-TW" dirty="0"/>
              <a:t>token </a:t>
            </a:r>
            <a:r>
              <a:rPr kumimoji="1" lang="zh-TW" altLang="en-US" dirty="0"/>
              <a:t>保存下來</a:t>
            </a: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A4DD94FC-40B2-D8FD-FA45-FD64821961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2496" y="1825625"/>
            <a:ext cx="6527007" cy="4351338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AE0CCE3-B74F-79B2-C6F0-398F6BBB7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5399388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2949A88-19DF-E3C2-FA8C-BF054601C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Install Gitlab CI/CD Docker and Kubernetes Runner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18DDA46-59FD-4DC9-8F8C-5793A6B29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111</a:t>
            </a:fld>
            <a:endParaRPr lang="zh-TW" altLang="en-US"/>
          </a:p>
        </p:txBody>
      </p:sp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7AC67951-264A-75B1-DFE5-2310273947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9450" y="2274094"/>
            <a:ext cx="8293100" cy="345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209824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3602996F-5108-0D08-83C0-3610D1AA3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K8s </a:t>
            </a:r>
            <a:r>
              <a:rPr lang="en-US" altLang="zh-TW" dirty="0" err="1"/>
              <a:t>gitlab</a:t>
            </a:r>
            <a:r>
              <a:rPr lang="en-US" altLang="zh-TW" dirty="0"/>
              <a:t> runner</a:t>
            </a:r>
            <a:endParaRPr lang="zh-TW" altLang="en-US" dirty="0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E87E9FD6-9E21-D6F3-7999-0C310B5240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AC6B1A7-9138-2BF4-9B14-64FB5534A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1342619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D40A0FCF-03EB-3F36-455D-4828EDCDC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安裝</a:t>
            </a:r>
            <a:r>
              <a:rPr lang="en-US" altLang="zh-TW" dirty="0"/>
              <a:t>k8s</a:t>
            </a:r>
            <a:r>
              <a:rPr lang="zh-TW" altLang="en-US" dirty="0"/>
              <a:t> </a:t>
            </a:r>
            <a:r>
              <a:rPr lang="en-US" altLang="zh-TW" dirty="0" err="1"/>
              <a:t>gitlab</a:t>
            </a:r>
            <a:r>
              <a:rPr lang="en-US" altLang="zh-TW" dirty="0"/>
              <a:t> Runner </a:t>
            </a:r>
            <a:r>
              <a:rPr lang="zh-TW" altLang="en-US" dirty="0"/>
              <a:t>前準備</a:t>
            </a: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7341A6F-F06F-1889-9146-27C5D228E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sudo</a:t>
            </a:r>
            <a:r>
              <a:rPr lang="en-US" altLang="zh-TW" dirty="0"/>
              <a:t> snap install helm --classic</a:t>
            </a: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helm repo add </a:t>
            </a:r>
            <a:r>
              <a:rPr lang="en-US" altLang="zh-TW" dirty="0" err="1"/>
              <a:t>gitlab</a:t>
            </a:r>
            <a:r>
              <a:rPr lang="en-US" altLang="zh-TW" dirty="0"/>
              <a:t> </a:t>
            </a:r>
            <a:r>
              <a:rPr lang="en-US" altLang="zh-TW" dirty="0">
                <a:hlinkClick r:id="rId2"/>
              </a:rPr>
              <a:t>https://charts.gitlab.io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 err="1"/>
              <a:t>kubectl</a:t>
            </a:r>
            <a:r>
              <a:rPr lang="en-US" altLang="zh-TW" dirty="0"/>
              <a:t> create ns </a:t>
            </a:r>
            <a:r>
              <a:rPr lang="en-US" altLang="zh-TW" dirty="0" err="1"/>
              <a:t>gitlab</a:t>
            </a:r>
            <a:r>
              <a:rPr lang="en-US" altLang="zh-TW" dirty="0"/>
              <a:t>-runner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8644571-2841-2C55-339D-DAE9E9E2E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4535" y="2246968"/>
            <a:ext cx="8775700" cy="7366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BE6E6CB9-E4B3-91E3-926A-845C3CBCC2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74433"/>
            <a:ext cx="12192000" cy="107203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6AB12C0A-B755-298C-2788-EBCFD26142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0400" y="5491163"/>
            <a:ext cx="8331200" cy="68580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71D71D5-DA10-F27E-F63B-210BB7EDC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2379703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8795DF-BE9D-A028-C8B2-135DF9A1F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搜尋</a:t>
            </a:r>
            <a:r>
              <a:rPr kumimoji="1" lang="en-US" altLang="zh-TW" dirty="0"/>
              <a:t>runner </a:t>
            </a:r>
            <a:r>
              <a:rPr kumimoji="1" lang="zh-TW" altLang="en-US" dirty="0"/>
              <a:t>版本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C620F10-B960-9D9E-875A-54B11FF30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helm search repo -l 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-runner</a:t>
            </a:r>
          </a:p>
          <a:p>
            <a:endParaRPr kumimoji="1" lang="zh-TW" altLang="en-US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8667EEC4-0DE5-7911-A8B8-CEFBBD1A06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119" y="2483920"/>
            <a:ext cx="8513510" cy="387243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335FDD4-2B1C-EBBD-C1F9-23727CAFB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1131881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Gitlab</a:t>
            </a:r>
            <a:r>
              <a:rPr lang="en-US" altLang="zh-TW" dirty="0"/>
              <a:t> runner </a:t>
            </a:r>
            <a:r>
              <a:rPr lang="zh-TW" altLang="en-US" dirty="0"/>
              <a:t>設定檔 </a:t>
            </a:r>
            <a:r>
              <a:rPr lang="en-US" altLang="zh-TW" dirty="0"/>
              <a:t>-1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~/docker-</a:t>
            </a:r>
            <a:r>
              <a:rPr lang="en-US" altLang="zh-TW" dirty="0" err="1"/>
              <a:t>devops</a:t>
            </a:r>
            <a:r>
              <a:rPr lang="en-US" altLang="zh-TW" dirty="0"/>
              <a:t>/</a:t>
            </a:r>
            <a:r>
              <a:rPr lang="en-US" altLang="zh-TW" dirty="0" err="1"/>
              <a:t>gitlab</a:t>
            </a:r>
            <a:r>
              <a:rPr lang="en-US" altLang="zh-TW" dirty="0"/>
              <a:t>-runner/</a:t>
            </a:r>
            <a:r>
              <a:rPr lang="en-US" altLang="zh-TW" dirty="0" err="1"/>
              <a:t>values.yaml</a:t>
            </a:r>
            <a:endParaRPr lang="en-US" altLang="zh-TW" dirty="0"/>
          </a:p>
          <a:p>
            <a:pPr lvl="1"/>
            <a:r>
              <a:rPr lang="en-US" altLang="zh-TW" dirty="0" err="1"/>
              <a:t>gitlabUrl</a:t>
            </a:r>
            <a:r>
              <a:rPr lang="en-US" altLang="zh-TW" dirty="0"/>
              <a:t>: </a:t>
            </a:r>
            <a:r>
              <a:rPr lang="en-US" altLang="zh-TW" dirty="0">
                <a:hlinkClick r:id="rId2"/>
              </a:rPr>
              <a:t>http://10.128.0.10/</a:t>
            </a:r>
            <a:endParaRPr lang="en-US" altLang="zh-TW" dirty="0"/>
          </a:p>
          <a:p>
            <a:pPr lvl="2"/>
            <a:r>
              <a:rPr lang="en-US" altLang="zh-TW" dirty="0" err="1"/>
              <a:t>GitLab</a:t>
            </a:r>
            <a:r>
              <a:rPr lang="en-US" altLang="zh-TW" dirty="0"/>
              <a:t> server </a:t>
            </a:r>
            <a:r>
              <a:rPr lang="zh-TW" altLang="en-US" dirty="0"/>
              <a:t>所在位置</a:t>
            </a:r>
            <a:endParaRPr lang="en-US" altLang="zh-TW" dirty="0"/>
          </a:p>
          <a:p>
            <a:pPr lvl="1"/>
            <a:r>
              <a:rPr lang="en-US" altLang="zh-TW" dirty="0" err="1"/>
              <a:t>runnerRegistrationToken</a:t>
            </a:r>
            <a:r>
              <a:rPr lang="en-US" altLang="zh-TW" dirty="0"/>
              <a:t>: "GR1348941x2KCqWDm-Brpep587ZfC"</a:t>
            </a:r>
          </a:p>
          <a:p>
            <a:pPr lvl="2"/>
            <a:r>
              <a:rPr lang="en-US" altLang="zh-TW" dirty="0"/>
              <a:t>Runner token</a:t>
            </a:r>
          </a:p>
          <a:p>
            <a:pPr lvl="1"/>
            <a:r>
              <a:rPr lang="en-US" altLang="zh-TW" dirty="0" err="1"/>
              <a:t>rbac</a:t>
            </a:r>
            <a:r>
              <a:rPr lang="en-US" altLang="zh-TW" dirty="0"/>
              <a:t>:</a:t>
            </a:r>
          </a:p>
          <a:p>
            <a:pPr lvl="2"/>
            <a:r>
              <a:rPr lang="en-US" altLang="zh-TW" dirty="0"/>
              <a:t>create: true</a:t>
            </a:r>
          </a:p>
          <a:p>
            <a:pPr lvl="3"/>
            <a:r>
              <a:rPr lang="zh-TW" altLang="en-US" dirty="0"/>
              <a:t>啟用</a:t>
            </a:r>
            <a:r>
              <a:rPr lang="en-US" altLang="zh-TW" dirty="0" err="1"/>
              <a:t>rbac</a:t>
            </a:r>
            <a:endParaRPr lang="en-US" altLang="zh-TW" dirty="0"/>
          </a:p>
          <a:p>
            <a:pPr lvl="2"/>
            <a:r>
              <a:rPr lang="en-US" altLang="zh-TW" dirty="0" err="1"/>
              <a:t>clusterWideAccess</a:t>
            </a:r>
            <a:r>
              <a:rPr lang="en-US" altLang="zh-TW" dirty="0"/>
              <a:t>: true</a:t>
            </a:r>
          </a:p>
          <a:p>
            <a:pPr lvl="1"/>
            <a:endParaRPr lang="en-US" altLang="zh-TW" dirty="0"/>
          </a:p>
          <a:p>
            <a:pPr lvl="3"/>
            <a:endParaRPr lang="en-US" altLang="zh-TW" dirty="0"/>
          </a:p>
          <a:p>
            <a:pPr lvl="1"/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958E24F-6110-B84F-49B5-DA5CF5B2C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3629025"/>
            <a:ext cx="2660900" cy="2863850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7A01A71-0F94-2283-750B-DDE428B23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4259319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Gitlab</a:t>
            </a:r>
            <a:r>
              <a:rPr lang="en-US" altLang="zh-TW" dirty="0"/>
              <a:t> runner </a:t>
            </a:r>
            <a:r>
              <a:rPr lang="zh-TW" altLang="en-US" dirty="0"/>
              <a:t>設定檔 </a:t>
            </a:r>
            <a:r>
              <a:rPr lang="en-US" altLang="zh-TW" dirty="0"/>
              <a:t>-2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~/docker-</a:t>
            </a:r>
            <a:r>
              <a:rPr lang="en-US" altLang="zh-TW" dirty="0" err="1"/>
              <a:t>devops</a:t>
            </a:r>
            <a:r>
              <a:rPr lang="en-US" altLang="zh-TW" dirty="0"/>
              <a:t>/</a:t>
            </a:r>
            <a:r>
              <a:rPr lang="en-US" altLang="zh-TW" dirty="0" err="1"/>
              <a:t>gitlab</a:t>
            </a:r>
            <a:r>
              <a:rPr lang="en-US" altLang="zh-TW" dirty="0"/>
              <a:t>-runner/</a:t>
            </a:r>
            <a:r>
              <a:rPr lang="en-US" altLang="zh-TW" dirty="0" err="1"/>
              <a:t>values.yaml</a:t>
            </a:r>
            <a:endParaRPr lang="en-US" altLang="zh-TW" dirty="0"/>
          </a:p>
          <a:p>
            <a:pPr lvl="1"/>
            <a:r>
              <a:rPr lang="en-US" altLang="zh-TW" dirty="0"/>
              <a:t>runners:</a:t>
            </a:r>
          </a:p>
          <a:p>
            <a:pPr lvl="2"/>
            <a:r>
              <a:rPr lang="en-US" altLang="zh-TW" dirty="0" err="1"/>
              <a:t>config</a:t>
            </a:r>
            <a:r>
              <a:rPr lang="en-US" altLang="zh-TW" dirty="0"/>
              <a:t>: </a:t>
            </a:r>
          </a:p>
          <a:p>
            <a:pPr lvl="3"/>
            <a:r>
              <a:rPr lang="en-US" altLang="zh-TW" dirty="0"/>
              <a:t>[[</a:t>
            </a:r>
            <a:r>
              <a:rPr lang="en-US" altLang="zh-TW" dirty="0" err="1"/>
              <a:t>runners.kubernetes.volumes.host_path</a:t>
            </a:r>
            <a:r>
              <a:rPr lang="en-US" altLang="zh-TW" dirty="0"/>
              <a:t>]]</a:t>
            </a:r>
          </a:p>
          <a:p>
            <a:pPr lvl="3"/>
            <a:r>
              <a:rPr lang="en-US" altLang="zh-TW" dirty="0"/>
              <a:t>  name = "</a:t>
            </a:r>
            <a:r>
              <a:rPr lang="en-US" altLang="zh-TW" dirty="0" err="1"/>
              <a:t>docker</a:t>
            </a:r>
            <a:r>
              <a:rPr lang="en-US" altLang="zh-TW" dirty="0"/>
              <a:t>“</a:t>
            </a:r>
          </a:p>
          <a:p>
            <a:pPr lvl="3"/>
            <a:r>
              <a:rPr lang="en-US" altLang="zh-TW" dirty="0"/>
              <a:t>  </a:t>
            </a:r>
            <a:r>
              <a:rPr lang="en-US" altLang="zh-TW" dirty="0" err="1"/>
              <a:t>mount_path</a:t>
            </a:r>
            <a:r>
              <a:rPr lang="en-US" altLang="zh-TW" dirty="0"/>
              <a:t> = "/</a:t>
            </a:r>
            <a:r>
              <a:rPr lang="en-US" altLang="zh-TW" dirty="0" err="1"/>
              <a:t>var</a:t>
            </a:r>
            <a:r>
              <a:rPr lang="en-US" altLang="zh-TW" dirty="0"/>
              <a:t>/run/</a:t>
            </a:r>
            <a:r>
              <a:rPr lang="en-US" altLang="zh-TW" dirty="0" err="1"/>
              <a:t>docker.sock</a:t>
            </a:r>
            <a:r>
              <a:rPr lang="en-US" altLang="zh-TW" dirty="0"/>
              <a:t>“</a:t>
            </a:r>
          </a:p>
          <a:p>
            <a:pPr lvl="3"/>
            <a:r>
              <a:rPr lang="en-US" altLang="zh-TW" dirty="0"/>
              <a:t>  </a:t>
            </a:r>
            <a:r>
              <a:rPr lang="en-US" altLang="zh-TW" dirty="0" err="1"/>
              <a:t>read_only</a:t>
            </a:r>
            <a:r>
              <a:rPr lang="en-US" altLang="zh-TW" dirty="0"/>
              <a:t> = true</a:t>
            </a:r>
          </a:p>
          <a:p>
            <a:pPr lvl="3"/>
            <a:r>
              <a:rPr lang="en-US" altLang="zh-TW" dirty="0"/>
              <a:t>  </a:t>
            </a:r>
            <a:r>
              <a:rPr lang="en-US" altLang="zh-TW" dirty="0" err="1"/>
              <a:t>host_path</a:t>
            </a:r>
            <a:r>
              <a:rPr lang="en-US" altLang="zh-TW" dirty="0"/>
              <a:t> = "/</a:t>
            </a:r>
            <a:r>
              <a:rPr lang="en-US" altLang="zh-TW" dirty="0" err="1"/>
              <a:t>var</a:t>
            </a:r>
            <a:r>
              <a:rPr lang="en-US" altLang="zh-TW" dirty="0"/>
              <a:t>/run/</a:t>
            </a:r>
            <a:r>
              <a:rPr lang="en-US" altLang="zh-TW" dirty="0" err="1"/>
              <a:t>docker.sock</a:t>
            </a:r>
            <a:r>
              <a:rPr lang="en-US" altLang="zh-TW" dirty="0"/>
              <a:t>“</a:t>
            </a:r>
          </a:p>
          <a:p>
            <a:pPr lvl="4"/>
            <a:r>
              <a:rPr lang="zh-TW" altLang="en-US" dirty="0"/>
              <a:t>讓</a:t>
            </a:r>
            <a:r>
              <a:rPr lang="en-US" altLang="zh-TW" dirty="0" err="1"/>
              <a:t>docker</a:t>
            </a:r>
            <a:r>
              <a:rPr lang="en-US" altLang="zh-TW" dirty="0"/>
              <a:t> </a:t>
            </a:r>
            <a:r>
              <a:rPr lang="en-US" altLang="zh-TW" dirty="0" err="1"/>
              <a:t>paththrouh</a:t>
            </a:r>
            <a:r>
              <a:rPr lang="en-US" altLang="zh-TW" dirty="0"/>
              <a:t> </a:t>
            </a:r>
            <a:r>
              <a:rPr lang="zh-TW" altLang="en-US" dirty="0"/>
              <a:t>到底下</a:t>
            </a:r>
            <a:r>
              <a:rPr lang="en-US" altLang="zh-TW" dirty="0"/>
              <a:t>VM2</a:t>
            </a:r>
            <a:r>
              <a:rPr lang="zh-TW" altLang="en-US" dirty="0"/>
              <a:t>執行</a:t>
            </a:r>
            <a:r>
              <a:rPr lang="en-US" altLang="zh-TW" dirty="0" err="1"/>
              <a:t>docker</a:t>
            </a:r>
            <a:r>
              <a:rPr lang="en-US" altLang="zh-TW" dirty="0"/>
              <a:t> </a:t>
            </a:r>
            <a:r>
              <a:rPr lang="zh-TW" altLang="en-US" dirty="0"/>
              <a:t>指令</a:t>
            </a:r>
            <a:endParaRPr lang="en-US" altLang="zh-TW" dirty="0"/>
          </a:p>
          <a:p>
            <a:pPr lvl="2"/>
            <a:r>
              <a:rPr lang="en-US" altLang="zh-TW" dirty="0"/>
              <a:t>tags: "vm2-k8s“</a:t>
            </a:r>
          </a:p>
          <a:p>
            <a:pPr lvl="3"/>
            <a:r>
              <a:rPr lang="zh-TW" altLang="en-US" dirty="0"/>
              <a:t>幫此</a:t>
            </a:r>
            <a:r>
              <a:rPr lang="en-US" altLang="zh-TW" dirty="0"/>
              <a:t>runner </a:t>
            </a:r>
            <a:r>
              <a:rPr lang="zh-TW" altLang="en-US" dirty="0"/>
              <a:t>加</a:t>
            </a:r>
            <a:r>
              <a:rPr lang="en-US" altLang="zh-TW" dirty="0"/>
              <a:t>tags</a:t>
            </a:r>
            <a:r>
              <a:rPr lang="zh-TW" altLang="en-US" dirty="0"/>
              <a:t>好選擇不同環境</a:t>
            </a:r>
            <a:endParaRPr lang="en-US" altLang="zh-TW" dirty="0"/>
          </a:p>
          <a:p>
            <a:pPr lvl="2"/>
            <a:r>
              <a:rPr lang="en-US" altLang="zh-TW" dirty="0"/>
              <a:t>privileged: true</a:t>
            </a:r>
          </a:p>
          <a:p>
            <a:pPr lvl="3"/>
            <a:r>
              <a:rPr lang="zh-TW" altLang="en-US" dirty="0"/>
              <a:t>開啟特權，用來執行</a:t>
            </a:r>
            <a:r>
              <a:rPr lang="en-US" altLang="zh-TW" dirty="0" err="1"/>
              <a:t>docker</a:t>
            </a:r>
            <a:r>
              <a:rPr lang="zh-TW" altLang="en-US" dirty="0"/>
              <a:t>指令</a:t>
            </a:r>
            <a:endParaRPr lang="en-US" altLang="zh-TW" dirty="0"/>
          </a:p>
          <a:p>
            <a:pPr lvl="3"/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B312865-CDFC-BDE8-996A-55760F122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5626402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6D176A-4F2A-7DA0-91BD-215BD18DD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Install 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 runner on k8s by helm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C459903-2E1B-D401-F744-F624BD923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helm install ci-cd-runner --namespace 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-runner -f ~/docker-</a:t>
            </a:r>
            <a:r>
              <a:rPr kumimoji="1" lang="en-US" altLang="zh-TW" dirty="0" err="1"/>
              <a:t>devops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-runner/</a:t>
            </a:r>
            <a:r>
              <a:rPr kumimoji="1" lang="en-US" altLang="zh-TW" dirty="0" err="1"/>
              <a:t>values.yaml</a:t>
            </a:r>
            <a:r>
              <a:rPr kumimoji="1" lang="en-US" altLang="zh-TW" dirty="0"/>
              <a:t> 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-runner --version 0.75.1</a:t>
            </a:r>
            <a:endParaRPr kumimoji="1"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62CA690-D394-2D59-D998-08DF35B04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054543"/>
            <a:ext cx="9669231" cy="3666932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BD9E4D9-DF2C-F355-0E9E-5A2D40E4A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7338342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403801-7D92-30FC-F7B9-617FF3EBB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確認</a:t>
            </a:r>
            <a:r>
              <a:rPr kumimoji="1" lang="en-US" altLang="zh-TW" dirty="0" err="1"/>
              <a:t>kubernetes</a:t>
            </a:r>
            <a:r>
              <a:rPr kumimoji="1" lang="en-US" altLang="zh-TW" dirty="0"/>
              <a:t> runner </a:t>
            </a:r>
            <a:r>
              <a:rPr kumimoji="1" lang="zh-TW" altLang="en-US" dirty="0"/>
              <a:t>狀態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4B59F51-FBD1-6903-4E4B-6A02C316C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helm list --all-namespaces</a:t>
            </a:r>
          </a:p>
          <a:p>
            <a:endParaRPr kumimoji="1" lang="en-US" altLang="zh-TW" dirty="0"/>
          </a:p>
          <a:p>
            <a:endParaRPr kumimoji="1" lang="en-US" altLang="zh-TW" dirty="0"/>
          </a:p>
          <a:p>
            <a:endParaRPr kumimoji="1" lang="en-US" altLang="zh-TW" dirty="0"/>
          </a:p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all -n 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-runner</a:t>
            </a:r>
          </a:p>
          <a:p>
            <a:endParaRPr kumimoji="1" lang="en-US" altLang="zh-TW" dirty="0"/>
          </a:p>
          <a:p>
            <a:endParaRPr kumimoji="1" lang="en-US" altLang="zh-TW" dirty="0"/>
          </a:p>
          <a:p>
            <a:endParaRPr kumimoji="1"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2368D599-2F3B-8AE7-FCB5-1AC99F04C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108" y="2345060"/>
            <a:ext cx="7772400" cy="1453554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DA720A55-25E0-D034-01A3-EDF713820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108" y="4613216"/>
            <a:ext cx="7772400" cy="1453554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CCE29BB-DAA1-54BF-130C-A4C1D3AB9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0509349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A0AF08-C134-9960-5BFF-3349ED17F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Runner </a:t>
            </a:r>
            <a:r>
              <a:rPr kumimoji="1" lang="zh-TW" altLang="en-US" dirty="0"/>
              <a:t>準備完成</a:t>
            </a:r>
          </a:p>
        </p:txBody>
      </p:sp>
      <p:pic>
        <p:nvPicPr>
          <p:cNvPr id="12" name="內容版面配置區 11">
            <a:extLst>
              <a:ext uri="{FF2B5EF4-FFF2-40B4-BE49-F238E27FC236}">
                <a16:creationId xmlns:a16="http://schemas.microsoft.com/office/drawing/2014/main" id="{29FD16BD-89DF-E83B-6DEC-711D9A256C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9415" y="1825625"/>
            <a:ext cx="5253169" cy="4351338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3ADB769-1539-387F-3D97-5CD619778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1059907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6B5766-F5E2-69FA-667A-46FAB5E82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 runner</a:t>
            </a:r>
            <a:endParaRPr kumimoji="1"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9BC6A66-E40B-68F4-5D64-D8F58EF9CC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F7DB1F3-678A-E926-CCA6-A4CD1157F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7446639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0A0B90-1C4D-5BDA-7A09-54679DA80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建立</a:t>
            </a:r>
            <a:r>
              <a:rPr kumimoji="1" lang="en-US" altLang="zh-TW" dirty="0"/>
              <a:t>docker runner </a:t>
            </a:r>
            <a:r>
              <a:rPr kumimoji="1" lang="zh-TW" altLang="en-US" dirty="0"/>
              <a:t>要用的</a:t>
            </a:r>
            <a:r>
              <a:rPr kumimoji="1" lang="en-US" altLang="zh-TW" dirty="0"/>
              <a:t>project token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5B68EE2A-2B6D-FE34-BD77-5384B0F017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4797" y="1825625"/>
            <a:ext cx="8502405" cy="4351338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F4E7894-CEF3-657D-6E5B-6E286B465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1656152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2577A9-118D-8BF3-21F3-BD106BB1F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設定</a:t>
            </a:r>
            <a:r>
              <a:rPr kumimoji="1" lang="en-US" altLang="zh-TW" dirty="0"/>
              <a:t>Tags</a:t>
            </a:r>
            <a:r>
              <a:rPr kumimoji="1" lang="zh-TW" altLang="en-US" dirty="0"/>
              <a:t>名稱為</a:t>
            </a:r>
            <a:r>
              <a:rPr kumimoji="1" lang="en-US" altLang="zh-TW" dirty="0"/>
              <a:t>docker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685DBD7-A598-2ECB-1CC4-6397F05D4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122</a:t>
            </a:fld>
            <a:endParaRPr lang="zh-TW" altLang="en-US"/>
          </a:p>
        </p:txBody>
      </p:sp>
      <p:pic>
        <p:nvPicPr>
          <p:cNvPr id="12" name="內容版面配置區 11">
            <a:extLst>
              <a:ext uri="{FF2B5EF4-FFF2-40B4-BE49-F238E27FC236}">
                <a16:creationId xmlns:a16="http://schemas.microsoft.com/office/drawing/2014/main" id="{83F35D2D-7C18-D761-0437-4AC065F665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2332" y="1825625"/>
            <a:ext cx="3067336" cy="4351338"/>
          </a:xfrm>
        </p:spPr>
      </p:pic>
    </p:spTree>
    <p:extLst>
      <p:ext uri="{BB962C8B-B14F-4D97-AF65-F5344CB8AC3E}">
        <p14:creationId xmlns:p14="http://schemas.microsoft.com/office/powerpoint/2010/main" val="2072571980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61AF27-FDDA-F0AA-18D1-56D552562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紀錄下這個</a:t>
            </a:r>
            <a:r>
              <a:rPr kumimoji="1" lang="en-US" altLang="zh-TW" dirty="0"/>
              <a:t>runner token</a:t>
            </a:r>
            <a:endParaRPr kumimoji="1"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D28BB33E-1E50-FB71-817B-8A0877508E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0950" y="1825625"/>
            <a:ext cx="5530099" cy="4351338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15AA9B3-FCA4-932C-05FC-E32A84455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550911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75DBC8-200F-1969-5850-1BED97751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Gitlab </a:t>
            </a:r>
            <a:r>
              <a:rPr kumimoji="1" lang="en-US" altLang="zh-TW" dirty="0" err="1"/>
              <a:t>dokcer</a:t>
            </a:r>
            <a:r>
              <a:rPr kumimoji="1" lang="en-US" altLang="zh-TW" dirty="0"/>
              <a:t> runner</a:t>
            </a:r>
            <a:r>
              <a:rPr kumimoji="1" lang="zh-TW" altLang="en-US" dirty="0"/>
              <a:t>，更改</a:t>
            </a:r>
            <a:r>
              <a:rPr kumimoji="1" lang="en-US" altLang="zh-TW" dirty="0" err="1"/>
              <a:t>url</a:t>
            </a:r>
            <a:r>
              <a:rPr kumimoji="1" lang="zh-TW" altLang="en-US" dirty="0"/>
              <a:t>跟</a:t>
            </a:r>
            <a:r>
              <a:rPr kumimoji="1" lang="en-US" altLang="zh-TW" dirty="0"/>
              <a:t>token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866F81E-80BA-A900-0A04-6CABE0FC1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~/docker-</a:t>
            </a:r>
            <a:r>
              <a:rPr lang="en-US" altLang="zh-TW" dirty="0" err="1"/>
              <a:t>devops</a:t>
            </a:r>
            <a:r>
              <a:rPr lang="en-US" altLang="zh-TW" dirty="0"/>
              <a:t>/</a:t>
            </a:r>
            <a:r>
              <a:rPr lang="en-US" altLang="zh-TW" dirty="0" err="1"/>
              <a:t>gitlab</a:t>
            </a:r>
            <a:r>
              <a:rPr lang="en-US" altLang="zh-TW" dirty="0"/>
              <a:t>-runner-docker/</a:t>
            </a:r>
            <a:r>
              <a:rPr lang="en-US" altLang="zh-TW" dirty="0" err="1"/>
              <a:t>config.toml</a:t>
            </a:r>
            <a:endParaRPr lang="en-US" altLang="zh-TW" dirty="0"/>
          </a:p>
          <a:p>
            <a:pPr lvl="1"/>
            <a:endParaRPr lang="en-US" altLang="zh-TW" dirty="0"/>
          </a:p>
          <a:p>
            <a:endParaRPr lang="en-US" altLang="zh-TW" dirty="0"/>
          </a:p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E97871D-B42C-EEF3-EFF7-63E7150A5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124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FF50AE3-DF12-B95D-94C6-C443CDB26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567" y="2386545"/>
            <a:ext cx="7772400" cy="3925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42826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8E3DBE-E026-320A-D4CB-18DF73ACF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在</a:t>
            </a:r>
            <a:r>
              <a:rPr kumimoji="1" lang="en-US" altLang="zh-TW" dirty="0"/>
              <a:t>vm1</a:t>
            </a:r>
            <a:r>
              <a:rPr kumimoji="1" lang="zh-TW" altLang="en-US" dirty="0"/>
              <a:t>運行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 docker runner	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12D54A-2DFB-E375-6F65-98422A6969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TW" dirty="0"/>
              <a:t>docker run -d --name </a:t>
            </a:r>
            <a:r>
              <a:rPr kumimoji="1" lang="en" altLang="zh-TW" dirty="0" err="1"/>
              <a:t>gitlab</a:t>
            </a:r>
            <a:r>
              <a:rPr kumimoji="1" lang="en" altLang="zh-TW" dirty="0"/>
              <a:t>-runner --restart always   -v /var/run/</a:t>
            </a:r>
            <a:r>
              <a:rPr kumimoji="1" lang="en" altLang="zh-TW" dirty="0" err="1"/>
              <a:t>docker.sock</a:t>
            </a:r>
            <a:r>
              <a:rPr kumimoji="1" lang="en" altLang="zh-TW" dirty="0"/>
              <a:t>:/var/run/</a:t>
            </a:r>
            <a:r>
              <a:rPr kumimoji="1" lang="en" altLang="zh-TW" dirty="0" err="1"/>
              <a:t>docker.sock</a:t>
            </a:r>
            <a:r>
              <a:rPr kumimoji="1" lang="en" altLang="zh-TW" dirty="0"/>
              <a:t>   -v /home/</a:t>
            </a:r>
            <a:r>
              <a:rPr kumimoji="1" lang="en" altLang="zh-TW" dirty="0" err="1"/>
              <a:t>demoyuw</a:t>
            </a:r>
            <a:r>
              <a:rPr kumimoji="1" lang="en" altLang="zh-TW" dirty="0"/>
              <a:t>/docker-</a:t>
            </a:r>
            <a:r>
              <a:rPr kumimoji="1" lang="en" altLang="zh-TW" dirty="0" err="1"/>
              <a:t>devops</a:t>
            </a:r>
            <a:r>
              <a:rPr kumimoji="1" lang="en" altLang="zh-TW" dirty="0"/>
              <a:t>/</a:t>
            </a:r>
            <a:r>
              <a:rPr kumimoji="1" lang="en" altLang="zh-TW" dirty="0" err="1"/>
              <a:t>gitlab</a:t>
            </a:r>
            <a:r>
              <a:rPr kumimoji="1" lang="en" altLang="zh-TW" dirty="0"/>
              <a:t>-runner-docker:/</a:t>
            </a:r>
            <a:r>
              <a:rPr kumimoji="1" lang="en" altLang="zh-TW" dirty="0" err="1"/>
              <a:t>etc</a:t>
            </a:r>
            <a:r>
              <a:rPr kumimoji="1" lang="en" altLang="zh-TW" dirty="0"/>
              <a:t>/</a:t>
            </a:r>
            <a:r>
              <a:rPr kumimoji="1" lang="en" altLang="zh-TW" dirty="0" err="1"/>
              <a:t>gitlab</a:t>
            </a:r>
            <a:r>
              <a:rPr kumimoji="1" lang="en" altLang="zh-TW" dirty="0"/>
              <a:t>-runner   </a:t>
            </a:r>
            <a:r>
              <a:rPr kumimoji="1" lang="en" altLang="zh-TW" dirty="0" err="1"/>
              <a:t>gitlab</a:t>
            </a:r>
            <a:r>
              <a:rPr kumimoji="1" lang="en" altLang="zh-TW" dirty="0"/>
              <a:t>/gitlab-runner:ubuntu-v17.10.1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1E3C9C2-2337-84D9-845E-10B06515A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5489991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714577-6328-9B1D-9ACE-282F75C19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確保兩個</a:t>
            </a:r>
            <a:r>
              <a:rPr kumimoji="1" lang="en-US" altLang="zh-TW" dirty="0"/>
              <a:t>Runner</a:t>
            </a:r>
            <a:r>
              <a:rPr kumimoji="1" lang="zh-TW" altLang="en-US" dirty="0"/>
              <a:t>都是綠燈</a:t>
            </a:r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8E831BD8-8DF3-D389-DBE6-6141A75C28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8231" y="1825625"/>
            <a:ext cx="4815538" cy="4351338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8F172AF-50FD-3D1F-6392-DB1804342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4143309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步驟</a:t>
            </a:r>
            <a:r>
              <a:rPr lang="en-US" altLang="zh-TW" dirty="0"/>
              <a:t>2. </a:t>
            </a:r>
            <a:r>
              <a:rPr lang="zh-TW" altLang="en-US" dirty="0"/>
              <a:t>匯入</a:t>
            </a:r>
            <a:r>
              <a:rPr lang="en-US" altLang="zh-TW" dirty="0" err="1"/>
              <a:t>Kubeconfig</a:t>
            </a:r>
            <a:r>
              <a:rPr lang="en-US" altLang="zh-TW" dirty="0"/>
              <a:t> </a:t>
            </a:r>
            <a:r>
              <a:rPr lang="zh-TW" altLang="en-US" dirty="0"/>
              <a:t>到 </a:t>
            </a:r>
            <a:r>
              <a:rPr lang="en-US" altLang="zh-TW" dirty="0"/>
              <a:t>GitLab repo variables</a:t>
            </a:r>
            <a:endParaRPr lang="zh-TW" alt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</a:rPr>
              <a:t>GitLab server</a:t>
            </a:r>
            <a:r>
              <a:rPr lang="zh-TW" altLang="en-US" dirty="0">
                <a:solidFill>
                  <a:schemeClr val="tx1"/>
                </a:solidFill>
              </a:rPr>
              <a:t>在我們有推上新的</a:t>
            </a:r>
            <a:r>
              <a:rPr lang="en-US" altLang="zh-TW" dirty="0">
                <a:solidFill>
                  <a:schemeClr val="tx1"/>
                </a:solidFill>
              </a:rPr>
              <a:t>commit</a:t>
            </a:r>
            <a:r>
              <a:rPr lang="zh-TW" altLang="en-US" dirty="0">
                <a:solidFill>
                  <a:schemeClr val="tx1"/>
                </a:solidFill>
              </a:rPr>
              <a:t>後，要代替我們在</a:t>
            </a:r>
            <a:r>
              <a:rPr lang="en-US" altLang="zh-TW" dirty="0">
                <a:solidFill>
                  <a:schemeClr val="tx1"/>
                </a:solidFill>
              </a:rPr>
              <a:t>k8s</a:t>
            </a:r>
            <a:r>
              <a:rPr lang="zh-TW" altLang="en-US" dirty="0">
                <a:solidFill>
                  <a:schemeClr val="tx1"/>
                </a:solidFill>
              </a:rPr>
              <a:t>上進行部署，所以我們需要提供</a:t>
            </a:r>
            <a:r>
              <a:rPr lang="en-US" altLang="zh-TW" dirty="0" err="1">
                <a:solidFill>
                  <a:schemeClr val="tx1"/>
                </a:solidFill>
              </a:rPr>
              <a:t>kubeconfig</a:t>
            </a:r>
            <a:r>
              <a:rPr lang="zh-TW" altLang="en-US" dirty="0">
                <a:solidFill>
                  <a:schemeClr val="tx1"/>
                </a:solidFill>
              </a:rPr>
              <a:t>給</a:t>
            </a:r>
            <a:r>
              <a:rPr lang="en-US" altLang="zh-TW" dirty="0">
                <a:solidFill>
                  <a:schemeClr val="tx1"/>
                </a:solidFill>
              </a:rPr>
              <a:t>GitLab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BF97933-A57E-F52A-2DA0-F4B5D5AA7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7826204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980263-A3A9-046D-A567-65D517EF2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Kubeconfig</a:t>
            </a:r>
            <a:r>
              <a:rPr kumimoji="1" lang="en-US" altLang="zh-TW" dirty="0"/>
              <a:t> file </a:t>
            </a:r>
            <a:r>
              <a:rPr kumimoji="1" lang="zh-TW" altLang="en-US" dirty="0"/>
              <a:t>轉成</a:t>
            </a:r>
            <a:r>
              <a:rPr kumimoji="1" lang="en-US" altLang="zh-TW" dirty="0"/>
              <a:t>base64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E57BE24-EEF2-51F6-0289-4E4B6E866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echo $(cat ~/.</a:t>
            </a:r>
            <a:r>
              <a:rPr kumimoji="1" lang="en-US" altLang="zh-TW" dirty="0" err="1"/>
              <a:t>kube</a:t>
            </a:r>
            <a:r>
              <a:rPr kumimoji="1" lang="en-US" altLang="zh-TW" dirty="0"/>
              <a:t>/config | base64) | tr -d " "</a:t>
            </a:r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4AE83DC-EF3C-3103-AA77-C433A70C5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0" y="2844800"/>
            <a:ext cx="12026900" cy="40132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FB0AD195-AC2F-559D-10AF-224C0E9E70A7}"/>
              </a:ext>
            </a:extLst>
          </p:cNvPr>
          <p:cNvSpPr txBox="1"/>
          <p:nvPr/>
        </p:nvSpPr>
        <p:spPr>
          <a:xfrm>
            <a:off x="8310520" y="812602"/>
            <a:ext cx="31558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因為</a:t>
            </a:r>
            <a:r>
              <a:rPr kumimoji="1" lang="en-US" altLang="zh-TW" dirty="0" err="1"/>
              <a:t>kubeconfig</a:t>
            </a:r>
            <a:r>
              <a:rPr kumimoji="1" lang="zh-TW" altLang="en-US" dirty="0"/>
              <a:t>是</a:t>
            </a:r>
            <a:r>
              <a:rPr kumimoji="1" lang="en-US" altLang="zh-TW" dirty="0" err="1"/>
              <a:t>yaml</a:t>
            </a:r>
            <a:r>
              <a:rPr kumimoji="1" lang="zh-TW" altLang="en-US" dirty="0"/>
              <a:t>格式，用縮排來代表不同階層，為了避免複製貼上後縮排亂掉，所以先轉成</a:t>
            </a:r>
            <a:r>
              <a:rPr kumimoji="1" lang="en-US" altLang="zh-TW" dirty="0"/>
              <a:t>base64</a:t>
            </a:r>
            <a:r>
              <a:rPr kumimoji="1" lang="zh-TW" altLang="en-US" dirty="0"/>
              <a:t>，要使用時在</a:t>
            </a:r>
            <a:r>
              <a:rPr kumimoji="1" lang="en-US" altLang="zh-TW" dirty="0"/>
              <a:t>decode</a:t>
            </a:r>
            <a:r>
              <a:rPr kumimoji="1" lang="zh-TW" altLang="en-US" dirty="0"/>
              <a:t>回來。</a:t>
            </a: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6A8D5F0-914C-1A1A-A938-22E209ED2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1496940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設定變數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336820C-48E8-3BC4-3982-D9890E4305CD}"/>
              </a:ext>
            </a:extLst>
          </p:cNvPr>
          <p:cNvSpPr txBox="1"/>
          <p:nvPr/>
        </p:nvSpPr>
        <p:spPr>
          <a:xfrm>
            <a:off x="1432291" y="1563093"/>
            <a:ext cx="104969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/>
              <a:t>權限有關的設定</a:t>
            </a:r>
            <a:r>
              <a:rPr kumimoji="1" lang="en-US" altLang="zh-TW" dirty="0"/>
              <a:t>(</a:t>
            </a:r>
            <a:r>
              <a:rPr kumimoji="1" lang="zh-TW" altLang="en-US" dirty="0"/>
              <a:t>密碼</a:t>
            </a:r>
            <a:r>
              <a:rPr kumimoji="1" lang="en-US" altLang="zh-TW" dirty="0"/>
              <a:t>, token, auth file)</a:t>
            </a:r>
            <a:r>
              <a:rPr kumimoji="1" lang="zh-TW" altLang="en-US" dirty="0"/>
              <a:t>，建議把</a:t>
            </a:r>
            <a:r>
              <a:rPr kumimoji="1" lang="en-US" altLang="zh-TW" dirty="0"/>
              <a:t>key/value</a:t>
            </a:r>
            <a:r>
              <a:rPr kumimoji="1" lang="zh-TW" altLang="en-US" dirty="0"/>
              <a:t>值定義在</a:t>
            </a:r>
            <a:r>
              <a:rPr kumimoji="1" lang="en-US" altLang="zh-TW" dirty="0"/>
              <a:t>Variables</a:t>
            </a:r>
            <a:r>
              <a:rPr kumimoji="1" lang="zh-TW" altLang="en-US" dirty="0"/>
              <a:t>，不應該直接設定在</a:t>
            </a:r>
            <a:r>
              <a:rPr kumimoji="1" lang="en-US" altLang="zh-TW" dirty="0"/>
              <a:t>ci </a:t>
            </a:r>
            <a:r>
              <a:rPr kumimoji="1" lang="en-US" altLang="zh-TW" dirty="0" err="1"/>
              <a:t>yaml</a:t>
            </a:r>
            <a:endParaRPr kumimoji="1" lang="en-US" altLang="zh-TW" dirty="0"/>
          </a:p>
          <a:p>
            <a:r>
              <a:rPr kumimoji="1" lang="zh-TW" altLang="en-US" dirty="0"/>
              <a:t>或</a:t>
            </a:r>
            <a:r>
              <a:rPr kumimoji="1" lang="en-US" altLang="zh-TW" dirty="0"/>
              <a:t>repo code</a:t>
            </a:r>
            <a:r>
              <a:rPr kumimoji="1" lang="zh-TW" altLang="en-US" dirty="0"/>
              <a:t>裡面。</a:t>
            </a:r>
          </a:p>
        </p:txBody>
      </p:sp>
      <p:pic>
        <p:nvPicPr>
          <p:cNvPr id="12" name="內容版面配置區 11">
            <a:extLst>
              <a:ext uri="{FF2B5EF4-FFF2-40B4-BE49-F238E27FC236}">
                <a16:creationId xmlns:a16="http://schemas.microsoft.com/office/drawing/2014/main" id="{F3339151-7218-A88D-EC36-51ADA0AE02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1313" y="2209424"/>
            <a:ext cx="8569374" cy="4351338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6837F8E-7C73-01DE-7A26-CFD4A5433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2783476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BCC732-B975-DF64-D7B9-972604B0C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設定</a:t>
            </a:r>
            <a:r>
              <a:rPr kumimoji="1" lang="en-US" altLang="zh-TW" dirty="0" err="1"/>
              <a:t>kubeconfig</a:t>
            </a:r>
            <a:r>
              <a:rPr kumimoji="1" lang="zh-TW" altLang="en-US" dirty="0"/>
              <a:t>變數</a:t>
            </a: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1651815A-FA80-2E45-A28C-4B73FC5F29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136525"/>
            <a:ext cx="2599944" cy="6268182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3D84274-CA0A-B3BB-4B03-9055B84A6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9578034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變數設定完成</a:t>
            </a:r>
          </a:p>
        </p:txBody>
      </p:sp>
      <p:pic>
        <p:nvPicPr>
          <p:cNvPr id="11" name="內容版面配置區 10">
            <a:extLst>
              <a:ext uri="{FF2B5EF4-FFF2-40B4-BE49-F238E27FC236}">
                <a16:creationId xmlns:a16="http://schemas.microsoft.com/office/drawing/2014/main" id="{F0469822-5D1C-9DF6-860B-20CEF9E0B4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6600" y="2134394"/>
            <a:ext cx="8178800" cy="373380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2D026D1-20AB-4AAD-38E6-10353EF28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2114915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CI </a:t>
            </a:r>
            <a:r>
              <a:rPr lang="zh-TW" altLang="en-US" dirty="0"/>
              <a:t>取用 </a:t>
            </a:r>
            <a:r>
              <a:rPr lang="en-US" altLang="zh-TW" dirty="0" err="1"/>
              <a:t>kubeconfig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變數</a:t>
            </a:r>
            <a:r>
              <a:rPr lang="en-US" altLang="zh-TW" dirty="0"/>
              <a:t> $</a:t>
            </a:r>
            <a:r>
              <a:rPr lang="en-US" altLang="zh-TW" dirty="0" err="1"/>
              <a:t>kubeconfig</a:t>
            </a:r>
            <a:r>
              <a:rPr lang="en-US" altLang="zh-TW" dirty="0"/>
              <a:t> </a:t>
            </a:r>
            <a:r>
              <a:rPr lang="zh-TW" altLang="en-US" dirty="0"/>
              <a:t>用</a:t>
            </a:r>
            <a:r>
              <a:rPr lang="en-US" altLang="zh-TW" dirty="0"/>
              <a:t>base64 decode </a:t>
            </a:r>
            <a:r>
              <a:rPr lang="zh-TW" altLang="en-US" dirty="0"/>
              <a:t>並寫入到 </a:t>
            </a:r>
            <a:r>
              <a:rPr lang="en-US" altLang="zh-TW" dirty="0"/>
              <a:t>~/.</a:t>
            </a:r>
            <a:r>
              <a:rPr lang="en-US" altLang="zh-TW" dirty="0" err="1"/>
              <a:t>kube</a:t>
            </a:r>
            <a:r>
              <a:rPr lang="en-US" altLang="zh-TW" dirty="0"/>
              <a:t>/</a:t>
            </a:r>
            <a:r>
              <a:rPr lang="en-US" altLang="zh-TW" dirty="0" err="1"/>
              <a:t>config</a:t>
            </a:r>
            <a:endParaRPr lang="en-US" altLang="zh-TW" dirty="0"/>
          </a:p>
          <a:p>
            <a:r>
              <a:rPr lang="en-US" altLang="zh-TW" dirty="0"/>
              <a:t> </a:t>
            </a:r>
            <a:r>
              <a:rPr lang="en-US" altLang="zh-TW" dirty="0" err="1"/>
              <a:t>mkdir</a:t>
            </a:r>
            <a:r>
              <a:rPr lang="en-US" altLang="zh-TW" dirty="0"/>
              <a:t> .</a:t>
            </a:r>
            <a:r>
              <a:rPr lang="en-US" altLang="zh-TW" dirty="0" err="1"/>
              <a:t>kube</a:t>
            </a:r>
            <a:endParaRPr lang="en-US" altLang="zh-TW" dirty="0"/>
          </a:p>
          <a:p>
            <a:r>
              <a:rPr lang="en-US" altLang="zh-TW" dirty="0"/>
              <a:t> echo $</a:t>
            </a:r>
            <a:r>
              <a:rPr lang="en-US" altLang="zh-TW" dirty="0" err="1"/>
              <a:t>kubeconfig</a:t>
            </a:r>
            <a:r>
              <a:rPr lang="en-US" altLang="zh-TW" dirty="0"/>
              <a:t> |base64 -d &gt; ~/.</a:t>
            </a:r>
            <a:r>
              <a:rPr lang="en-US" altLang="zh-TW" dirty="0" err="1"/>
              <a:t>kube</a:t>
            </a:r>
            <a:r>
              <a:rPr lang="en-US" altLang="zh-TW" dirty="0"/>
              <a:t>/config</a:t>
            </a:r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948" y="3574636"/>
            <a:ext cx="6809224" cy="2918238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FF2E80D2-111D-4D57-D809-262697D41C63}"/>
              </a:ext>
            </a:extLst>
          </p:cNvPr>
          <p:cNvSpPr txBox="1"/>
          <p:nvPr/>
        </p:nvSpPr>
        <p:spPr>
          <a:xfrm>
            <a:off x="7411948" y="4369070"/>
            <a:ext cx="39418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https://</a:t>
            </a:r>
            <a:r>
              <a:rPr lang="en-US" altLang="zh-TW" dirty="0" err="1"/>
              <a:t>github.com</a:t>
            </a:r>
            <a:r>
              <a:rPr lang="en-US" altLang="zh-TW" dirty="0"/>
              <a:t>/</a:t>
            </a:r>
            <a:r>
              <a:rPr lang="en-US" altLang="zh-TW" dirty="0" err="1"/>
              <a:t>demoyuw</a:t>
            </a:r>
            <a:r>
              <a:rPr lang="en-US" altLang="zh-TW" dirty="0"/>
              <a:t>/docker-</a:t>
            </a:r>
            <a:r>
              <a:rPr lang="en-US" altLang="zh-TW" dirty="0" err="1"/>
              <a:t>devops</a:t>
            </a:r>
            <a:r>
              <a:rPr lang="en-US" altLang="zh-TW" dirty="0"/>
              <a:t>/blob/master/.gitlab-ci.yml#L55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2F7C514-8E33-4FEB-3CA3-790E37F1B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66337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查看</a:t>
            </a:r>
            <a:r>
              <a:rPr lang="en-US" altLang="zh-TW" dirty="0"/>
              <a:t>CI</a:t>
            </a:r>
            <a:r>
              <a:rPr lang="zh-TW" altLang="en-US" dirty="0"/>
              <a:t>執行結果結果</a:t>
            </a: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9180" y="1825625"/>
            <a:ext cx="9133639" cy="4351338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6F75EEE-C8DB-CE42-E608-3FFC3DF0C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6390180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B3957374-34D6-B6C3-44E7-041A91651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設定</a:t>
            </a:r>
            <a:r>
              <a:rPr lang="en-US" altLang="zh-TW" dirty="0" err="1"/>
              <a:t>dockerhub</a:t>
            </a:r>
            <a:r>
              <a:rPr lang="en-US" altLang="zh-TW" dirty="0"/>
              <a:t> username and password</a:t>
            </a:r>
            <a:endParaRPr lang="zh-TW" altLang="en-US" dirty="0"/>
          </a:p>
        </p:txBody>
      </p:sp>
      <p:pic>
        <p:nvPicPr>
          <p:cNvPr id="12" name="內容版面配置區 11">
            <a:extLst>
              <a:ext uri="{FF2B5EF4-FFF2-40B4-BE49-F238E27FC236}">
                <a16:creationId xmlns:a16="http://schemas.microsoft.com/office/drawing/2014/main" id="{22ADA38F-AA2A-D6D8-E017-523C978A0E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86151"/>
            <a:ext cx="10123296" cy="3485616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F6351662-9711-2788-D3CE-9724C620912A}"/>
              </a:ext>
            </a:extLst>
          </p:cNvPr>
          <p:cNvSpPr txBox="1"/>
          <p:nvPr/>
        </p:nvSpPr>
        <p:spPr>
          <a:xfrm>
            <a:off x="2373330" y="1538250"/>
            <a:ext cx="61860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Key: REGISTRY_USERNAME, value: {</a:t>
            </a:r>
            <a:r>
              <a:rPr kumimoji="1" lang="zh-TW" altLang="en-US" dirty="0"/>
              <a:t>你的</a:t>
            </a:r>
            <a:r>
              <a:rPr kumimoji="1" lang="en-US" altLang="zh-TW" dirty="0" err="1"/>
              <a:t>dockerhub</a:t>
            </a:r>
            <a:r>
              <a:rPr kumimoji="1" lang="zh-TW" altLang="en-US" dirty="0"/>
              <a:t>帳號名稱</a:t>
            </a:r>
            <a:r>
              <a:rPr kumimoji="1" lang="en-US" altLang="zh-TW" dirty="0"/>
              <a:t>}</a:t>
            </a:r>
          </a:p>
          <a:p>
            <a:r>
              <a:rPr kumimoji="1" lang="en-US" altLang="zh-TW" dirty="0"/>
              <a:t>Key: REGISTRY_PASSWORD, value: {</a:t>
            </a:r>
            <a:r>
              <a:rPr kumimoji="1" lang="zh-TW" altLang="en-US" dirty="0"/>
              <a:t>你的</a:t>
            </a:r>
            <a:r>
              <a:rPr kumimoji="1" lang="en-US" altLang="zh-TW" dirty="0" err="1"/>
              <a:t>dockerhub</a:t>
            </a:r>
            <a:r>
              <a:rPr kumimoji="1" lang="zh-TW" altLang="en-US" dirty="0"/>
              <a:t>帳號密碼</a:t>
            </a:r>
            <a:r>
              <a:rPr kumimoji="1" lang="en-US" altLang="zh-TW" dirty="0"/>
              <a:t>}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1E171B3-6E59-F9F9-D01A-3B27D76C6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6946788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Gitlab</a:t>
            </a:r>
            <a:r>
              <a:rPr lang="en-US" altLang="zh-TW" dirty="0"/>
              <a:t> CI YAML </a:t>
            </a:r>
            <a:r>
              <a:rPr lang="zh-TW" altLang="en-US" dirty="0"/>
              <a:t>說明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4AB9698-C79C-374B-5AFA-6498E50D6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8214308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.</a:t>
            </a:r>
            <a:r>
              <a:rPr dirty="0" err="1"/>
              <a:t>gitlab-ci.yml</a:t>
            </a:r>
            <a:r>
              <a:rPr dirty="0"/>
              <a:t> sample</a:t>
            </a:r>
          </a:p>
        </p:txBody>
      </p:sp>
      <p:pic>
        <p:nvPicPr>
          <p:cNvPr id="1033" name="內容版面配置區 5" descr="內容版面配置區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2916" y="1565607"/>
            <a:ext cx="2934210" cy="4680066"/>
          </a:xfrm>
          <a:prstGeom prst="rect">
            <a:avLst/>
          </a:prstGeom>
          <a:ln w="12700">
            <a:miter lim="400000"/>
          </a:ln>
        </p:spPr>
      </p:pic>
      <p:sp>
        <p:nvSpPr>
          <p:cNvPr id="103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F9E4B1B-4D83-24C1-84B3-CC1A0CE36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0086682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.</a:t>
            </a:r>
            <a:r>
              <a:rPr dirty="0" err="1"/>
              <a:t>gitlab-ci.yml</a:t>
            </a:r>
            <a:r>
              <a:rPr dirty="0"/>
              <a:t> </a:t>
            </a:r>
            <a:r>
              <a:rPr lang="en-US" dirty="0"/>
              <a:t>Global (</a:t>
            </a:r>
            <a:r>
              <a:rPr lang="en-US" dirty="0" err="1"/>
              <a:t>全域</a:t>
            </a:r>
            <a:r>
              <a:rPr lang="en-US" dirty="0"/>
              <a:t>) </a:t>
            </a:r>
            <a:r>
              <a:rPr dirty="0"/>
              <a:t>keyword -</a:t>
            </a:r>
            <a:r>
              <a:rPr lang="en-US" dirty="0"/>
              <a:t> stages</a:t>
            </a:r>
            <a:endParaRPr dirty="0"/>
          </a:p>
        </p:txBody>
      </p:sp>
      <p:sp>
        <p:nvSpPr>
          <p:cNvPr id="1038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39470" indent="-339470" defTabSz="452627">
              <a:spcBef>
                <a:spcPts val="900"/>
              </a:spcBef>
              <a:defRPr sz="3168"/>
            </a:pPr>
            <a:r>
              <a:rPr dirty="0"/>
              <a:t>stages</a:t>
            </a:r>
          </a:p>
          <a:p>
            <a:pPr marL="735520" lvl="1" indent="-282892" defTabSz="452627">
              <a:spcBef>
                <a:spcPts val="900"/>
              </a:spcBef>
              <a:defRPr sz="2772"/>
            </a:pPr>
            <a:r>
              <a:rPr lang="zh-TW" altLang="en-US" dirty="0">
                <a:latin typeface="+mj-lt"/>
                <a:ea typeface="+mj-ea"/>
                <a:cs typeface="+mj-cs"/>
                <a:sym typeface="Helvetica"/>
              </a:rPr>
              <a:t>決定</a:t>
            </a:r>
            <a:r>
              <a:rPr lang="en-US" altLang="zh-TW" dirty="0">
                <a:latin typeface="+mj-lt"/>
                <a:ea typeface="+mj-ea"/>
                <a:cs typeface="+mj-cs"/>
                <a:sym typeface="Helvetica"/>
              </a:rPr>
              <a:t>pipeline</a:t>
            </a:r>
            <a:r>
              <a:rPr lang="zh-TW" altLang="en-US" dirty="0">
                <a:latin typeface="+mj-lt"/>
                <a:ea typeface="+mj-ea"/>
                <a:cs typeface="+mj-cs"/>
                <a:sym typeface="Helvetica"/>
              </a:rPr>
              <a:t>執行順序</a:t>
            </a:r>
            <a:endParaRPr lang="en-US" altLang="zh-TW" dirty="0">
              <a:latin typeface="+mj-lt"/>
              <a:ea typeface="+mj-ea"/>
              <a:cs typeface="+mj-cs"/>
              <a:sym typeface="Helvetica"/>
            </a:endParaRPr>
          </a:p>
          <a:p>
            <a:pPr marL="735520" lvl="1" indent="-282892" defTabSz="452627">
              <a:spcBef>
                <a:spcPts val="900"/>
              </a:spcBef>
              <a:defRPr sz="2772"/>
            </a:pPr>
            <a:r>
              <a:rPr lang="en-US" dirty="0" err="1">
                <a:latin typeface="+mj-lt"/>
                <a:ea typeface="+mj-ea"/>
                <a:cs typeface="+mj-cs"/>
                <a:sym typeface="Helvetica"/>
              </a:rPr>
              <a:t>自行定義每個stage的名稱</a:t>
            </a:r>
            <a:endParaRPr lang="en-US" dirty="0">
              <a:latin typeface="+mj-lt"/>
              <a:ea typeface="+mj-ea"/>
              <a:cs typeface="+mj-cs"/>
              <a:sym typeface="Helvetica"/>
            </a:endParaRPr>
          </a:p>
          <a:p>
            <a:pPr marL="735520" lvl="1" indent="-282892" defTabSz="452627">
              <a:spcBef>
                <a:spcPts val="900"/>
              </a:spcBef>
              <a:defRPr sz="2772"/>
            </a:pPr>
            <a:r>
              <a:rPr lang="en-US" dirty="0" err="1">
                <a:latin typeface="+mj-lt"/>
                <a:ea typeface="+mj-ea"/>
                <a:cs typeface="+mj-cs"/>
                <a:sym typeface="Helvetica"/>
              </a:rPr>
              <a:t>一個stage成功後，再執行下一個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  <a:p>
            <a:pPr marL="735520" lvl="1" indent="-282892" defTabSz="452627">
              <a:spcBef>
                <a:spcPts val="900"/>
              </a:spcBef>
              <a:defRPr sz="2772"/>
            </a:pPr>
            <a:endParaRPr dirty="0"/>
          </a:p>
        </p:txBody>
      </p:sp>
      <p:sp>
        <p:nvSpPr>
          <p:cNvPr id="1039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2A71F392-4D4F-2DF8-4AC7-C40F5569A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6479" y="2189765"/>
            <a:ext cx="1823839" cy="1603375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099BEE33-8686-E937-2DF8-9D3961DA0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697" y="4525471"/>
            <a:ext cx="6536705" cy="120369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D862903-438A-EB59-D06F-2F199FDB8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3044887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.</a:t>
            </a:r>
            <a:r>
              <a:rPr dirty="0" err="1"/>
              <a:t>gitlab-ci.yml</a:t>
            </a:r>
            <a:r>
              <a:rPr lang="en-US" dirty="0"/>
              <a:t> global</a:t>
            </a:r>
            <a:r>
              <a:rPr dirty="0"/>
              <a:t> keyword -2</a:t>
            </a:r>
          </a:p>
        </p:txBody>
      </p:sp>
      <p:sp>
        <p:nvSpPr>
          <p:cNvPr id="1043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2900"/>
            </a:pPr>
            <a:r>
              <a:rPr dirty="0"/>
              <a:t>variables</a:t>
            </a:r>
          </a:p>
          <a:p>
            <a:pPr marL="742950" lvl="1" indent="-285750">
              <a:lnSpc>
                <a:spcPct val="90000"/>
              </a:lnSpc>
              <a:defRPr sz="2500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自定義環境變數</a:t>
            </a:r>
            <a:r>
              <a:rPr lang="en-US" dirty="0">
                <a:latin typeface="+mj-lt"/>
                <a:ea typeface="+mj-ea"/>
                <a:cs typeface="+mj-cs"/>
                <a:sym typeface="Helvetica"/>
              </a:rPr>
              <a:t> for all jobs in pipeline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04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56E4E3A-C7DD-6D76-CA4A-700ACCA15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6492235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Gitlab Ci </a:t>
            </a:r>
            <a:r>
              <a:rPr lang="zh-TW" altLang="en-US" dirty="0"/>
              <a:t>預先定義變數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變數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068" name="內容版面配置區 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sz="2000" dirty="0"/>
              <a:t>CI_JOB_ID="50" </a:t>
            </a:r>
          </a:p>
          <a:p>
            <a:pPr>
              <a:lnSpc>
                <a:spcPct val="90000"/>
              </a:lnSpc>
            </a:pPr>
            <a:r>
              <a:rPr sz="2000" dirty="0"/>
              <a:t>CI_COMMIT_SHA="1ecfd275763eff1d6b4844ea3168962458c9f27a" </a:t>
            </a:r>
            <a:endParaRPr lang="en-US" sz="2000" dirty="0"/>
          </a:p>
          <a:p>
            <a:pPr>
              <a:lnSpc>
                <a:spcPct val="90000"/>
              </a:lnSpc>
            </a:pPr>
            <a:r>
              <a:rPr sz="2000" dirty="0"/>
              <a:t>CI_COMMIT_SHORT_SHA="1ecfd275" </a:t>
            </a:r>
          </a:p>
          <a:p>
            <a:pPr>
              <a:lnSpc>
                <a:spcPct val="90000"/>
              </a:lnSpc>
            </a:pPr>
            <a:r>
              <a:rPr sz="2000" dirty="0"/>
              <a:t>CI_COMMIT_REF_NAME="master" </a:t>
            </a:r>
          </a:p>
          <a:p>
            <a:pPr>
              <a:lnSpc>
                <a:spcPct val="90000"/>
              </a:lnSpc>
            </a:pPr>
            <a:r>
              <a:rPr sz="2000" dirty="0"/>
              <a:t>CI_REPOSITORY_URL="https://</a:t>
            </a:r>
            <a:r>
              <a:rPr sz="2000" dirty="0" err="1"/>
              <a:t>gitlab</a:t>
            </a:r>
            <a:r>
              <a:rPr sz="2000" dirty="0"/>
              <a:t>-ci-token:[masked]@</a:t>
            </a:r>
            <a:r>
              <a:rPr sz="2000" dirty="0" err="1"/>
              <a:t>example.com</a:t>
            </a:r>
            <a:r>
              <a:rPr sz="2000" dirty="0"/>
              <a:t>/</a:t>
            </a:r>
            <a:r>
              <a:rPr sz="2000" dirty="0" err="1"/>
              <a:t>gitlab</a:t>
            </a:r>
            <a:r>
              <a:rPr sz="2000" dirty="0"/>
              <a:t>-org/</a:t>
            </a:r>
            <a:r>
              <a:rPr sz="2000" dirty="0" err="1"/>
              <a:t>gitlab-foss.git</a:t>
            </a:r>
            <a:r>
              <a:rPr sz="2000" dirty="0"/>
              <a:t>" </a:t>
            </a:r>
          </a:p>
          <a:p>
            <a:pPr>
              <a:lnSpc>
                <a:spcPct val="90000"/>
              </a:lnSpc>
            </a:pPr>
            <a:r>
              <a:rPr sz="2000" dirty="0"/>
              <a:t>CI_COMMIT_TAG="1.0.0" </a:t>
            </a:r>
          </a:p>
          <a:p>
            <a:pPr>
              <a:lnSpc>
                <a:spcPct val="90000"/>
              </a:lnSpc>
            </a:pPr>
            <a:r>
              <a:rPr sz="2000" dirty="0"/>
              <a:t>CI_JOB_NAME="</a:t>
            </a:r>
            <a:r>
              <a:rPr sz="2000" dirty="0" err="1"/>
              <a:t>spec:other</a:t>
            </a:r>
            <a:r>
              <a:rPr sz="2000" dirty="0"/>
              <a:t>" </a:t>
            </a:r>
            <a:endParaRPr lang="en-US" sz="2000" dirty="0"/>
          </a:p>
          <a:p>
            <a:pPr>
              <a:lnSpc>
                <a:spcPct val="90000"/>
              </a:lnSpc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err="1"/>
              <a:t>完整預設變數</a:t>
            </a:r>
            <a:r>
              <a:rPr lang="en-US" sz="2000" dirty="0"/>
              <a:t>: </a:t>
            </a:r>
            <a:r>
              <a:rPr lang="en-US" sz="2000" dirty="0">
                <a:hlinkClick r:id="rId2"/>
              </a:rPr>
              <a:t>https://</a:t>
            </a:r>
            <a:r>
              <a:rPr lang="en-US" sz="2000" dirty="0" err="1">
                <a:hlinkClick r:id="rId2"/>
              </a:rPr>
              <a:t>docs.gitlab.com</a:t>
            </a:r>
            <a:r>
              <a:rPr lang="en-US" sz="2000" dirty="0">
                <a:hlinkClick r:id="rId2"/>
              </a:rPr>
              <a:t>/ci/variables/</a:t>
            </a:r>
            <a:r>
              <a:rPr lang="en-US" sz="2000" dirty="0" err="1">
                <a:hlinkClick r:id="rId2"/>
              </a:rPr>
              <a:t>predefined_variables</a:t>
            </a:r>
            <a:r>
              <a:rPr lang="en-US" sz="2000" dirty="0">
                <a:hlinkClick r:id="rId2"/>
              </a:rPr>
              <a:t>/</a:t>
            </a:r>
            <a:endParaRPr lang="en-US" sz="2000" dirty="0"/>
          </a:p>
        </p:txBody>
      </p:sp>
      <p:sp>
        <p:nvSpPr>
          <p:cNvPr id="1069" name="內容版面配置區 5"/>
          <p:cNvSpPr txBox="1"/>
          <p:nvPr/>
        </p:nvSpPr>
        <p:spPr>
          <a:xfrm>
            <a:off x="5370699" y="1027906"/>
            <a:ext cx="4304902" cy="42002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pPr marL="342900" indent="-342900" defTabSz="457200">
              <a:lnSpc>
                <a:spcPct val="90000"/>
              </a:lnSpc>
              <a:spcBef>
                <a:spcPts val="1000"/>
              </a:spcBef>
              <a:buClr>
                <a:srgbClr val="8AD0D6"/>
              </a:buClr>
              <a:buSzPct val="80000"/>
              <a:buChar char=""/>
              <a:defRPr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1070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D3C6DA7-F7B1-54AC-4144-82B6F17CB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3969983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.</a:t>
            </a:r>
            <a:r>
              <a:rPr dirty="0" err="1"/>
              <a:t>gitlab-ci.yml</a:t>
            </a:r>
            <a:r>
              <a:rPr dirty="0"/>
              <a:t> Job</a:t>
            </a:r>
            <a:r>
              <a:rPr lang="en-US" dirty="0"/>
              <a:t>s</a:t>
            </a:r>
            <a:r>
              <a:rPr dirty="0"/>
              <a:t> keyword -1</a:t>
            </a:r>
          </a:p>
        </p:txBody>
      </p:sp>
      <p:sp>
        <p:nvSpPr>
          <p:cNvPr id="1048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2900"/>
            </a:pPr>
            <a:r>
              <a:rPr lang="en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stage</a:t>
            </a:r>
          </a:p>
          <a:p>
            <a:pPr marL="742950" lvl="1" indent="-285750">
              <a:lnSpc>
                <a:spcPct val="90000"/>
              </a:lnSpc>
              <a:defRPr sz="2500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  <a:sym typeface="Helvetica"/>
              </a:rPr>
              <a:t>呼應</a:t>
            </a:r>
            <a:r>
              <a:rPr lang="en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Stages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  <a:sym typeface="Helvetica"/>
              </a:rPr>
              <a:t>所設定，執行此</a:t>
            </a:r>
            <a:r>
              <a:rPr lang="en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job</a:t>
            </a:r>
          </a:p>
          <a:p>
            <a:pPr>
              <a:lnSpc>
                <a:spcPct val="90000"/>
              </a:lnSpc>
              <a:defRPr sz="2900"/>
            </a:pPr>
            <a:r>
              <a:rPr lang="en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image</a:t>
            </a:r>
          </a:p>
          <a:p>
            <a:pPr marL="742950" lvl="1" indent="-285750">
              <a:lnSpc>
                <a:spcPct val="90000"/>
              </a:lnSpc>
              <a:defRPr sz="2500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  <a:sym typeface="Helvetica"/>
              </a:rPr>
              <a:t>指定此</a:t>
            </a:r>
            <a:r>
              <a:rPr lang="en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job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  <a:sym typeface="Helvetica"/>
              </a:rPr>
              <a:t>使用何種</a:t>
            </a:r>
            <a:r>
              <a:rPr lang="en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docker image</a:t>
            </a:r>
            <a:endParaRPr 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lnSpc>
                <a:spcPct val="90000"/>
              </a:lnSpc>
              <a:defRPr sz="2900"/>
            </a:pPr>
            <a:r>
              <a:rPr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script</a:t>
            </a:r>
          </a:p>
          <a:p>
            <a:pPr marL="742950" lvl="1" indent="-285750">
              <a:lnSpc>
                <a:spcPct val="90000"/>
              </a:lnSpc>
              <a:defRPr sz="2500"/>
            </a:pPr>
            <a:r>
              <a:rPr dirty="0" err="1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  <a:sym typeface="Helvetica"/>
              </a:rPr>
              <a:t>執行</a:t>
            </a:r>
            <a:r>
              <a:rPr 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  <a:sym typeface="Helvetica"/>
              </a:rPr>
              <a:t> </a:t>
            </a:r>
            <a:r>
              <a:rPr lang="en-US" dirty="0" err="1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  <a:sym typeface="Helvetica"/>
              </a:rPr>
              <a:t>command</a:t>
            </a:r>
            <a:r>
              <a:rPr dirty="0" err="1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  <a:sym typeface="Helvetica"/>
              </a:rPr>
              <a:t>，每個</a:t>
            </a:r>
            <a:r>
              <a:rPr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job</a:t>
            </a:r>
            <a:r>
              <a:rPr dirty="0" err="1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  <a:sym typeface="Helvetica"/>
              </a:rPr>
              <a:t>內必須要有</a:t>
            </a:r>
            <a:r>
              <a:rPr dirty="0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  <a:sym typeface="Helvetica"/>
              </a:rPr>
              <a:t>。</a:t>
            </a:r>
          </a:p>
        </p:txBody>
      </p:sp>
      <p:sp>
        <p:nvSpPr>
          <p:cNvPr id="1049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84BC18F-E4CA-BEDA-7069-E96849E1C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0339" y="2120792"/>
            <a:ext cx="5558861" cy="161166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BBA19FE-3B4C-0598-9E9A-7B6EC2AF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4825816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.</a:t>
            </a:r>
            <a:r>
              <a:rPr dirty="0" err="1"/>
              <a:t>gitlab-ci.yml</a:t>
            </a:r>
            <a:r>
              <a:rPr dirty="0"/>
              <a:t> Jobs keyword -2</a:t>
            </a:r>
          </a:p>
        </p:txBody>
      </p:sp>
      <p:sp>
        <p:nvSpPr>
          <p:cNvPr id="1053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39470" indent="-339470" defTabSz="452627">
              <a:spcBef>
                <a:spcPts val="900"/>
              </a:spcBef>
              <a:defRPr sz="3168"/>
            </a:pPr>
            <a:r>
              <a:rPr lang="en-US" altLang="zh-TW" dirty="0"/>
              <a:t>v</a:t>
            </a:r>
            <a:r>
              <a:rPr dirty="0"/>
              <a:t>ariables</a:t>
            </a:r>
          </a:p>
          <a:p>
            <a:pPr marL="735520" lvl="1" indent="-282892" defTabSz="452627">
              <a:spcBef>
                <a:spcPts val="900"/>
              </a:spcBef>
              <a:defRPr sz="2772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定義</a:t>
            </a:r>
            <a:r>
              <a:rPr dirty="0" err="1"/>
              <a:t>job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內的環境變數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  <a:p>
            <a:pPr marL="339470" indent="-339470" defTabSz="452627">
              <a:spcBef>
                <a:spcPts val="900"/>
              </a:spcBef>
              <a:defRPr sz="3168"/>
            </a:pPr>
            <a:r>
              <a:rPr dirty="0"/>
              <a:t>only &amp; except</a:t>
            </a:r>
          </a:p>
          <a:p>
            <a:pPr marL="735520" lvl="1" indent="-282892" defTabSz="452627">
              <a:spcBef>
                <a:spcPts val="900"/>
              </a:spcBef>
              <a:defRPr sz="2772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設定執行或不執行當</a:t>
            </a:r>
            <a:r>
              <a:rPr dirty="0" err="1"/>
              <a:t>branch</a:t>
            </a:r>
            <a:r>
              <a:rPr dirty="0"/>
              <a:t> name</a:t>
            </a:r>
          </a:p>
          <a:p>
            <a:pPr marL="339470" indent="-339470" defTabSz="452627">
              <a:spcBef>
                <a:spcPts val="900"/>
              </a:spcBef>
              <a:defRPr sz="3168"/>
            </a:pPr>
            <a:r>
              <a:rPr dirty="0"/>
              <a:t>tags</a:t>
            </a:r>
          </a:p>
          <a:p>
            <a:pPr marL="735520" lvl="1" indent="-282892" defTabSz="452627">
              <a:spcBef>
                <a:spcPts val="900"/>
              </a:spcBef>
              <a:defRPr sz="2772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選擇使用</a:t>
            </a:r>
            <a:r>
              <a:rPr lang="en-US" dirty="0" err="1">
                <a:latin typeface="+mj-lt"/>
                <a:ea typeface="+mj-ea"/>
                <a:cs typeface="+mj-cs"/>
                <a:sym typeface="Helvetica"/>
              </a:rPr>
              <a:t>哪個</a:t>
            </a:r>
            <a:r>
              <a:rPr dirty="0" err="1"/>
              <a:t>Gitlab</a:t>
            </a:r>
            <a:r>
              <a:rPr dirty="0"/>
              <a:t> runner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執行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05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B1EA1B79-0733-544B-3875-815BB0960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8449" y="2432050"/>
            <a:ext cx="3136900" cy="199390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E67DB52-4233-C18A-4A4D-E2BE05732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0313826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.</a:t>
            </a:r>
            <a:r>
              <a:rPr dirty="0" err="1"/>
              <a:t>gitlab-ci.yml</a:t>
            </a:r>
            <a:r>
              <a:rPr dirty="0"/>
              <a:t> Jobs keyword -3</a:t>
            </a:r>
          </a:p>
        </p:txBody>
      </p:sp>
      <p:sp>
        <p:nvSpPr>
          <p:cNvPr id="1058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err="1"/>
              <a:t>a</a:t>
            </a:r>
            <a:r>
              <a:rPr dirty="0" err="1"/>
              <a:t>llow_failure</a:t>
            </a:r>
            <a:endParaRPr dirty="0"/>
          </a:p>
          <a:p>
            <a:pPr marL="742950" lvl="1" indent="-285750">
              <a:defRPr sz="2800"/>
            </a:pPr>
            <a:r>
              <a:t>允許該job failed。該job failed也不影響後續job的執行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dirty="0"/>
              <a:t>cache</a:t>
            </a:r>
          </a:p>
          <a:p>
            <a:pPr marL="742950" lvl="1" indent="-285750">
              <a:defRPr sz="2800"/>
            </a:pPr>
            <a:r>
              <a:rPr lang="en-US" dirty="0">
                <a:latin typeface="+mj-lt"/>
                <a:ea typeface="+mj-ea"/>
                <a:cs typeface="+mj-cs"/>
                <a:sym typeface="Helvetica"/>
              </a:rPr>
              <a:t>Folder and files cache, between jobs or pipeline.</a:t>
            </a:r>
          </a:p>
        </p:txBody>
      </p:sp>
      <p:sp>
        <p:nvSpPr>
          <p:cNvPr id="1059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E88D4A3A-614F-890A-7090-786B2A55E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087" y="2725680"/>
            <a:ext cx="3327400" cy="1866900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30F7507D-7588-7A19-44E0-ED0CC69B0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2370" y="4592580"/>
            <a:ext cx="3335886" cy="2187949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6813F023-D793-55F0-CB09-1D50D55EA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1467439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2C7F1A-81A2-53B0-5F05-A3435E534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TW" dirty="0"/>
              <a:t>.</a:t>
            </a:r>
            <a:r>
              <a:rPr lang="en" altLang="zh-TW" dirty="0" err="1"/>
              <a:t>gitlab-ci.yml</a:t>
            </a:r>
            <a:r>
              <a:rPr lang="en" altLang="zh-TW" dirty="0"/>
              <a:t> Jobs keyword -</a:t>
            </a:r>
            <a:r>
              <a:rPr lang="en-US" altLang="zh-TW" dirty="0"/>
              <a:t>4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AC074ED-B7D8-6E9A-6140-1562FFF9E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zh-TW" dirty="0" err="1"/>
              <a:t>before_script</a:t>
            </a:r>
            <a:r>
              <a:rPr lang="en" altLang="zh-TW" dirty="0"/>
              <a:t> and </a:t>
            </a:r>
            <a:r>
              <a:rPr lang="en" altLang="zh-TW" dirty="0" err="1"/>
              <a:t>after_script</a:t>
            </a:r>
            <a:endParaRPr lang="en" altLang="zh-TW" dirty="0"/>
          </a:p>
          <a:p>
            <a:pPr marL="742950" lvl="1" indent="-285750">
              <a:defRPr sz="2800"/>
            </a:pPr>
            <a:r>
              <a:rPr lang="en" altLang="zh-TW" dirty="0"/>
              <a:t>Job </a:t>
            </a:r>
            <a:r>
              <a:rPr lang="zh-TW" altLang="en-US" dirty="0">
                <a:latin typeface="+mj-lt"/>
                <a:ea typeface="+mj-ea"/>
                <a:cs typeface="+mj-cs"/>
                <a:sym typeface="Helvetica"/>
              </a:rPr>
              <a:t>執行前或執行後執行。</a:t>
            </a:r>
          </a:p>
          <a:p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924C6AA-957A-A555-CD21-22C476263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928" y="3075686"/>
            <a:ext cx="7772400" cy="1612935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BF016FA-CA6F-6D65-35F4-0CA2E4DCC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6854373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Gitlab project pipeline status</a:t>
            </a:r>
          </a:p>
        </p:txBody>
      </p:sp>
      <p:pic>
        <p:nvPicPr>
          <p:cNvPr id="1063" name="內容版面配置區 5" descr="內容版面配置區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171" y="2052638"/>
            <a:ext cx="7993434" cy="4195763"/>
          </a:xfrm>
          <a:prstGeom prst="rect">
            <a:avLst/>
          </a:prstGeom>
          <a:ln w="12700">
            <a:miter lim="400000"/>
          </a:ln>
        </p:spPr>
      </p:pic>
      <p:sp>
        <p:nvSpPr>
          <p:cNvPr id="106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D0EFAA3-5DBF-9EB2-FE97-3094A6689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5480029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7B5C1679-AE45-304D-E12D-AC6B13CFA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撰寫</a:t>
            </a:r>
            <a:r>
              <a:rPr lang="en-US" altLang="zh-TW" dirty="0"/>
              <a:t> .</a:t>
            </a:r>
            <a:r>
              <a:rPr lang="en-US" altLang="zh-TW" dirty="0" err="1"/>
              <a:t>gitlab-ci.yml</a:t>
            </a:r>
            <a:endParaRPr lang="zh-TW" altLang="en-US" dirty="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D678DE3-079A-2DDD-ADF2-6FCF39D919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69881928-67A5-9D54-BD7D-65690231C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9468232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5F8BD3-EC6C-4CFE-5EC6-FEDE649E3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撰寫</a:t>
            </a:r>
            <a:r>
              <a:rPr kumimoji="1" lang="en-US" altLang="zh-TW" dirty="0" err="1"/>
              <a:t>gitlab-ci.yml</a:t>
            </a:r>
            <a:endParaRPr kumimoji="1" lang="zh-TW" altLang="en-US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6BE45F02-2DB5-5A20-A769-7954C772D4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65883" y="1825625"/>
            <a:ext cx="4260233" cy="4351338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22599DA-C4CF-E605-FD63-D70F52795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6869883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65158F-A6AC-C9E5-7080-A929F0E8B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執行單元測試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56962A5-2247-0A8E-EDD8-9BAFB9211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使用</a:t>
            </a:r>
            <a:r>
              <a:rPr kumimoji="1" lang="en-US" altLang="zh-TW" dirty="0"/>
              <a:t>python:3 image</a:t>
            </a:r>
          </a:p>
          <a:p>
            <a:r>
              <a:rPr kumimoji="1" lang="zh-TW" altLang="en-US" dirty="0"/>
              <a:t>安裝所需套件</a:t>
            </a:r>
            <a:endParaRPr kumimoji="1" lang="en-US" altLang="zh-TW" dirty="0"/>
          </a:p>
          <a:p>
            <a:r>
              <a:rPr kumimoji="1" lang="zh-TW" altLang="en-US" dirty="0"/>
              <a:t>執行單元測試入口</a:t>
            </a:r>
            <a:r>
              <a:rPr kumimoji="1" lang="en-US" altLang="zh-TW" dirty="0" err="1"/>
              <a:t>test.py</a:t>
            </a:r>
            <a:endParaRPr kumimoji="1" lang="en-US" altLang="zh-TW" dirty="0"/>
          </a:p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B67D80F-922C-69F8-8636-6F8C1AE53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291" y="3611352"/>
            <a:ext cx="7747000" cy="2273300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8E44C94-138B-08BB-C7BC-80C294835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6753774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0E62C9-1C98-7A48-BD2B-3020F508C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Job </a:t>
            </a:r>
            <a:r>
              <a:rPr kumimoji="1" lang="zh-TW" altLang="en-US" dirty="0"/>
              <a:t>查看單元測試執行結果</a:t>
            </a:r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5020E73A-3FC5-B7AC-E790-B71B99A521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1629" y="1690688"/>
            <a:ext cx="8137916" cy="4837117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2BDA1C0-D6D5-D6A2-B266-7B4C9F167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7415389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EA837C-755C-70BC-79E4-1DC213661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pipeline </a:t>
            </a:r>
            <a:r>
              <a:rPr kumimoji="1" lang="zh-TW" altLang="en-US" dirty="0"/>
              <a:t>狀態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B623DA3-F891-4CA0-BABD-4E85B99CA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5961" y="1371074"/>
            <a:ext cx="6059373" cy="5400622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BD06748-9565-D04C-9C19-A9289041C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1353868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1A864C-F0FD-0A45-31B0-F406B6C05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至</a:t>
            </a:r>
            <a:r>
              <a:rPr kumimoji="1" lang="en-US" altLang="zh-TW" dirty="0"/>
              <a:t>Docker hub </a:t>
            </a:r>
            <a:r>
              <a:rPr kumimoji="1" lang="zh-TW" altLang="en-US" dirty="0"/>
              <a:t>檢查</a:t>
            </a:r>
            <a:r>
              <a:rPr kumimoji="1" lang="en-US" altLang="zh-TW" dirty="0"/>
              <a:t>image </a:t>
            </a:r>
            <a:r>
              <a:rPr kumimoji="1" lang="zh-TW" altLang="en-US" dirty="0"/>
              <a:t>上傳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F19F72F6-2A4A-61ED-9DA1-85056729F2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842" y="1825625"/>
            <a:ext cx="7184316" cy="4351338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CA5496A-671C-E235-8ABB-9B71AE137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150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0773601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C1325F-9AAE-9CF2-2719-53B11D16B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設定全域變數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B28433B-75B0-8FA7-B411-CB468B0FE6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variables:</a:t>
            </a:r>
          </a:p>
          <a:p>
            <a:pPr lvl="1"/>
            <a:r>
              <a:rPr lang="en-US" altLang="zh-TW" dirty="0"/>
              <a:t>FLASKNAME: flask-$CI_COMMIT_REF_NAME</a:t>
            </a:r>
            <a:endParaRPr kumimoji="1" lang="en-US" altLang="zh-TW" dirty="0"/>
          </a:p>
          <a:p>
            <a:pPr lvl="1"/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6AC618B-5708-77DA-199E-BD4806FFA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897" y="3095429"/>
            <a:ext cx="5270500" cy="812800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5397BA5-1967-CA39-0453-0DFE1C470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151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2914089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D2D376-1D36-3361-E330-D53B42530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部署</a:t>
            </a:r>
            <a:r>
              <a:rPr kumimoji="1" lang="en-US" altLang="zh-TW" dirty="0"/>
              <a:t> k8s namespace</a:t>
            </a:r>
            <a:endParaRPr kumimoji="1" lang="zh-TW" altLang="en-US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5F35F174-E663-0C92-2A01-1604048CBF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8250" y="2286794"/>
            <a:ext cx="7175500" cy="3429000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FB92CE5-747E-6348-A3A8-41E0BB956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152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7157699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138882-7DA3-9F12-ED53-CD79C17F6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部署</a:t>
            </a:r>
            <a:r>
              <a:rPr kumimoji="1" lang="en-US" altLang="zh-TW" dirty="0"/>
              <a:t>namespace </a:t>
            </a:r>
            <a:r>
              <a:rPr kumimoji="1" lang="zh-TW" altLang="en-US" dirty="0"/>
              <a:t>說明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B077E75-CF85-060F-4764-74805FBA8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使用 kubectl create namespace 動態建立</a:t>
            </a:r>
            <a:endParaRPr lang="en-US" altLang="zh-TW" dirty="0"/>
          </a:p>
          <a:p>
            <a:pPr lvl="1"/>
            <a:r>
              <a:t>kubectl create namespace $FLASKNAME --dry-run=client -o yaml | kubectl apply -f -</a:t>
            </a:r>
          </a:p>
          <a:p>
            <a:r>
              <a:t>檢查建立成果</a:t>
            </a:r>
            <a:endParaRPr lang="en-US" altLang="zh-TW" dirty="0"/>
          </a:p>
          <a:p>
            <a:pPr lvl="1"/>
            <a:r>
              <a:rPr kumimoji="1" lang="zh-TW" altLang="en-US" dirty="0"/>
              <a:t>kubectl get ns $FLASKNAME</a:t>
            </a:r>
            <a:endParaRPr kumimoji="1" lang="en-US" altLang="zh-TW" dirty="0"/>
          </a:p>
          <a:p>
            <a:endParaRPr lang="en-US" altLang="zh-TW" dirty="0"/>
          </a:p>
          <a:p>
            <a:pPr lvl="1"/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974976F-046B-EE0B-2105-68DB62522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153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7811586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832CDB-7FE5-9DE3-5138-47D50C3C1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檢查</a:t>
            </a:r>
            <a:r>
              <a:rPr kumimoji="1" lang="en-US" altLang="zh-TW" dirty="0"/>
              <a:t>namespace </a:t>
            </a:r>
            <a:r>
              <a:rPr kumimoji="1" lang="zh-TW" altLang="en-US" dirty="0"/>
              <a:t>建立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FCAAE54-5FC7-1454-4E45-7D07DD0F4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ns </a:t>
            </a:r>
          </a:p>
          <a:p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26BAF14-F18C-7841-FA12-76AE75DE1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771" y="2374900"/>
            <a:ext cx="6654800" cy="4483100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3EE8E7-E5A8-12B6-BF7E-94E8555D4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154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6361794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F03539-99D7-4B26-D490-144F969DF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平行並行</a:t>
            </a:r>
            <a:r>
              <a:rPr kumimoji="1" lang="en-US" altLang="zh-TW" dirty="0"/>
              <a:t>: </a:t>
            </a:r>
            <a:r>
              <a:rPr kumimoji="1" lang="zh-TW" altLang="en-US" dirty="0"/>
              <a:t>部署</a:t>
            </a:r>
            <a:r>
              <a:rPr kumimoji="1" lang="en-US" altLang="zh-TW" dirty="0"/>
              <a:t>k8s deployment </a:t>
            </a:r>
            <a:r>
              <a:rPr kumimoji="1" lang="zh-TW" altLang="en-US" dirty="0"/>
              <a:t>與 </a:t>
            </a:r>
            <a:r>
              <a:rPr kumimoji="1" lang="en-US" altLang="zh-TW" dirty="0"/>
              <a:t>service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2722F03-42E6-EDB6-7A63-EE8D533FB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Stage </a:t>
            </a:r>
            <a:r>
              <a:rPr kumimoji="1" lang="zh-TW" altLang="en-US" dirty="0"/>
              <a:t>皆設為</a:t>
            </a:r>
            <a:r>
              <a:rPr kumimoji="1" lang="en-US" altLang="zh-TW" dirty="0"/>
              <a:t>deploy</a:t>
            </a:r>
            <a:r>
              <a:rPr kumimoji="1" lang="zh-TW" altLang="en-US" dirty="0"/>
              <a:t>：無相依性，可同時並行</a:t>
            </a:r>
            <a:endParaRPr kumimoji="1" lang="en-US" altLang="zh-TW" dirty="0"/>
          </a:p>
          <a:p>
            <a:pPr lvl="1"/>
            <a:endParaRPr kumimoji="1" lang="en-US" altLang="zh-TW" dirty="0"/>
          </a:p>
          <a:p>
            <a:pPr lvl="1"/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7C1F69E-DACC-3B1F-59EA-84278752B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109" y="2491023"/>
            <a:ext cx="7773945" cy="1689635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9C950C3-AE26-C563-EEDF-61740FB46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155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4710154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你有遇到過多環境部署的問題嗎</a:t>
            </a:r>
            <a:r>
              <a:rPr dirty="0"/>
              <a:t>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dirty="0"/>
              <a:t>一個</a:t>
            </a:r>
            <a:r>
              <a:rPr lang="en" dirty="0"/>
              <a:t>App deployment </a:t>
            </a:r>
            <a:r>
              <a:rPr lang="en" dirty="0" err="1"/>
              <a:t>yaml</a:t>
            </a:r>
            <a:r>
              <a:rPr lang="zh-TW" altLang="en-US" dirty="0"/>
              <a:t>檔該如何部署出多套環境給不同情境 </a:t>
            </a:r>
            <a:r>
              <a:rPr lang="en-US" altLang="zh-TW" dirty="0"/>
              <a:t>(</a:t>
            </a:r>
            <a:r>
              <a:rPr lang="en" dirty="0"/>
              <a:t>e.g. dev, staging, testing, pre-prod, prod)？</a:t>
            </a:r>
          </a:p>
          <a:p>
            <a:pPr marL="0" indent="0">
              <a:buNone/>
            </a:pPr>
            <a:r>
              <a:rPr lang="zh-TW" altLang="en-US" dirty="0"/>
              <a:t>如果各個環境有需要設定不同的參數呢？</a:t>
            </a:r>
          </a:p>
          <a:p>
            <a:pPr marL="0" indent="0">
              <a:buNone/>
            </a:pPr>
            <a:r>
              <a:rPr lang="en" dirty="0"/>
              <a:t>e.g. deployment</a:t>
            </a:r>
            <a:r>
              <a:rPr lang="zh-TW" altLang="en-US" dirty="0"/>
              <a:t>名稱不同 </a:t>
            </a:r>
            <a:r>
              <a:rPr lang="en-US" altLang="zh-TW" dirty="0"/>
              <a:t>(</a:t>
            </a:r>
            <a:r>
              <a:rPr lang="en" dirty="0"/>
              <a:t>dev-</a:t>
            </a:r>
            <a:r>
              <a:rPr lang="en" dirty="0" err="1"/>
              <a:t>api</a:t>
            </a:r>
            <a:r>
              <a:rPr lang="en" dirty="0"/>
              <a:t>, staging-</a:t>
            </a:r>
            <a:r>
              <a:rPr lang="en" dirty="0" err="1"/>
              <a:t>api</a:t>
            </a:r>
            <a:r>
              <a:rPr lang="en" dirty="0"/>
              <a:t>, prod-</a:t>
            </a:r>
            <a:r>
              <a:rPr lang="en" dirty="0" err="1"/>
              <a:t>api</a:t>
            </a:r>
            <a:r>
              <a:rPr lang="en" dirty="0"/>
              <a:t>)</a:t>
            </a:r>
          </a:p>
          <a:p>
            <a:pPr marL="0" indent="0">
              <a:buNone/>
            </a:pPr>
            <a:r>
              <a:rPr lang="en" dirty="0"/>
              <a:t>image tag </a:t>
            </a:r>
            <a:r>
              <a:rPr lang="zh-TW" altLang="en-US" dirty="0"/>
              <a:t>版本不同</a:t>
            </a:r>
          </a:p>
        </p:txBody>
      </p:sp>
    </p:spTree>
    <p:extLst>
      <p:ext uri="{BB962C8B-B14F-4D97-AF65-F5344CB8AC3E}">
        <p14:creationId xmlns:p14="http://schemas.microsoft.com/office/powerpoint/2010/main" val="1049580366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傳統解決辦法與痛點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寫多份</a:t>
            </a:r>
            <a:r>
              <a:rPr dirty="0"/>
              <a:t> deployment </a:t>
            </a:r>
            <a:r>
              <a:rPr dirty="0" err="1"/>
              <a:t>yaml</a:t>
            </a:r>
            <a:r>
              <a:rPr dirty="0"/>
              <a:t>？</a:t>
            </a:r>
            <a:endParaRPr lang="en-US" dirty="0"/>
          </a:p>
          <a:p>
            <a:pPr lvl="1"/>
            <a:r>
              <a:rPr dirty="0" err="1"/>
              <a:t>需要維護多份檔案，容易遺漏且難以同步</a:t>
            </a:r>
            <a:endParaRPr lang="en-US" dirty="0"/>
          </a:p>
          <a:p>
            <a:r>
              <a:rPr dirty="0" err="1"/>
              <a:t>一份</a:t>
            </a:r>
            <a:r>
              <a:rPr dirty="0"/>
              <a:t> deployment </a:t>
            </a:r>
            <a:r>
              <a:rPr dirty="0" err="1"/>
              <a:t>yaml</a:t>
            </a:r>
            <a:r>
              <a:rPr dirty="0"/>
              <a:t> </a:t>
            </a:r>
            <a:r>
              <a:rPr dirty="0" err="1"/>
              <a:t>用</a:t>
            </a:r>
            <a:r>
              <a:rPr dirty="0"/>
              <a:t> sed replace？</a:t>
            </a:r>
            <a:endParaRPr lang="en-US" dirty="0"/>
          </a:p>
          <a:p>
            <a:pPr lvl="1"/>
            <a:r>
              <a:rPr dirty="0" err="1"/>
              <a:t>容易出錯，寫法脆弱，且會修改</a:t>
            </a:r>
            <a:r>
              <a:rPr dirty="0"/>
              <a:t>/</a:t>
            </a:r>
            <a:r>
              <a:rPr dirty="0" err="1"/>
              <a:t>破壞原始檔案結構</a:t>
            </a:r>
            <a:endParaRPr lang="en-US" dirty="0"/>
          </a:p>
          <a:p>
            <a:r>
              <a:rPr dirty="0" err="1"/>
              <a:t>打包成</a:t>
            </a:r>
            <a:r>
              <a:rPr dirty="0"/>
              <a:t> Helm chart？</a:t>
            </a:r>
            <a:endParaRPr lang="en-US" dirty="0"/>
          </a:p>
          <a:p>
            <a:pPr lvl="1"/>
            <a:r>
              <a:rPr dirty="0" err="1"/>
              <a:t>學習曲線較陡，對單純的部署來說複雜度過高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86927410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Kustomize 簡介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讓無模板的</a:t>
            </a:r>
            <a:r>
              <a:rPr dirty="0"/>
              <a:t> </a:t>
            </a:r>
            <a:r>
              <a:rPr dirty="0" err="1"/>
              <a:t>yaml</a:t>
            </a:r>
            <a:r>
              <a:rPr dirty="0"/>
              <a:t> </a:t>
            </a:r>
            <a:r>
              <a:rPr dirty="0" err="1"/>
              <a:t>可以支援多種用途</a:t>
            </a:r>
            <a:endParaRPr dirty="0"/>
          </a:p>
          <a:p>
            <a:r>
              <a:rPr dirty="0"/>
              <a:t>CNCF special interest groups (SIGs) </a:t>
            </a:r>
            <a:r>
              <a:rPr dirty="0" err="1"/>
              <a:t>贊助</a:t>
            </a:r>
            <a:endParaRPr dirty="0"/>
          </a:p>
          <a:p>
            <a:r>
              <a:rPr dirty="0"/>
              <a:t>Kubernetes 1.14 </a:t>
            </a:r>
            <a:r>
              <a:rPr dirty="0" err="1"/>
              <a:t>版開始原生支援</a:t>
            </a:r>
            <a:r>
              <a:rPr dirty="0"/>
              <a:t> (</a:t>
            </a:r>
            <a:r>
              <a:rPr dirty="0" err="1"/>
              <a:t>kubectl</a:t>
            </a:r>
            <a:r>
              <a:rPr dirty="0"/>
              <a:t> apply -k)</a:t>
            </a:r>
          </a:p>
          <a:p>
            <a:r>
              <a:rPr dirty="0" err="1"/>
              <a:t>透過</a:t>
            </a:r>
            <a:r>
              <a:rPr dirty="0"/>
              <a:t> </a:t>
            </a:r>
            <a:r>
              <a:rPr dirty="0" err="1"/>
              <a:t>kustomization.yaml</a:t>
            </a:r>
            <a:r>
              <a:rPr dirty="0"/>
              <a:t> </a:t>
            </a:r>
            <a:r>
              <a:rPr dirty="0" err="1"/>
              <a:t>宣告式地動態注入或覆寫參數，不破壞原始</a:t>
            </a:r>
            <a:r>
              <a:rPr dirty="0"/>
              <a:t> </a:t>
            </a:r>
            <a:r>
              <a:rPr dirty="0" err="1"/>
              <a:t>yaml</a:t>
            </a:r>
            <a:r>
              <a:rPr dirty="0"/>
              <a:t> </a:t>
            </a:r>
            <a:r>
              <a:rPr dirty="0" err="1"/>
              <a:t>結構</a:t>
            </a:r>
            <a:r>
              <a:rPr dirty="0"/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640627016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kustomization.yaml</a:t>
            </a:r>
            <a:r>
              <a:rPr dirty="0"/>
              <a:t> </a:t>
            </a:r>
            <a:r>
              <a:rPr dirty="0" err="1"/>
              <a:t>核心功能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resources: </a:t>
            </a:r>
            <a:r>
              <a:rPr dirty="0" err="1"/>
              <a:t>載入現有資源</a:t>
            </a:r>
            <a:r>
              <a:rPr dirty="0"/>
              <a:t> (</a:t>
            </a:r>
            <a:r>
              <a:rPr dirty="0" err="1"/>
              <a:t>如</a:t>
            </a:r>
            <a:r>
              <a:rPr dirty="0"/>
              <a:t> </a:t>
            </a:r>
            <a:r>
              <a:rPr dirty="0" err="1"/>
              <a:t>deployment.yaml</a:t>
            </a:r>
            <a:r>
              <a:rPr dirty="0"/>
              <a:t>)</a:t>
            </a:r>
          </a:p>
          <a:p>
            <a:r>
              <a:rPr dirty="0"/>
              <a:t>generators: </a:t>
            </a:r>
            <a:r>
              <a:rPr dirty="0" err="1"/>
              <a:t>創建新資源</a:t>
            </a:r>
            <a:r>
              <a:rPr dirty="0"/>
              <a:t> (</a:t>
            </a:r>
            <a:r>
              <a:rPr dirty="0" err="1"/>
              <a:t>如</a:t>
            </a:r>
            <a:r>
              <a:rPr dirty="0"/>
              <a:t> </a:t>
            </a:r>
            <a:r>
              <a:rPr dirty="0" err="1"/>
              <a:t>ConfigMap</a:t>
            </a:r>
            <a:r>
              <a:rPr dirty="0"/>
              <a:t>, Secret)</a:t>
            </a:r>
          </a:p>
          <a:p>
            <a:r>
              <a:rPr dirty="0"/>
              <a:t>images: </a:t>
            </a:r>
            <a:r>
              <a:rPr dirty="0" err="1"/>
              <a:t>動態替換</a:t>
            </a:r>
            <a:r>
              <a:rPr dirty="0"/>
              <a:t> Image </a:t>
            </a:r>
            <a:r>
              <a:rPr dirty="0" err="1"/>
              <a:t>名稱與</a:t>
            </a:r>
            <a:r>
              <a:rPr dirty="0"/>
              <a:t> Tag (CI/CD </a:t>
            </a:r>
            <a:r>
              <a:rPr dirty="0" err="1"/>
              <a:t>最常用</a:t>
            </a:r>
            <a:r>
              <a:rPr dirty="0"/>
              <a:t>！)</a:t>
            </a:r>
          </a:p>
          <a:p>
            <a:r>
              <a:rPr dirty="0" err="1"/>
              <a:t>namePrefix</a:t>
            </a:r>
            <a:r>
              <a:rPr dirty="0"/>
              <a:t> / </a:t>
            </a:r>
            <a:r>
              <a:rPr dirty="0" err="1"/>
              <a:t>nameSuffix</a:t>
            </a:r>
            <a:r>
              <a:rPr dirty="0"/>
              <a:t>: </a:t>
            </a:r>
            <a:r>
              <a:rPr dirty="0" err="1"/>
              <a:t>統一加上前綴或後綴</a:t>
            </a:r>
            <a:endParaRPr lang="en-US" dirty="0"/>
          </a:p>
          <a:p>
            <a:r>
              <a:rPr dirty="0" err="1"/>
              <a:t>commonLabels</a:t>
            </a:r>
            <a:r>
              <a:rPr dirty="0"/>
              <a:t>: </a:t>
            </a:r>
            <a:r>
              <a:rPr dirty="0" err="1"/>
              <a:t>統一加上標籤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21124487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2F3217-D582-6E81-C9F9-3233A92B0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deployment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DF6ADB-534A-DB2A-7CAE-5C9993DA3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dirty="0" err="1"/>
              <a:t>使用</a:t>
            </a:r>
            <a:r>
              <a:rPr dirty="0"/>
              <a:t> </a:t>
            </a:r>
            <a:r>
              <a:rPr dirty="0" err="1"/>
              <a:t>Kustomize</a:t>
            </a:r>
            <a:r>
              <a:rPr dirty="0"/>
              <a:t> (</a:t>
            </a:r>
            <a:r>
              <a:rPr dirty="0" err="1"/>
              <a:t>kustomization.yaml</a:t>
            </a:r>
            <a:r>
              <a:rPr dirty="0"/>
              <a:t>) </a:t>
            </a:r>
            <a:r>
              <a:rPr dirty="0" err="1"/>
              <a:t>動態替換</a:t>
            </a:r>
            <a:r>
              <a:rPr dirty="0"/>
              <a:t> Image Tag</a:t>
            </a:r>
            <a:endParaRPr lang="en-US" altLang="zh-TW" dirty="0"/>
          </a:p>
          <a:p>
            <a:pPr lvl="1"/>
            <a:r>
              <a:rPr dirty="0" err="1"/>
              <a:t>kubectl</a:t>
            </a:r>
            <a:r>
              <a:rPr dirty="0"/>
              <a:t> apply -k . -n $FLASKNAME</a:t>
            </a:r>
            <a:br>
              <a:rPr dirty="0"/>
            </a:br>
            <a:r>
              <a:rPr dirty="0" err="1"/>
              <a:t>動態注入變數</a:t>
            </a:r>
            <a:endParaRPr kumimoji="1" lang="en-US" altLang="zh-TW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D77AE42-A1C0-18F8-6500-2C2414678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160</a:t>
            </a:fld>
            <a:endParaRPr lang="zh-TW" altLang="en-US"/>
          </a:p>
        </p:txBody>
      </p:sp>
      <p:pic>
        <p:nvPicPr>
          <p:cNvPr id="8" name="圖片版面配置區 7">
            <a:extLst>
              <a:ext uri="{FF2B5EF4-FFF2-40B4-BE49-F238E27FC236}">
                <a16:creationId xmlns:a16="http://schemas.microsoft.com/office/drawing/2014/main" id="{912C4E42-8E7E-DAD6-24FC-E1BA337240C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7681" b="7681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608060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7CB50A-42FC-DDD2-54DD-D27BA058B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Pipeline deployment</a:t>
            </a:r>
            <a:endParaRPr kumimoji="1" lang="zh-TW" altLang="en-US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CE9F3D14-1654-C625-D728-56887913E2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43867" y="1825625"/>
            <a:ext cx="5104266" cy="4351338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2C4A81A-57D1-FDA6-BBC1-E1EACE016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953543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C87DCB-6AD2-B185-DB56-F97427367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service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C1F4D26-FF3E-52FC-0D45-0EA4CFA423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無需替換</a:t>
            </a:r>
            <a:endParaRPr kumimoji="1" lang="en-US" altLang="zh-TW" dirty="0"/>
          </a:p>
          <a:p>
            <a:r>
              <a:rPr kumimoji="1" lang="zh-TW" altLang="en-US" dirty="0"/>
              <a:t>部署完成用</a:t>
            </a:r>
            <a:r>
              <a:rPr kumimoji="1" lang="en-US" altLang="zh-TW" dirty="0" err="1"/>
              <a:t>kubectl</a:t>
            </a:r>
            <a:r>
              <a:rPr kumimoji="1" lang="en-US" altLang="zh-TW" dirty="0"/>
              <a:t> get </a:t>
            </a:r>
            <a:r>
              <a:rPr kumimoji="1" lang="en-US" altLang="zh-TW" dirty="0" err="1"/>
              <a:t>servce</a:t>
            </a:r>
            <a:r>
              <a:rPr kumimoji="1" lang="en-US" altLang="zh-TW" dirty="0"/>
              <a:t> -n $FLASKNAME </a:t>
            </a:r>
            <a:r>
              <a:rPr kumimoji="1" lang="zh-TW" altLang="en-US" dirty="0"/>
              <a:t>資訊</a:t>
            </a:r>
            <a:endParaRPr kumimoji="1" lang="en-US" altLang="zh-TW" dirty="0"/>
          </a:p>
          <a:p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91D43E7-3B6C-F215-AF51-1456FC46F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6200" y="3051175"/>
            <a:ext cx="6959600" cy="3441700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327C076-F14D-FED2-21D4-77D73910C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5264520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789D5A-AE16-860C-D72E-89CC7D61C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Job </a:t>
            </a:r>
            <a:r>
              <a:rPr kumimoji="1" lang="zh-TW" altLang="en-US" dirty="0"/>
              <a:t>檢查</a:t>
            </a:r>
            <a:r>
              <a:rPr kumimoji="1" lang="en-US" altLang="zh-TW" dirty="0"/>
              <a:t>service</a:t>
            </a:r>
            <a:r>
              <a:rPr kumimoji="1" lang="zh-TW" altLang="en-US" dirty="0"/>
              <a:t>狀態</a:t>
            </a:r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C85A0E7A-8CA8-3959-EB42-326DD34C90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22428" y="1825625"/>
            <a:ext cx="5147144" cy="4351338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FD138B5-F422-9419-243D-0AF0FD089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9667257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693024-2D29-3A52-A952-0502FAFA0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檢查</a:t>
            </a:r>
            <a:r>
              <a:rPr kumimoji="1" lang="en-US" altLang="zh-TW" dirty="0"/>
              <a:t>deployment </a:t>
            </a:r>
            <a:r>
              <a:rPr kumimoji="1" lang="zh-TW" altLang="en-US" dirty="0"/>
              <a:t>與 </a:t>
            </a:r>
            <a:r>
              <a:rPr kumimoji="1" lang="en-US" altLang="zh-TW" dirty="0"/>
              <a:t>service 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33E5559-172C-F309-CFAE-5A29BEA8B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all -n flask-master</a:t>
            </a:r>
          </a:p>
          <a:p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BF1CD82-4E1E-0178-832D-897E61136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73177"/>
            <a:ext cx="12192000" cy="3903903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9209240-3F04-67FB-C006-145AC615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5755920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2D78F2-5DF3-3365-9C3A-16AF73036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至</a:t>
            </a:r>
            <a:r>
              <a:rPr kumimoji="1" lang="en-US" altLang="zh-TW" dirty="0"/>
              <a:t>VM2 </a:t>
            </a:r>
            <a:r>
              <a:rPr kumimoji="1" lang="zh-TW" altLang="en-US" dirty="0"/>
              <a:t>進行連線測試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A75AE40-4720-FC27-17FD-6CC423255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curl 127.0.0.1:32437</a:t>
            </a:r>
          </a:p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83FECED-1E95-FE96-1DCD-05D934077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4750" y="2952750"/>
            <a:ext cx="7302500" cy="952500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202CB11-939E-8ADE-3292-F79308ADA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2475577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SonarQube</a:t>
            </a:r>
          </a:p>
        </p:txBody>
      </p:sp>
      <p:sp>
        <p:nvSpPr>
          <p:cNvPr id="858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+mj-lt"/>
                <a:ea typeface="+mj-ea"/>
                <a:cs typeface="+mj-cs"/>
                <a:sym typeface="Helvetica"/>
              </a:rPr>
              <a:t>開源的程式碼品質管理系統</a:t>
            </a:r>
          </a:p>
          <a:p>
            <a:r>
              <a:t>SonarQube Server</a:t>
            </a:r>
          </a:p>
          <a:p>
            <a:pPr marL="742950" lvl="1" indent="-285750">
              <a:defRPr sz="2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收集數據及呈現</a:t>
            </a:r>
          </a:p>
          <a:p>
            <a:r>
              <a:t>SonarQube Runner</a:t>
            </a:r>
          </a:p>
          <a:p>
            <a:pPr marL="742950" lvl="1" indent="-285750">
              <a:defRPr sz="2800"/>
            </a:pPr>
            <a:r>
              <a:t>Agent</a:t>
            </a:r>
          </a:p>
          <a:p>
            <a:pPr marL="742950" lvl="1" indent="-285750">
              <a:defRPr sz="2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檢驗程式碼</a:t>
            </a:r>
          </a:p>
        </p:txBody>
      </p:sp>
      <p:sp>
        <p:nvSpPr>
          <p:cNvPr id="859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46C7743-941D-50C4-E7BE-6D74EEA69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4020472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SonarQube</a:t>
            </a:r>
            <a:r>
              <a:rPr lang="zh-TW" altLang="en-US" dirty="0"/>
              <a:t> </a:t>
            </a:r>
            <a:r>
              <a:rPr lang="en-US" altLang="zh-TW" dirty="0"/>
              <a:t>scan</a:t>
            </a:r>
            <a:r>
              <a:rPr lang="zh-TW" altLang="en-US" dirty="0"/>
              <a:t> </a:t>
            </a:r>
            <a:r>
              <a:rPr lang="en-US" altLang="zh-TW" dirty="0"/>
              <a:t>flow</a:t>
            </a:r>
            <a:endParaRPr dirty="0"/>
          </a:p>
        </p:txBody>
      </p:sp>
      <p:sp>
        <p:nvSpPr>
          <p:cNvPr id="86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EE202C6E-6F07-A430-2765-06EB00124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339" y="1853525"/>
            <a:ext cx="9014259" cy="3511493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560EC6C-9C9D-9600-9835-283C4F732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8498895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296598-91B5-700D-E41A-008AC2F17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部署</a:t>
            </a:r>
            <a:r>
              <a:rPr kumimoji="1" lang="en-US" altLang="zh-TW" dirty="0"/>
              <a:t>SonarQube server</a:t>
            </a:r>
            <a:endParaRPr kumimoji="1"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E5EC46A-DF12-1A73-AE43-A7B7A8320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168</a:t>
            </a:fld>
            <a:endParaRPr lang="zh-TW" altLang="en-US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F5858EAD-2CF9-9535-CC99-FFD077A69E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4300" y="2413794"/>
            <a:ext cx="9423400" cy="3175000"/>
          </a:xfrm>
        </p:spPr>
      </p:pic>
    </p:spTree>
    <p:extLst>
      <p:ext uri="{BB962C8B-B14F-4D97-AF65-F5344CB8AC3E}">
        <p14:creationId xmlns:p14="http://schemas.microsoft.com/office/powerpoint/2010/main" val="838923480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>
                <a:latin typeface="+mj-lt"/>
                <a:ea typeface="+mj-ea"/>
                <a:cs typeface="+mj-cs"/>
                <a:sym typeface="Helvetica"/>
              </a:rPr>
              <a:t>VM1 </a:t>
            </a:r>
            <a:r>
              <a:rPr lang="en-US" dirty="0" err="1">
                <a:sym typeface="Helvetica"/>
              </a:rPr>
              <a:t>上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部署</a:t>
            </a:r>
            <a:r>
              <a:rPr dirty="0" err="1"/>
              <a:t>SonarQube</a:t>
            </a:r>
            <a:r>
              <a:rPr dirty="0"/>
              <a:t> Server</a:t>
            </a:r>
          </a:p>
        </p:txBody>
      </p:sp>
      <p:sp>
        <p:nvSpPr>
          <p:cNvPr id="868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docker run -</a:t>
            </a:r>
            <a:r>
              <a:rPr dirty="0" err="1"/>
              <a:t>itd</a:t>
            </a:r>
            <a:r>
              <a:rPr dirty="0"/>
              <a:t> -p 9000:9000 --restart always --name </a:t>
            </a:r>
            <a:r>
              <a:rPr dirty="0" err="1"/>
              <a:t>sonarqube</a:t>
            </a:r>
            <a:r>
              <a:rPr dirty="0"/>
              <a:t> sonarqube</a:t>
            </a:r>
            <a:r>
              <a:rPr lang="en-US" dirty="0"/>
              <a:t>:9-community</a:t>
            </a:r>
          </a:p>
          <a:p>
            <a:endParaRPr dirty="0"/>
          </a:p>
        </p:txBody>
      </p:sp>
      <p:sp>
        <p:nvSpPr>
          <p:cNvPr id="869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FBF88FC-376E-A65F-0020-1EAED66C3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01297"/>
            <a:ext cx="9479057" cy="2916071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2D24A3D-BCF3-C201-05D7-7E7D99423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6856489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kumimoji="1" lang="en-US" altLang="zh-TW" dirty="0"/>
              <a:t>(SonarQube) </a:t>
            </a:r>
            <a:r>
              <a:rPr dirty="0" err="1"/>
              <a:t>SonaQube</a:t>
            </a:r>
            <a:r>
              <a:rPr dirty="0"/>
              <a:t> </a:t>
            </a:r>
            <a:r>
              <a:rPr dirty="0" err="1"/>
              <a:t>server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頁面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87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993C9BD2-90AC-04B7-D527-AEFFF487D60D}"/>
              </a:ext>
            </a:extLst>
          </p:cNvPr>
          <p:cNvSpPr txBox="1"/>
          <p:nvPr/>
        </p:nvSpPr>
        <p:spPr>
          <a:xfrm>
            <a:off x="3832260" y="1595601"/>
            <a:ext cx="2667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TW" dirty="0"/>
              <a:t>http://{VM1</a:t>
            </a:r>
            <a:r>
              <a:rPr kumimoji="1" lang="zh-TW" altLang="en-US" dirty="0"/>
              <a:t>外部</a:t>
            </a:r>
            <a:r>
              <a:rPr kumimoji="1" lang="en-US" altLang="zh-TW" dirty="0"/>
              <a:t>IP</a:t>
            </a:r>
            <a:r>
              <a:rPr kumimoji="1" lang="en" altLang="zh-TW" dirty="0"/>
              <a:t>}:9000/</a:t>
            </a:r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FED6815-6795-8973-4D05-9CC4DF586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5358" y="2379838"/>
            <a:ext cx="7035800" cy="233680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B4EB425-0C94-A443-7378-CB654FCFE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4771735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kumimoji="1" lang="en-US" altLang="zh-TW" dirty="0"/>
              <a:t>(SonarQube) </a:t>
            </a:r>
            <a:r>
              <a:rPr dirty="0" err="1"/>
              <a:t>SonaQube</a:t>
            </a:r>
            <a:r>
              <a:rPr dirty="0"/>
              <a:t> server login</a:t>
            </a:r>
          </a:p>
        </p:txBody>
      </p:sp>
      <p:sp>
        <p:nvSpPr>
          <p:cNvPr id="879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>
                <a:latin typeface="+mj-lt"/>
                <a:ea typeface="+mj-ea"/>
                <a:cs typeface="+mj-cs"/>
                <a:sym typeface="Helvetica"/>
              </a:rPr>
              <a:t>預設帳號</a:t>
            </a:r>
            <a:r>
              <a:rPr dirty="0" err="1"/>
              <a:t>:admin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、預設密碼</a:t>
            </a:r>
            <a:r>
              <a:rPr dirty="0" err="1"/>
              <a:t>:admin</a:t>
            </a:r>
            <a:endParaRPr lang="en-US" dirty="0"/>
          </a:p>
          <a:p>
            <a:endParaRPr dirty="0"/>
          </a:p>
        </p:txBody>
      </p:sp>
      <p:sp>
        <p:nvSpPr>
          <p:cNvPr id="880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C14538F4-6CB5-88EC-6C56-384F89A60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4983" y="2885948"/>
            <a:ext cx="4082034" cy="2405836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1B88C32-A92D-CAB0-8B0C-0653440B4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1588244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kumimoji="1" lang="en-US" altLang="zh-TW" dirty="0"/>
              <a:t>(SonarQube) </a:t>
            </a:r>
            <a:r>
              <a:rPr dirty="0" err="1"/>
              <a:t>SonaQube</a:t>
            </a:r>
            <a:r>
              <a:rPr dirty="0"/>
              <a:t> server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頁面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886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191EE92-9AEB-7358-3282-753061709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636" y="1690688"/>
            <a:ext cx="7772400" cy="4446171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623A9D2-3463-5076-CE51-BD7092F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9834768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5D58FB-52DF-B4FE-579F-3571F2E08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(SonarQube)</a:t>
            </a:r>
            <a:r>
              <a:rPr kumimoji="1" lang="zh-TW" altLang="en-US" dirty="0"/>
              <a:t>選擇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 project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C494F199-7B66-FEEA-0C8D-9E6AC7B13D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9748" y="1825625"/>
            <a:ext cx="7812503" cy="4351338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C557332-88CF-8EDA-550A-C3EC7AC8B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7591497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83E052-9547-F557-3FEA-570246666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填入 </a:t>
            </a:r>
            <a:r>
              <a:rPr kumimoji="1" lang="en-US" altLang="zh-TW" dirty="0" err="1"/>
              <a:t>api</a:t>
            </a:r>
            <a:r>
              <a:rPr kumimoji="1" lang="en-US" altLang="zh-TW" dirty="0"/>
              <a:t> </a:t>
            </a:r>
            <a:r>
              <a:rPr kumimoji="1" lang="en-US" altLang="zh-TW" dirty="0" err="1"/>
              <a:t>url</a:t>
            </a:r>
            <a:r>
              <a:rPr kumimoji="1" lang="zh-TW" altLang="en-US" dirty="0"/>
              <a:t>及 </a:t>
            </a:r>
            <a:r>
              <a:rPr kumimoji="1" lang="en-US" altLang="zh-TW" dirty="0"/>
              <a:t>personal access token</a:t>
            </a:r>
            <a:endParaRPr kumimoji="1"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62E6EE6-954D-5B53-1C45-0BAE69D9B3CA}"/>
              </a:ext>
            </a:extLst>
          </p:cNvPr>
          <p:cNvSpPr txBox="1"/>
          <p:nvPr/>
        </p:nvSpPr>
        <p:spPr>
          <a:xfrm>
            <a:off x="3575407" y="1818526"/>
            <a:ext cx="43241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TW" dirty="0"/>
              <a:t>Configuration Name: </a:t>
            </a:r>
            <a:r>
              <a:rPr kumimoji="1" lang="en" altLang="zh-TW" dirty="0" err="1"/>
              <a:t>gitlab</a:t>
            </a:r>
            <a:br>
              <a:rPr kumimoji="1" lang="en" altLang="zh-TW" dirty="0"/>
            </a:br>
            <a:r>
              <a:rPr kumimoji="1" lang="en" altLang="zh-TW" dirty="0"/>
              <a:t>GitLab API URL: https://{VM1</a:t>
            </a:r>
            <a:r>
              <a:rPr kumimoji="1" lang="zh-TW" altLang="en-US" dirty="0"/>
              <a:t>外部</a:t>
            </a:r>
            <a:r>
              <a:rPr kumimoji="1" lang="en-US" altLang="zh-TW" dirty="0"/>
              <a:t>IP</a:t>
            </a:r>
            <a:r>
              <a:rPr kumimoji="1" lang="en" altLang="zh-TW" dirty="0"/>
              <a:t>}/</a:t>
            </a:r>
            <a:r>
              <a:rPr kumimoji="1" lang="en" altLang="zh-TW" dirty="0" err="1"/>
              <a:t>api</a:t>
            </a:r>
            <a:r>
              <a:rPr kumimoji="1" lang="en" altLang="zh-TW" dirty="0"/>
              <a:t>/v4</a:t>
            </a:r>
            <a:endParaRPr kumimoji="1" lang="zh-TW" altLang="en-US" dirty="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B2E17C22-B442-7F2C-141F-E6A3B1422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047" y="2543175"/>
            <a:ext cx="5283200" cy="394970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645F1D5-F1DF-D4F6-041B-E34BB92AA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356141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8244A4-43FD-939A-867C-C9894BDBF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取得</a:t>
            </a:r>
            <a:r>
              <a:rPr kumimoji="1" lang="en-US" altLang="zh-TW" dirty="0"/>
              <a:t>GitLab personal access token</a:t>
            </a:r>
            <a:endParaRPr kumimoji="1" lang="zh-TW" alt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B0021D7-6222-3426-A89D-4FACD3BC72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</a:rPr>
              <a:t>Token</a:t>
            </a:r>
            <a:r>
              <a:rPr lang="zh-TW" altLang="en-US" dirty="0">
                <a:solidFill>
                  <a:schemeClr val="tx1"/>
                </a:solidFill>
              </a:rPr>
              <a:t>等同於擁有這個帳號的權限。但比密碼更佳的時候可以設定授權範圍與時效。並且隨時可以終止授權。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1EA6AC0-E9A2-623D-C3A3-338191028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0531867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434340">
              <a:defRPr sz="3989"/>
            </a:pPr>
            <a:r>
              <a:rPr lang="en-US" altLang="zh-TW" dirty="0"/>
              <a:t>(GitLab) </a:t>
            </a:r>
            <a:r>
              <a:rPr dirty="0"/>
              <a:t>Gitlab and Jenkins hook together – </a:t>
            </a:r>
            <a:r>
              <a:rPr dirty="0" err="1"/>
              <a:t>gitlab</a:t>
            </a:r>
            <a:r>
              <a:rPr dirty="0"/>
              <a:t> user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產生</a:t>
            </a:r>
            <a:r>
              <a:rPr dirty="0" err="1"/>
              <a:t>Access</a:t>
            </a:r>
            <a:r>
              <a:rPr dirty="0"/>
              <a:t> token - 1</a:t>
            </a:r>
          </a:p>
        </p:txBody>
      </p:sp>
      <p:sp>
        <p:nvSpPr>
          <p:cNvPr id="753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B08AAEAE-68A1-2928-8F25-62DF63B72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02" y="1920575"/>
            <a:ext cx="4020407" cy="3510778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5C14D389-66A1-0AD3-EDC1-B222E3B5B6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741" y="2248850"/>
            <a:ext cx="7272495" cy="311563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DDB9A28-A297-CF3D-125E-E13EACD23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0188679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397763">
              <a:defRPr sz="3654"/>
            </a:pPr>
            <a:r>
              <a:rPr lang="en-US" altLang="zh-TW" dirty="0"/>
              <a:t>(GitLab) </a:t>
            </a:r>
            <a:r>
              <a:rPr dirty="0"/>
              <a:t>Gitlab and Jenkins hook together –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設定此</a:t>
            </a:r>
            <a:r>
              <a:rPr dirty="0" err="1"/>
              <a:t>token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權限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759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370EB0F3-C56A-0A93-D82D-CBA2613218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4846" y="1592104"/>
            <a:ext cx="8384190" cy="486283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A3A5033-AD01-91F6-4F3C-0DCB44603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1365775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標題 1"/>
          <p:cNvSpPr txBox="1">
            <a:spLocks noGrp="1"/>
          </p:cNvSpPr>
          <p:nvPr>
            <p:ph type="title"/>
          </p:nvPr>
        </p:nvSpPr>
        <p:spPr>
          <a:xfrm>
            <a:off x="838200" y="429358"/>
            <a:ext cx="10515600" cy="1325563"/>
          </a:xfrm>
          <a:prstGeom prst="rect">
            <a:avLst/>
          </a:prstGeom>
        </p:spPr>
        <p:txBody>
          <a:bodyPr/>
          <a:lstStyle/>
          <a:p>
            <a:pPr defTabSz="397763">
              <a:defRPr sz="3654"/>
            </a:pPr>
            <a:r>
              <a:rPr lang="en-US" altLang="zh-TW" dirty="0"/>
              <a:t>(GitLab) </a:t>
            </a:r>
            <a:r>
              <a:rPr dirty="0"/>
              <a:t>Gitlab and Jenkins hook together –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把</a:t>
            </a:r>
            <a:r>
              <a:rPr dirty="0" err="1"/>
              <a:t>token</a:t>
            </a:r>
            <a:r>
              <a:rPr dirty="0"/>
              <a:t>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另存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76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19DD1AA-3E0C-9C44-0F86-97A9F503F0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43100"/>
            <a:ext cx="9408324" cy="3732857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4E1A7B5F-8EFD-AB49-B028-912220C81DE2}"/>
              </a:ext>
            </a:extLst>
          </p:cNvPr>
          <p:cNvSpPr txBox="1"/>
          <p:nvPr/>
        </p:nvSpPr>
        <p:spPr>
          <a:xfrm>
            <a:off x="8647852" y="2828836"/>
            <a:ext cx="32393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這把 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token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zh-CN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等同於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root</a:t>
            </a:r>
            <a:r>
              <a:rPr kumimoji="1" lang="zh-CN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帳號的密碼，為了安全，</a:t>
            </a:r>
            <a:r>
              <a:rPr kumimoji="1" lang="en-US" altLang="zh-TW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gitlab</a:t>
            </a:r>
            <a:r>
              <a:rPr kumimoji="1" lang="zh-CN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不會保存這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token</a:t>
            </a:r>
            <a:r>
              <a:rPr kumimoji="1" lang="zh-CN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．如果遺失就需要重新申請．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FA6F5C4-477B-7E3D-968F-A352A3FF6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81158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388620">
              <a:defRPr sz="3570"/>
            </a:pPr>
            <a:r>
              <a:rPr lang="en-US" dirty="0"/>
              <a:t>(GitLab)</a:t>
            </a:r>
            <a:r>
              <a:rPr dirty="0"/>
              <a:t>Gitlab and Jenkins hook together –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得到</a:t>
            </a:r>
            <a:r>
              <a:rPr dirty="0" err="1"/>
              <a:t>token</a:t>
            </a:r>
            <a:br>
              <a:rPr dirty="0"/>
            </a:br>
            <a:endParaRPr dirty="0"/>
          </a:p>
        </p:txBody>
      </p:sp>
      <p:sp>
        <p:nvSpPr>
          <p:cNvPr id="769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7E2E525-B12F-BAA8-D60F-68DB6914C6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847" y="1212841"/>
            <a:ext cx="11816153" cy="4705074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F42103D-35FF-FDE2-7B03-FC8DA2ADA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3062959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52D665-AF58-F540-6CB5-59AD7E913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把</a:t>
            </a:r>
            <a:r>
              <a:rPr kumimoji="1" lang="en-US" altLang="zh-TW" dirty="0"/>
              <a:t>Personal Access Token</a:t>
            </a:r>
            <a:r>
              <a:rPr kumimoji="1" lang="zh-TW" altLang="en-US" dirty="0"/>
              <a:t>也填上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CE5585FD-0AA9-9DCD-B1B7-601287EB16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5961" y="1825625"/>
            <a:ext cx="6960078" cy="4351338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AFC68D4-F07A-3E42-DB00-09C83A127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180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4174719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1A8072-2F6E-BF87-FDCE-A95D95F29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SonarQube </a:t>
            </a:r>
            <a:r>
              <a:rPr kumimoji="1" lang="zh-TW" altLang="en-US" dirty="0"/>
              <a:t>能夠取得</a:t>
            </a:r>
            <a:r>
              <a:rPr kumimoji="1" lang="en-US" altLang="zh-TW" dirty="0"/>
              <a:t>Gitlab repo</a:t>
            </a:r>
            <a:r>
              <a:rPr kumimoji="1" lang="zh-TW" altLang="en-US" dirty="0"/>
              <a:t>資訊，點擊</a:t>
            </a:r>
            <a:r>
              <a:rPr kumimoji="1" lang="en-US" altLang="zh-TW" dirty="0"/>
              <a:t>Set up</a:t>
            </a:r>
            <a:r>
              <a:rPr kumimoji="1" lang="zh-TW" altLang="en-US" dirty="0"/>
              <a:t>作</a:t>
            </a:r>
            <a:r>
              <a:rPr kumimoji="1" lang="en-US" altLang="zh-TW" dirty="0"/>
              <a:t>repo</a:t>
            </a:r>
            <a:r>
              <a:rPr kumimoji="1" lang="zh-TW" altLang="en-US" dirty="0"/>
              <a:t>串接設定</a:t>
            </a:r>
          </a:p>
        </p:txBody>
      </p:sp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E96D1EAF-2826-ED1A-6712-E30815A713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6950" y="2318544"/>
            <a:ext cx="10198100" cy="336550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1F9BC96-B420-B29C-BACA-154BD1F42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181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3426719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6B4E2F-74A8-D009-0B7C-74612843C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(SonarQube)</a:t>
            </a:r>
            <a:r>
              <a:rPr kumimoji="1" lang="zh-TW" altLang="en-US" dirty="0"/>
              <a:t>選擇使用</a:t>
            </a:r>
            <a:r>
              <a:rPr kumimoji="1" lang="en-US" altLang="zh-TW" dirty="0"/>
              <a:t>GitLab CI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2189B927-324E-57F5-E80A-4084D29882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3592" y="1825625"/>
            <a:ext cx="8224815" cy="4351338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F350930-9A5F-5947-828E-6BE1A65F5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182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9421979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3106C5-A7B1-6107-9ECF-87C4F06C6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(SonarQube)</a:t>
            </a:r>
            <a:r>
              <a:rPr kumimoji="1" lang="zh-TW" altLang="en-US" dirty="0"/>
              <a:t>選擇</a:t>
            </a:r>
            <a:r>
              <a:rPr kumimoji="1" lang="en-US" altLang="zh-TW" dirty="0"/>
              <a:t>Python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2E14D08C-4894-D59E-5017-F1A0A3F7B3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8736" y="1825625"/>
            <a:ext cx="5914528" cy="4351338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674FE78-9446-EF5D-E466-E16751537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183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7419978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020B07-875C-69A8-392D-0D5FC2A8F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3217"/>
            <a:ext cx="10515600" cy="1325563"/>
          </a:xfrm>
        </p:spPr>
        <p:txBody>
          <a:bodyPr/>
          <a:lstStyle/>
          <a:p>
            <a:r>
              <a:rPr kumimoji="1" lang="en-US" altLang="zh-TW" dirty="0"/>
              <a:t>(SonarQube)</a:t>
            </a:r>
            <a:r>
              <a:rPr kumimoji="1" lang="zh-TW" altLang="en-US" dirty="0"/>
              <a:t>保存</a:t>
            </a:r>
            <a:r>
              <a:rPr kumimoji="1" lang="en-US" altLang="zh-TW" dirty="0" err="1"/>
              <a:t>projectKey</a:t>
            </a:r>
            <a:endParaRPr kumimoji="1" lang="zh-TW" altLang="en-US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5C337229-9547-3114-9A39-006930BBAE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3014" y="1825625"/>
            <a:ext cx="8865971" cy="4351338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E4B0DA0-37A1-36C1-BF88-DE1766394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184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1890176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283242-DE60-7EF2-DB24-9D03191B1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回到</a:t>
            </a:r>
            <a:r>
              <a:rPr kumimoji="1" lang="en-US" altLang="zh-TW" dirty="0"/>
              <a:t>Docker </a:t>
            </a:r>
            <a:r>
              <a:rPr kumimoji="1" lang="en-US" altLang="zh-TW" dirty="0" err="1"/>
              <a:t>Devops</a:t>
            </a:r>
            <a:r>
              <a:rPr kumimoji="1" lang="en-US" altLang="zh-TW" dirty="0"/>
              <a:t> repo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FF5BC7E8-327A-D055-90EA-E095E8C4AC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500767"/>
            <a:ext cx="10515600" cy="3001054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0B17BD6-696A-EA48-238B-88B52C584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185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3141725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D985A0-1554-E775-C32F-133817FF6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(GitLab)</a:t>
            </a:r>
            <a:r>
              <a:rPr kumimoji="1" lang="zh-TW" altLang="en-US" dirty="0"/>
              <a:t>編輯</a:t>
            </a:r>
            <a:r>
              <a:rPr kumimoji="1" lang="en-US" altLang="zh-TW" dirty="0"/>
              <a:t>git repo</a:t>
            </a:r>
            <a:r>
              <a:rPr kumimoji="1" lang="zh-TW" altLang="en-US" dirty="0"/>
              <a:t>裡的</a:t>
            </a:r>
            <a:r>
              <a:rPr lang="en-US" altLang="zh-TW" dirty="0"/>
              <a:t>sonar-</a:t>
            </a:r>
            <a:r>
              <a:rPr lang="en-US" altLang="zh-TW" dirty="0" err="1"/>
              <a:t>project.properties</a:t>
            </a:r>
            <a:r>
              <a:rPr lang="zh-TW" altLang="en-US" dirty="0"/>
              <a:t>檔案，替換</a:t>
            </a:r>
            <a:r>
              <a:rPr lang="en-US" altLang="zh-TW" dirty="0" err="1"/>
              <a:t>projectKey</a:t>
            </a:r>
            <a:endParaRPr kumimoji="1" lang="zh-TW" altLang="en-US" dirty="0"/>
          </a:p>
        </p:txBody>
      </p:sp>
      <p:pic>
        <p:nvPicPr>
          <p:cNvPr id="11" name="內容版面配置區 10">
            <a:extLst>
              <a:ext uri="{FF2B5EF4-FFF2-40B4-BE49-F238E27FC236}">
                <a16:creationId xmlns:a16="http://schemas.microsoft.com/office/drawing/2014/main" id="{E56FDB84-398E-20D3-B013-2C5A7159BF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49806"/>
            <a:ext cx="10515600" cy="3302976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3CE926A-E0E7-867A-1C47-0A719895B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186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7204247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699F40-6218-EDF3-8DA2-A1A1CB111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替換</a:t>
            </a:r>
            <a:r>
              <a:rPr lang="en-US" altLang="zh-TW" dirty="0" err="1"/>
              <a:t>projectKey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C2F89B98-FE8B-505D-97D2-15DD70E000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8700" y="2559844"/>
            <a:ext cx="10134600" cy="288290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E460991-2585-E476-3FFD-50001713B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187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0683109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10EB31-6C56-F8BE-2FB1-51F153E31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(GitLab)</a:t>
            </a:r>
            <a:r>
              <a:rPr kumimoji="1" lang="zh-TW" altLang="en-US" dirty="0"/>
              <a:t>至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 project CI/CD </a:t>
            </a:r>
            <a:r>
              <a:rPr kumimoji="1" lang="zh-TW" altLang="en-US" dirty="0"/>
              <a:t>新增變數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E7315CDF-89B5-4984-2D0F-F25ED1AC98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5570" y="1825625"/>
            <a:ext cx="7720859" cy="4351338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F56EE4D-2927-9BC6-1C67-BBBEE96C0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188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9185159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A76F06-34CB-E10C-CF4F-D51E60636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回到</a:t>
            </a:r>
            <a:r>
              <a:rPr kumimoji="1" lang="en-US" altLang="zh-TW" dirty="0" err="1"/>
              <a:t>Sonarqube</a:t>
            </a:r>
            <a:r>
              <a:rPr kumimoji="1" lang="zh-TW" altLang="en-US" dirty="0"/>
              <a:t>繼續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D3E28907-BF3E-D507-14B9-E69B6BD257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89650" y="3994944"/>
            <a:ext cx="12700" cy="127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9BA89AC4-297C-A51E-B5A3-2C5943636E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4735" y="2275568"/>
            <a:ext cx="7772400" cy="3806889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8707814-4744-7394-4F45-CEB36A3E5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189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4119014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6C8EE7-C116-24DB-EC34-7DE471B6D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7493"/>
            <a:ext cx="10515600" cy="1325563"/>
          </a:xfrm>
        </p:spPr>
        <p:txBody>
          <a:bodyPr/>
          <a:lstStyle/>
          <a:p>
            <a:r>
              <a:rPr kumimoji="1" lang="en-US" altLang="zh-TW" dirty="0"/>
              <a:t>(SonarQube)</a:t>
            </a:r>
            <a:r>
              <a:rPr kumimoji="1" lang="zh-TW" altLang="en-US" dirty="0"/>
              <a:t>點擊</a:t>
            </a:r>
            <a:r>
              <a:rPr kumimoji="1" lang="en-US" altLang="zh-TW" dirty="0"/>
              <a:t>Generate a token </a:t>
            </a:r>
            <a:r>
              <a:rPr kumimoji="1" lang="zh-TW" altLang="en-US" dirty="0"/>
              <a:t>產生一筆</a:t>
            </a:r>
            <a:r>
              <a:rPr kumimoji="1" lang="en-US" altLang="zh-TW" dirty="0"/>
              <a:t>SonarQube token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34FB9C7-B2EB-92F5-B2D5-D464C5445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記錄下</a:t>
            </a:r>
            <a:r>
              <a:rPr lang="en-US" altLang="zh-TW" dirty="0"/>
              <a:t>SonarQube token </a:t>
            </a:r>
            <a:r>
              <a:rPr lang="zh-TW" altLang="en-US" dirty="0"/>
              <a:t>與 </a:t>
            </a:r>
            <a:r>
              <a:rPr lang="en-US" altLang="zh-TW" dirty="0"/>
              <a:t>SONAR_HOST_URL key and value</a:t>
            </a:r>
            <a:r>
              <a:rPr lang="zh-TW" altLang="en-US" dirty="0"/>
              <a:t>，把他設定進</a:t>
            </a:r>
            <a:r>
              <a:rPr lang="en-US" altLang="zh-TW" dirty="0"/>
              <a:t>GitLab repo variable</a:t>
            </a:r>
            <a:r>
              <a:rPr lang="zh-TW" altLang="en-US" dirty="0"/>
              <a:t>裡</a:t>
            </a:r>
            <a:endParaRPr lang="en-US" altLang="zh-TW" dirty="0"/>
          </a:p>
          <a:p>
            <a:r>
              <a:rPr lang="en-US" altLang="zh-TW" dirty="0"/>
              <a:t> 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1524F09-3917-8FB7-A1BD-1B8493AF08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5769" y="2716779"/>
            <a:ext cx="6622181" cy="4001177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9BA0301-F6CD-B19B-4F28-D615A685B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8496732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8DC273-7206-A7D9-7BB6-155CA826E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產生一把無期限的</a:t>
            </a:r>
            <a:r>
              <a:rPr kumimoji="1" lang="en-US" altLang="zh-TW" dirty="0"/>
              <a:t>sonar project token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8113A353-16B7-94B4-AC4D-EBB9CA8D15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1800" y="1848644"/>
            <a:ext cx="8788400" cy="430530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D777FAF-A665-2A98-E712-A5E37474B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2429329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B34A66-042F-659D-97CA-481FDD991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保存</a:t>
            </a:r>
            <a:r>
              <a:rPr kumimoji="1" lang="en-US" altLang="zh-TW" dirty="0"/>
              <a:t>sonar project token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99F523CA-3A8B-FDEF-F1A7-4FD1B4D46B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9753" y="1389093"/>
            <a:ext cx="9163544" cy="5196642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C9B6AB6-F32A-82ED-15AA-770F8B963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8458136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835583-1B0B-440E-8B83-467E833E7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TW" altLang="en-US" sz="3200" dirty="0"/>
              <a:t>回到</a:t>
            </a:r>
            <a:r>
              <a:rPr kumimoji="1" lang="en-US" altLang="zh-TW" sz="3200" dirty="0" err="1"/>
              <a:t>gitlab</a:t>
            </a:r>
            <a:r>
              <a:rPr kumimoji="1" lang="en-US" altLang="zh-TW" sz="3200" dirty="0"/>
              <a:t> ci/cd variable</a:t>
            </a:r>
            <a:r>
              <a:rPr kumimoji="1" lang="zh-TW" altLang="en-US" sz="3200" dirty="0"/>
              <a:t>，設定</a:t>
            </a:r>
            <a:r>
              <a:rPr kumimoji="1" lang="en-US" altLang="zh-TW" sz="3200" dirty="0"/>
              <a:t>SONAR_TOKEN </a:t>
            </a:r>
            <a:r>
              <a:rPr kumimoji="1" lang="zh-TW" altLang="en-US" sz="3200" dirty="0"/>
              <a:t>與 </a:t>
            </a:r>
            <a:r>
              <a:rPr kumimoji="1" lang="en-US" altLang="zh-TW" sz="3200" dirty="0"/>
              <a:t>SONAR_HOST_URL </a:t>
            </a:r>
            <a:r>
              <a:rPr kumimoji="1" lang="zh-TW" altLang="en-US" sz="3200" dirty="0"/>
              <a:t>兩個變數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DF20DB53-0B8A-2111-E5C5-BC08F2D3E7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3236" y="1777936"/>
            <a:ext cx="6987069" cy="4943539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6465715-091F-F2EA-EA07-E6D318318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9429468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BFA8DF-E088-D2DF-7D8D-0FC438101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Gitlab/Settings/CICD/Variables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814FB1EC-FB6E-8CA0-B3AF-B10F0448EA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9896" y="1825625"/>
            <a:ext cx="8872208" cy="4351338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B60EC0E-823B-833D-ED79-C9F64A8CF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6151810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82F0E2-3505-AD70-967B-4BCA4F161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(GitLab)</a:t>
            </a:r>
            <a:r>
              <a:rPr lang="zh-TW" altLang="en-US" dirty="0"/>
              <a:t> 設定變數</a:t>
            </a:r>
            <a:r>
              <a:rPr lang="en-US" altLang="zh-TW" dirty="0"/>
              <a:t>SONAR_HOST_URL: http://{VM1 </a:t>
            </a:r>
            <a:r>
              <a:rPr lang="zh-TW" altLang="en-US" dirty="0"/>
              <a:t>外部</a:t>
            </a:r>
            <a:r>
              <a:rPr lang="en-US" altLang="zh-TW" dirty="0"/>
              <a:t> IP}:9000</a:t>
            </a:r>
            <a:endParaRPr kumimoji="1" lang="zh-TW" altLang="en-US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9E7787D-F9BB-108F-5356-EDF461C9F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B437336-5618-E1A7-523B-99C40A4A9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4274" y="1181529"/>
            <a:ext cx="2396305" cy="5548725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A2D3A83-133B-AC6E-48D3-BEBFA85F9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634138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139F58-E013-9D5E-7911-61C2F9F4C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設定變數 </a:t>
            </a:r>
            <a:r>
              <a:rPr kumimoji="1" lang="en-US" altLang="zh-TW" dirty="0"/>
              <a:t>SONAR_TOKEN</a:t>
            </a:r>
            <a:endParaRPr kumimoji="1" lang="zh-TW" altLang="en-US" dirty="0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91C0A9AD-1757-05ED-F6AB-2F123FBBB0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4071" y="212120"/>
            <a:ext cx="2631991" cy="6433759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1B79326-3CEB-14CF-B58E-9C2316BAE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6393428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254B0E-597A-3B7D-BB30-4B7F6104D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變數檢查</a:t>
            </a: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B893144C-3AFD-6E36-2C78-A496227C41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630" y="1310544"/>
            <a:ext cx="11754739" cy="4669015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CED787B-789C-A5AD-1198-345834880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5926167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8BF202-5C1D-6EB4-741E-793F2F488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CICD</a:t>
            </a:r>
            <a:r>
              <a:rPr kumimoji="1" lang="zh-TW" altLang="en-US" dirty="0"/>
              <a:t>與</a:t>
            </a:r>
            <a:r>
              <a:rPr kumimoji="1" lang="en-US" altLang="zh-TW" dirty="0"/>
              <a:t>sonar</a:t>
            </a:r>
            <a:r>
              <a:rPr kumimoji="1" lang="zh-TW" altLang="en-US" dirty="0"/>
              <a:t>串接完成．後續只要開始</a:t>
            </a:r>
            <a:r>
              <a:rPr kumimoji="1" lang="en-US" altLang="zh-TW" dirty="0"/>
              <a:t>commit</a:t>
            </a:r>
            <a:r>
              <a:rPr kumimoji="1" lang="zh-TW" altLang="en-US" dirty="0"/>
              <a:t>，</a:t>
            </a:r>
            <a:r>
              <a:rPr kumimoji="1" lang="en-US" altLang="zh-TW" dirty="0"/>
              <a:t>pipeline</a:t>
            </a:r>
            <a:r>
              <a:rPr kumimoji="1" lang="zh-TW" altLang="en-US" dirty="0"/>
              <a:t>就會開始執行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BB24DDE1-F9AF-2256-41D6-3543652880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35515"/>
            <a:ext cx="10515600" cy="4131558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6B0FB6D-88A8-1DDA-3097-BB7D31E08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7894068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61464B-1E28-7D58-8FE2-A837BFBFD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New pipeline</a:t>
            </a:r>
            <a:endParaRPr kumimoji="1"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3508BC59-647C-CA76-14F4-E5AD2B5C22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27154"/>
            <a:ext cx="10515600" cy="354828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42D7DE1-8039-33BC-E6BA-2229E214B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7681736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6A60F7-0038-7BEF-4FE3-E537681FC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檢查</a:t>
            </a:r>
            <a:r>
              <a:rPr kumimoji="1" lang="en-US" altLang="zh-TW" dirty="0"/>
              <a:t>Pipeline </a:t>
            </a:r>
            <a:r>
              <a:rPr kumimoji="1" lang="zh-TW" altLang="en-US" dirty="0"/>
              <a:t>執行</a:t>
            </a:r>
            <a:r>
              <a:rPr kumimoji="1" lang="en-US" altLang="zh-TW" dirty="0"/>
              <a:t>SonarQube</a:t>
            </a:r>
            <a:r>
              <a:rPr kumimoji="1" lang="zh-TW" altLang="en-US" dirty="0"/>
              <a:t> 狀態</a:t>
            </a:r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88A437E0-9CDD-4470-AA4A-87DABE9D7A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31089"/>
            <a:ext cx="10515600" cy="3940409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48FBF93-4F47-8264-BE74-B37B6D3A7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6227726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D68370-35B8-5E66-3742-7553A0082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Pipeline</a:t>
            </a:r>
            <a:r>
              <a:rPr kumimoji="1" lang="zh-TW" altLang="en-US" dirty="0"/>
              <a:t>執行</a:t>
            </a:r>
            <a:r>
              <a:rPr kumimoji="1" lang="en-US" altLang="zh-TW" dirty="0"/>
              <a:t>SonarQube job</a:t>
            </a:r>
            <a:r>
              <a:rPr kumimoji="1" lang="zh-TW" altLang="en-US" dirty="0"/>
              <a:t>，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8842C08-6F04-CF4A-8CAC-20222D00B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201</a:t>
            </a:fld>
            <a:endParaRPr lang="zh-TW" altLang="en-US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B3E4F58E-EB77-E5E7-DB5D-BD1304CB5D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4300" y="2388394"/>
            <a:ext cx="9423400" cy="3225800"/>
          </a:xfrm>
        </p:spPr>
      </p:pic>
    </p:spTree>
    <p:extLst>
      <p:ext uri="{BB962C8B-B14F-4D97-AF65-F5344CB8AC3E}">
        <p14:creationId xmlns:p14="http://schemas.microsoft.com/office/powerpoint/2010/main" val="2166857310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6CD65E-36BE-D37B-E76E-F6421C598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Sonar job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CB69C2F6-1695-08A4-0E6A-FD0926645F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2561" y="1825625"/>
            <a:ext cx="7826877" cy="4351338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56B9E1C-DADB-CB28-FBB5-08CBBAE47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1741139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1D45CE-AF0E-CCB0-B494-5F640648D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檢查</a:t>
            </a:r>
            <a:r>
              <a:rPr kumimoji="1" lang="en-US" altLang="zh-TW" dirty="0" err="1"/>
              <a:t>Sonarqube</a:t>
            </a:r>
            <a:r>
              <a:rPr kumimoji="1" lang="zh-TW" altLang="en-US" dirty="0"/>
              <a:t> 掃描運行情況</a:t>
            </a:r>
          </a:p>
        </p:txBody>
      </p:sp>
      <p:pic>
        <p:nvPicPr>
          <p:cNvPr id="13" name="內容版面配置區 12">
            <a:extLst>
              <a:ext uri="{FF2B5EF4-FFF2-40B4-BE49-F238E27FC236}">
                <a16:creationId xmlns:a16="http://schemas.microsoft.com/office/drawing/2014/main" id="{DBAB029E-10BA-CEBB-6D5A-F6A8709E20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1264" y="1432211"/>
            <a:ext cx="8986180" cy="5289264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4193685-7982-286B-CFE5-FC95E21A0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5999156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SonarQube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報告檢視</a:t>
            </a:r>
          </a:p>
        </p:txBody>
      </p:sp>
      <p:sp>
        <p:nvSpPr>
          <p:cNvPr id="907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06D0DB0-FD13-3A8C-C402-F41EE09D4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304" y="1493520"/>
            <a:ext cx="7772400" cy="4972544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0DAFCA7-8FA1-61F3-0F6E-3ECEA102D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5056178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9CBC7E-86B4-D1BB-E4BE-3B859B5F9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build and push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4932E407-CBA1-6E28-D4A4-09D9EEF35F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2900" y="2661444"/>
            <a:ext cx="8966200" cy="267970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3B0C7F0-BA1F-491B-6C61-E2F49D1E4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7882780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8F3C963-652A-70DF-CF65-7DAE4334A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附錄Ａ：如何在</a:t>
            </a:r>
            <a:r>
              <a:rPr lang="en-US" altLang="zh-TW" dirty="0"/>
              <a:t>putty </a:t>
            </a:r>
            <a:r>
              <a:rPr lang="zh-TW" altLang="en-US" dirty="0"/>
              <a:t>使用</a:t>
            </a:r>
            <a:r>
              <a:rPr lang="en-US" altLang="zh-TW" dirty="0" err="1"/>
              <a:t>ssh</a:t>
            </a:r>
            <a:r>
              <a:rPr lang="en-US" altLang="zh-TW" dirty="0"/>
              <a:t> key </a:t>
            </a:r>
            <a:r>
              <a:rPr lang="zh-TW" altLang="en-US" dirty="0"/>
              <a:t>登入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40077B7-D79E-ADE2-9E02-D5B52604A8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1568323-D1FE-9B99-DA26-2D0E03ABE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9420605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4" name="圖片 10" descr="圖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5931" y="2036442"/>
            <a:ext cx="4157084" cy="4143321"/>
          </a:xfrm>
          <a:prstGeom prst="rect">
            <a:avLst/>
          </a:prstGeom>
          <a:ln w="12700">
            <a:miter lim="400000"/>
          </a:ln>
        </p:spPr>
      </p:pic>
      <p:sp>
        <p:nvSpPr>
          <p:cNvPr id="1075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397763">
              <a:defRPr sz="3654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附錄</a:t>
            </a:r>
            <a:r>
              <a:rPr dirty="0" err="1"/>
              <a:t>A</a:t>
            </a:r>
            <a:r>
              <a:rPr dirty="0"/>
              <a:t>: window login to cloud VM by putty –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下載</a:t>
            </a:r>
            <a:r>
              <a:rPr dirty="0" err="1"/>
              <a:t>Putty</a:t>
            </a:r>
            <a:r>
              <a:rPr dirty="0">
                <a:latin typeface="+mj-lt"/>
                <a:ea typeface="+mj-ea"/>
                <a:cs typeface="+mj-cs"/>
                <a:sym typeface="Helvetica"/>
              </a:rPr>
              <a:t> ，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填入</a:t>
            </a:r>
            <a:r>
              <a:rPr dirty="0" err="1"/>
              <a:t>id@ip</a:t>
            </a:r>
            <a:endParaRPr dirty="0"/>
          </a:p>
        </p:txBody>
      </p:sp>
      <p:sp>
        <p:nvSpPr>
          <p:cNvPr id="1076" name="日期預留位置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1078" name="向右箭號 5"/>
          <p:cNvSpPr/>
          <p:nvPr/>
        </p:nvSpPr>
        <p:spPr>
          <a:xfrm>
            <a:off x="2920655" y="2572571"/>
            <a:ext cx="631180" cy="11329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>
            <a:solidFill>
              <a:srgbClr val="800F0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79" name="向右箭號 6"/>
          <p:cNvSpPr/>
          <p:nvPr/>
        </p:nvSpPr>
        <p:spPr>
          <a:xfrm>
            <a:off x="4369129" y="3130920"/>
            <a:ext cx="631180" cy="11329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>
            <a:solidFill>
              <a:srgbClr val="800F0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D54FC32-2623-B329-A267-6B6598893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1041111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397763">
              <a:defRPr sz="3654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附錄</a:t>
            </a:r>
            <a:r>
              <a:rPr dirty="0" err="1"/>
              <a:t>A</a:t>
            </a:r>
            <a:r>
              <a:rPr dirty="0"/>
              <a:t>: window login to cloud VM by putty –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左邊</a:t>
            </a:r>
            <a:r>
              <a:rPr dirty="0" err="1"/>
              <a:t>Connectopn</a:t>
            </a:r>
            <a:r>
              <a:rPr dirty="0"/>
              <a:t>/SSH/Auth</a:t>
            </a:r>
          </a:p>
        </p:txBody>
      </p:sp>
      <p:pic>
        <p:nvPicPr>
          <p:cNvPr id="1082" name="內容版面配置區 6" descr="內容版面配置區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9007" y="2052638"/>
            <a:ext cx="4195763" cy="4195763"/>
          </a:xfrm>
          <a:prstGeom prst="rect">
            <a:avLst/>
          </a:prstGeom>
          <a:ln w="12700">
            <a:miter lim="400000"/>
          </a:ln>
        </p:spPr>
      </p:pic>
      <p:sp>
        <p:nvSpPr>
          <p:cNvPr id="1083" name="日期預留位置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1085" name="向右箭號 5"/>
          <p:cNvSpPr/>
          <p:nvPr/>
        </p:nvSpPr>
        <p:spPr>
          <a:xfrm>
            <a:off x="2888287" y="4215253"/>
            <a:ext cx="631180" cy="11329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>
            <a:solidFill>
              <a:srgbClr val="800F0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86" name="向右箭號 7"/>
          <p:cNvSpPr/>
          <p:nvPr/>
        </p:nvSpPr>
        <p:spPr>
          <a:xfrm>
            <a:off x="3042604" y="4891463"/>
            <a:ext cx="631180" cy="11329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>
            <a:solidFill>
              <a:srgbClr val="800F0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87" name="向右箭號 9"/>
          <p:cNvSpPr/>
          <p:nvPr/>
        </p:nvSpPr>
        <p:spPr>
          <a:xfrm>
            <a:off x="3163416" y="5454384"/>
            <a:ext cx="631180" cy="11329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>
            <a:solidFill>
              <a:srgbClr val="800F0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C421005-42F3-CC4C-CC3F-D987E30A7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9232766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397763">
              <a:defRPr sz="3654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附錄</a:t>
            </a:r>
            <a:r>
              <a:rPr dirty="0" err="1"/>
              <a:t>A</a:t>
            </a:r>
            <a:r>
              <a:rPr dirty="0"/>
              <a:t>: window login to cloud VM by putty –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選擇</a:t>
            </a:r>
            <a:r>
              <a:rPr dirty="0" err="1"/>
              <a:t>Private</a:t>
            </a:r>
            <a:r>
              <a:rPr dirty="0"/>
              <a:t> key file auth</a:t>
            </a:r>
          </a:p>
        </p:txBody>
      </p:sp>
      <p:pic>
        <p:nvPicPr>
          <p:cNvPr id="1090" name="內容版面配置區 6" descr="內容版面配置區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9007" y="2052638"/>
            <a:ext cx="4195763" cy="4195763"/>
          </a:xfrm>
          <a:prstGeom prst="rect">
            <a:avLst/>
          </a:prstGeom>
          <a:ln w="12700">
            <a:miter lim="400000"/>
          </a:ln>
        </p:spPr>
      </p:pic>
      <p:sp>
        <p:nvSpPr>
          <p:cNvPr id="1091" name="日期預留位置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1093" name="向右箭號 5"/>
          <p:cNvSpPr/>
          <p:nvPr/>
        </p:nvSpPr>
        <p:spPr>
          <a:xfrm>
            <a:off x="4385312" y="4773603"/>
            <a:ext cx="631180" cy="11329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>
            <a:solidFill>
              <a:srgbClr val="800F0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94" name="向右箭號 7"/>
          <p:cNvSpPr/>
          <p:nvPr/>
        </p:nvSpPr>
        <p:spPr>
          <a:xfrm>
            <a:off x="2928747" y="4215253"/>
            <a:ext cx="631180" cy="11329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>
            <a:solidFill>
              <a:srgbClr val="800F0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95" name="向右箭號 8"/>
          <p:cNvSpPr/>
          <p:nvPr/>
        </p:nvSpPr>
        <p:spPr>
          <a:xfrm>
            <a:off x="3042036" y="4902379"/>
            <a:ext cx="631180" cy="11329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>
            <a:solidFill>
              <a:srgbClr val="800F0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96" name="向右箭號 9"/>
          <p:cNvSpPr/>
          <p:nvPr/>
        </p:nvSpPr>
        <p:spPr>
          <a:xfrm>
            <a:off x="3163416" y="5445219"/>
            <a:ext cx="631180" cy="11329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>
            <a:solidFill>
              <a:srgbClr val="800F0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4780A58-1650-10A5-8538-2833F4746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0263631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397763">
              <a:defRPr sz="3654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附錄</a:t>
            </a:r>
            <a:r>
              <a:rPr dirty="0" err="1"/>
              <a:t>A</a:t>
            </a:r>
            <a:r>
              <a:rPr dirty="0"/>
              <a:t>: window login to cloud VM by putty – </a:t>
            </a:r>
            <a:r>
              <a:rPr dirty="0">
                <a:latin typeface="+mj-lt"/>
                <a:ea typeface="+mj-ea"/>
                <a:cs typeface="+mj-cs"/>
                <a:sym typeface="Helvetica"/>
              </a:rPr>
              <a:t>選擇</a:t>
            </a:r>
            <a:r>
              <a:rPr dirty="0"/>
              <a:t>k8s.ppk</a:t>
            </a:r>
          </a:p>
        </p:txBody>
      </p:sp>
      <p:pic>
        <p:nvPicPr>
          <p:cNvPr id="1099" name="內容版面配置區 6" descr="內容版面配置區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9412" y="2052638"/>
            <a:ext cx="5554953" cy="4195763"/>
          </a:xfrm>
          <a:prstGeom prst="rect">
            <a:avLst/>
          </a:prstGeom>
          <a:ln w="12700">
            <a:miter lim="400000"/>
          </a:ln>
        </p:spPr>
      </p:pic>
      <p:sp>
        <p:nvSpPr>
          <p:cNvPr id="1100" name="日期預留位置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C5094E3-88B7-0D79-88A2-DB9DF63C5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4670097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397763">
              <a:defRPr sz="3654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附錄</a:t>
            </a:r>
            <a:r>
              <a:rPr dirty="0" err="1"/>
              <a:t>A</a:t>
            </a:r>
            <a:r>
              <a:rPr dirty="0"/>
              <a:t>: window login to cloud VM by putty –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即可登入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pic>
        <p:nvPicPr>
          <p:cNvPr id="1104" name="內容版面配置區 6" descr="內容版面配置區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3638" y="2321718"/>
            <a:ext cx="6286501" cy="3657601"/>
          </a:xfrm>
          <a:prstGeom prst="rect">
            <a:avLst/>
          </a:prstGeom>
          <a:ln w="12700">
            <a:miter lim="400000"/>
          </a:ln>
        </p:spPr>
      </p:pic>
      <p:sp>
        <p:nvSpPr>
          <p:cNvPr id="1105" name="日期預留位置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B579F13-6700-073A-503D-6C2746BE6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8960039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CEA47B-E721-BAF2-E5E6-FD032ECA3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+mj-lt"/>
                <a:ea typeface="+mj-ea"/>
                <a:cs typeface="+mj-cs"/>
                <a:sym typeface="Helvetica"/>
              </a:rPr>
              <a:t>附錄</a:t>
            </a:r>
            <a:r>
              <a:rPr lang="en" altLang="zh-TW" dirty="0">
                <a:latin typeface="+mj-lt"/>
                <a:ea typeface="+mj-ea"/>
                <a:cs typeface="+mj-cs"/>
                <a:sym typeface="Helvetica"/>
              </a:rPr>
              <a:t>B</a:t>
            </a:r>
            <a:r>
              <a:rPr lang="en" altLang="zh-TW" dirty="0">
                <a:sym typeface="Helvetica"/>
              </a:rPr>
              <a:t> </a:t>
            </a:r>
            <a:r>
              <a:rPr lang="en" altLang="zh-TW" dirty="0" err="1">
                <a:sym typeface="Helvetica"/>
              </a:rPr>
              <a:t>dockerfile</a:t>
            </a:r>
            <a:r>
              <a:rPr lang="zh-TW" altLang="en-US" dirty="0">
                <a:sym typeface="Helvetica"/>
              </a:rPr>
              <a:t> </a:t>
            </a:r>
            <a:r>
              <a:rPr lang="en-US" altLang="zh-TW" dirty="0">
                <a:sym typeface="Helvetica"/>
              </a:rPr>
              <a:t>keyword</a:t>
            </a:r>
            <a:endParaRPr kumimoji="1" lang="zh-TW" alt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62136A6-797F-3C04-BF6D-033362FB37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212A99D-C45C-3153-09F2-D687C4143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3742604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D13277-DEAD-4C48-BF47-0E2A0B00A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-1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9ECE29D-5839-A643-8B26-83CAC828B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FROM</a:t>
            </a:r>
          </a:p>
          <a:p>
            <a:pPr lvl="1"/>
            <a:r>
              <a:rPr lang="zh-CN" altLang="en-US" dirty="0"/>
              <a:t>從</a:t>
            </a:r>
            <a:r>
              <a:rPr lang="en-US" altLang="zh-CN" dirty="0"/>
              <a:t>Docker Hub</a:t>
            </a:r>
            <a:r>
              <a:rPr lang="zh-CN" altLang="en-US" dirty="0"/>
              <a:t>取得官方認證</a:t>
            </a:r>
            <a:r>
              <a:rPr lang="en-US" altLang="zh-CN" dirty="0"/>
              <a:t>docker image </a:t>
            </a:r>
          </a:p>
          <a:p>
            <a:pPr lvl="2"/>
            <a:r>
              <a:rPr lang="en-US" altLang="zh-TW" dirty="0"/>
              <a:t>FROM {{image </a:t>
            </a:r>
            <a:r>
              <a:rPr lang="zh-CN" altLang="en-US" dirty="0"/>
              <a:t>名稱</a:t>
            </a:r>
            <a:r>
              <a:rPr lang="en-US" altLang="zh-TW" dirty="0"/>
              <a:t>}}:{{</a:t>
            </a:r>
            <a:r>
              <a:rPr lang="zh-CN" altLang="en-US" dirty="0"/>
              <a:t>版號</a:t>
            </a:r>
            <a:r>
              <a:rPr lang="en-US" altLang="zh-TW" dirty="0"/>
              <a:t>}}</a:t>
            </a:r>
          </a:p>
          <a:p>
            <a:pPr lvl="2"/>
            <a:r>
              <a:rPr lang="en-US" altLang="zh-TW" dirty="0"/>
              <a:t>ex: FROM ubuntu:18.04</a:t>
            </a:r>
          </a:p>
          <a:p>
            <a:pPr lvl="1"/>
            <a:r>
              <a:rPr lang="zh-CN" altLang="en-US" dirty="0"/>
              <a:t>從</a:t>
            </a:r>
            <a:r>
              <a:rPr lang="en-US" altLang="zh-CN" dirty="0"/>
              <a:t>Docker Hub</a:t>
            </a:r>
            <a:r>
              <a:rPr lang="zh-CN" altLang="en-US" dirty="0"/>
              <a:t>取得私有帳號的</a:t>
            </a:r>
            <a:r>
              <a:rPr lang="en-US" altLang="zh-CN" dirty="0"/>
              <a:t>docker image </a:t>
            </a:r>
            <a:endParaRPr lang="en-US" altLang="zh-TW" dirty="0"/>
          </a:p>
          <a:p>
            <a:pPr lvl="2"/>
            <a:r>
              <a:rPr lang="en-US" altLang="zh-TW" dirty="0"/>
              <a:t>FROM {{</a:t>
            </a:r>
            <a:r>
              <a:rPr lang="zh-CN" altLang="en-US" dirty="0"/>
              <a:t>帳號</a:t>
            </a:r>
            <a:r>
              <a:rPr lang="en-US" altLang="zh-TW" dirty="0"/>
              <a:t>}}/{{image </a:t>
            </a:r>
            <a:r>
              <a:rPr lang="zh-CN" altLang="en-US" dirty="0"/>
              <a:t>名稱</a:t>
            </a:r>
            <a:r>
              <a:rPr lang="en-US" altLang="zh-TW" dirty="0"/>
              <a:t>}}:{{</a:t>
            </a:r>
            <a:r>
              <a:rPr lang="zh-CN" altLang="en-US" dirty="0"/>
              <a:t>版號</a:t>
            </a:r>
            <a:r>
              <a:rPr lang="en-US" altLang="zh-TW" dirty="0"/>
              <a:t>}}</a:t>
            </a:r>
          </a:p>
          <a:p>
            <a:pPr lvl="2"/>
            <a:r>
              <a:rPr lang="en-US" altLang="zh-TW" dirty="0"/>
              <a:t>ex: FROM </a:t>
            </a:r>
            <a:r>
              <a:rPr lang="en-US" altLang="zh-TW" dirty="0" err="1"/>
              <a:t>demoyuw</a:t>
            </a:r>
            <a:r>
              <a:rPr lang="en-US" altLang="zh-TW" dirty="0"/>
              <a:t>/nginx:</a:t>
            </a:r>
            <a:r>
              <a:rPr lang="en-US" altLang="zh-TW" b="1" dirty="0"/>
              <a:t>v0.2</a:t>
            </a:r>
          </a:p>
          <a:p>
            <a:pPr lvl="1"/>
            <a:r>
              <a:rPr lang="zh-CN" altLang="en-US" dirty="0"/>
              <a:t>從指定路徑</a:t>
            </a:r>
            <a:r>
              <a:rPr lang="en-US" altLang="zh-CN" dirty="0"/>
              <a:t>image registry </a:t>
            </a:r>
            <a:r>
              <a:rPr lang="zh-CN" altLang="en-US" dirty="0"/>
              <a:t>取得</a:t>
            </a:r>
            <a:r>
              <a:rPr lang="en-US" altLang="zh-CN" dirty="0"/>
              <a:t>image</a:t>
            </a:r>
          </a:p>
          <a:p>
            <a:pPr lvl="2"/>
            <a:r>
              <a:rPr lang="en-US" altLang="zh-TW" sz="2400" dirty="0"/>
              <a:t>FROM 10.30.1.1/images/python:3.8-alpine3.11</a:t>
            </a:r>
          </a:p>
          <a:p>
            <a:pPr lvl="1"/>
            <a:r>
              <a:rPr lang="zh-CN" altLang="en-US" dirty="0"/>
              <a:t>一個</a:t>
            </a:r>
            <a:r>
              <a:rPr lang="en-US" altLang="zh-CN" dirty="0"/>
              <a:t>image</a:t>
            </a:r>
            <a:r>
              <a:rPr lang="zh-CN" altLang="en-US" dirty="0"/>
              <a:t>只能一組</a:t>
            </a:r>
            <a:endParaRPr lang="en-US" altLang="zh-CN" dirty="0"/>
          </a:p>
          <a:p>
            <a:pPr lvl="1"/>
            <a:r>
              <a:rPr lang="en-US" altLang="zh-TW" dirty="0"/>
              <a:t>Multi-stage</a:t>
            </a:r>
          </a:p>
          <a:p>
            <a:pPr lvl="2"/>
            <a:r>
              <a:rPr lang="en-US" altLang="zh-TW" sz="2400" dirty="0"/>
              <a:t>FROM golang:1.16 AS builder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59A717C-654E-66C3-9FB0-58802ACCC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252170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DAA7CD-48CE-2B4D-91B2-F242E410D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2BF037A-6842-EE49-9848-8F96D87E7F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ENV</a:t>
            </a:r>
          </a:p>
          <a:p>
            <a:pPr lvl="1"/>
            <a:r>
              <a:rPr lang="zh-TW" altLang="en-US" dirty="0"/>
              <a:t>設定</a:t>
            </a:r>
            <a:r>
              <a:rPr lang="en-US" altLang="zh-TW" dirty="0"/>
              <a:t>Container</a:t>
            </a:r>
            <a:r>
              <a:rPr lang="zh-TW" altLang="en-US" dirty="0"/>
              <a:t>環境變數</a:t>
            </a:r>
          </a:p>
          <a:p>
            <a:pPr lvl="1"/>
            <a:r>
              <a:rPr lang="en-US" altLang="zh-TW" dirty="0"/>
              <a:t>ENV &lt;key&gt;=&lt;value&gt;</a:t>
            </a:r>
          </a:p>
          <a:p>
            <a:pPr lvl="1"/>
            <a:r>
              <a:rPr lang="zh-CN" altLang="en-US" dirty="0"/>
              <a:t>可多組</a:t>
            </a:r>
            <a:endParaRPr lang="en-US" altLang="zh-TW" dirty="0"/>
          </a:p>
          <a:p>
            <a:r>
              <a:rPr lang="en-US" altLang="zh-TW" dirty="0"/>
              <a:t>WORKDIR</a:t>
            </a:r>
          </a:p>
          <a:p>
            <a:pPr lvl="1"/>
            <a:r>
              <a:rPr lang="zh-TW" altLang="en-US" dirty="0"/>
              <a:t>建立資料夾，並設定預設資料夾</a:t>
            </a:r>
          </a:p>
          <a:p>
            <a:pPr lvl="1"/>
            <a:r>
              <a:rPr lang="en-US" altLang="zh-TW" dirty="0"/>
              <a:t>WORKDIR /app</a:t>
            </a:r>
          </a:p>
          <a:p>
            <a:pPr lvl="1"/>
            <a:r>
              <a:rPr lang="zh-CN" altLang="en-US" dirty="0"/>
              <a:t>只能一組</a:t>
            </a:r>
            <a:endParaRPr lang="en-US" altLang="zh-TW" dirty="0"/>
          </a:p>
          <a:p>
            <a:pPr lvl="1"/>
            <a:endParaRPr lang="en-US" altLang="zh-TW" dirty="0"/>
          </a:p>
          <a:p>
            <a:pPr marL="0" indent="0">
              <a:buNone/>
            </a:pP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BFCC173-8011-F485-2BF6-84DDCC095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1062681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4E8D00-23AE-514A-94E0-A5C9B8036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-3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E983193-5BEE-0A47-868A-08FB507707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RUN</a:t>
            </a:r>
          </a:p>
          <a:p>
            <a:pPr lvl="1"/>
            <a:r>
              <a:rPr lang="zh-TW" altLang="en-US" dirty="0"/>
              <a:t>執行</a:t>
            </a:r>
            <a:r>
              <a:rPr lang="en-US" altLang="zh-TW" dirty="0"/>
              <a:t>command</a:t>
            </a:r>
            <a:r>
              <a:rPr lang="zh-CN" altLang="en-US" dirty="0"/>
              <a:t>並建立</a:t>
            </a:r>
            <a:r>
              <a:rPr lang="en-US" altLang="zh-CN" dirty="0"/>
              <a:t>image</a:t>
            </a:r>
            <a:r>
              <a:rPr lang="zh-CN" altLang="en-US" dirty="0"/>
              <a:t>，用於安裝。</a:t>
            </a:r>
            <a:r>
              <a:rPr lang="en-US" altLang="zh-TW" dirty="0"/>
              <a:t>Shell </a:t>
            </a:r>
            <a:r>
              <a:rPr lang="zh-CN" altLang="en-US" dirty="0"/>
              <a:t>表示法</a:t>
            </a:r>
            <a:r>
              <a:rPr lang="en-US" altLang="zh-CN" dirty="0"/>
              <a:t>(</a:t>
            </a:r>
            <a:r>
              <a:rPr lang="zh-CN" altLang="en-US" dirty="0"/>
              <a:t>使用</a:t>
            </a:r>
            <a:r>
              <a:rPr lang="en-US" altLang="zh-CN" dirty="0"/>
              <a:t> /bin/</a:t>
            </a:r>
            <a:r>
              <a:rPr lang="en-US" altLang="zh-CN" dirty="0" err="1"/>
              <a:t>sh</a:t>
            </a:r>
            <a:r>
              <a:rPr lang="en-US" altLang="zh-CN" dirty="0"/>
              <a:t>):</a:t>
            </a:r>
            <a:endParaRPr lang="en-US" altLang="zh-TW" dirty="0"/>
          </a:p>
          <a:p>
            <a:pPr lvl="2"/>
            <a:r>
              <a:rPr lang="en-US" altLang="zh-TW" dirty="0"/>
              <a:t>RUN command</a:t>
            </a:r>
          </a:p>
          <a:p>
            <a:pPr lvl="2"/>
            <a:r>
              <a:rPr lang="en-US" altLang="zh-TW" dirty="0"/>
              <a:t>RUN apt-get install python3 </a:t>
            </a:r>
            <a:r>
              <a:rPr lang="zh-CN" altLang="en-US" dirty="0"/>
              <a:t>意思為</a:t>
            </a:r>
            <a:r>
              <a:rPr lang="zh-TW" altLang="en-US" dirty="0"/>
              <a:t> </a:t>
            </a:r>
            <a:r>
              <a:rPr lang="en-US" altLang="zh-TW" dirty="0"/>
              <a:t>/bin/</a:t>
            </a:r>
            <a:r>
              <a:rPr lang="en-US" altLang="zh-TW" dirty="0" err="1"/>
              <a:t>sh</a:t>
            </a:r>
            <a:r>
              <a:rPr lang="en-US" altLang="zh-TW" dirty="0"/>
              <a:t> -c apt-get install python3</a:t>
            </a:r>
          </a:p>
          <a:p>
            <a:pPr lvl="1"/>
            <a:r>
              <a:rPr lang="en-US" altLang="zh-TW" dirty="0"/>
              <a:t>Exec</a:t>
            </a:r>
            <a:r>
              <a:rPr lang="zh-TW" altLang="en-US" dirty="0"/>
              <a:t> </a:t>
            </a:r>
            <a:r>
              <a:rPr lang="zh-CN" altLang="en-US" dirty="0"/>
              <a:t>表示法</a:t>
            </a:r>
            <a:r>
              <a:rPr lang="en-US" altLang="zh-CN" dirty="0"/>
              <a:t>(</a:t>
            </a:r>
            <a:r>
              <a:rPr lang="zh-CN" altLang="en-US" dirty="0"/>
              <a:t>使用指定</a:t>
            </a:r>
            <a:r>
              <a:rPr lang="en-US" altLang="zh-CN" dirty="0"/>
              <a:t>shell)</a:t>
            </a:r>
            <a:r>
              <a:rPr lang="en-US" altLang="zh-TW" dirty="0"/>
              <a:t>:</a:t>
            </a:r>
          </a:p>
          <a:p>
            <a:pPr lvl="2"/>
            <a:r>
              <a:rPr lang="en-US" altLang="zh-TW" dirty="0"/>
              <a:t>RUN ["command1", "command2" …]</a:t>
            </a:r>
            <a:r>
              <a:rPr lang="zh-TW" altLang="en-US" dirty="0"/>
              <a:t> </a:t>
            </a:r>
            <a:endParaRPr lang="en-US" altLang="zh-TW" dirty="0"/>
          </a:p>
          <a:p>
            <a:pPr lvl="2"/>
            <a:r>
              <a:rPr lang="en-US" altLang="zh-TW" dirty="0"/>
              <a:t>Ex: RUN ["/bin/bash", "-c", "echo </a:t>
            </a:r>
            <a:r>
              <a:rPr lang="en-US" altLang="zh-TW" dirty="0" err="1"/>
              <a:t>hellow</a:t>
            </a:r>
            <a:r>
              <a:rPr lang="en-US" altLang="zh-TW" dirty="0"/>
              <a:t> &gt;&gt; </a:t>
            </a:r>
            <a:r>
              <a:rPr lang="en-US" altLang="zh-TW" dirty="0" err="1"/>
              <a:t>hellow.txt</a:t>
            </a:r>
            <a:r>
              <a:rPr lang="en-US" altLang="zh-TW" dirty="0"/>
              <a:t>"]</a:t>
            </a:r>
          </a:p>
          <a:p>
            <a:pPr lvl="1"/>
            <a:r>
              <a:rPr lang="zh-CN" altLang="en-US" dirty="0"/>
              <a:t>可多組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2EC8585-8E2D-59CD-97F9-6B77BEBBB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2493190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F664FD-0F32-8044-AE20-1B888CBB6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-4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2E9AA2A-E406-8A44-ADC9-8BC994075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ADD</a:t>
            </a:r>
          </a:p>
          <a:p>
            <a:pPr lvl="1"/>
            <a:r>
              <a:rPr lang="zh-TW" altLang="en-US" dirty="0"/>
              <a:t>檔案從</a:t>
            </a:r>
            <a:r>
              <a:rPr lang="en-US" altLang="zh-TW" dirty="0"/>
              <a:t>local</a:t>
            </a:r>
            <a:r>
              <a:rPr lang="zh-TW" altLang="en-US" dirty="0"/>
              <a:t>搬到</a:t>
            </a:r>
            <a:r>
              <a:rPr lang="en-US" altLang="zh-TW" dirty="0"/>
              <a:t>Container</a:t>
            </a:r>
            <a:r>
              <a:rPr lang="zh-TW" altLang="en-US" dirty="0"/>
              <a:t>上</a:t>
            </a:r>
          </a:p>
          <a:p>
            <a:pPr lvl="1"/>
            <a:r>
              <a:rPr lang="en-US" altLang="zh-TW" dirty="0"/>
              <a:t>ADD {local </a:t>
            </a:r>
            <a:r>
              <a:rPr lang="zh-CN" altLang="en-US" dirty="0"/>
              <a:t>端檔案路徑</a:t>
            </a:r>
            <a:r>
              <a:rPr lang="en-US" altLang="zh-TW" dirty="0"/>
              <a:t>}</a:t>
            </a:r>
            <a:r>
              <a:rPr lang="zh-TW" altLang="en-US" dirty="0"/>
              <a:t> </a:t>
            </a:r>
            <a:r>
              <a:rPr lang="en-US" altLang="zh-TW" dirty="0"/>
              <a:t>{Container</a:t>
            </a:r>
            <a:r>
              <a:rPr lang="zh-CN" altLang="en-US" dirty="0"/>
              <a:t>內的檔案路徑</a:t>
            </a:r>
            <a:r>
              <a:rPr lang="en-US" altLang="zh-TW" dirty="0"/>
              <a:t>}</a:t>
            </a:r>
          </a:p>
          <a:p>
            <a:pPr lvl="1"/>
            <a:r>
              <a:rPr lang="en-US" altLang="zh-TW" dirty="0"/>
              <a:t>ADD cirros-0.3.4-x86_64-disk.img /</a:t>
            </a:r>
          </a:p>
          <a:p>
            <a:pPr lvl="1"/>
            <a:r>
              <a:rPr lang="en-US" altLang="zh-TW" dirty="0"/>
              <a:t>add </a:t>
            </a:r>
            <a:r>
              <a:rPr lang="zh-CN" altLang="en-US" dirty="0"/>
              <a:t>會複製至指定位置</a:t>
            </a:r>
            <a:r>
              <a:rPr lang="zh-CN" altLang="en-US" dirty="0">
                <a:solidFill>
                  <a:srgbClr val="C00000"/>
                </a:solidFill>
              </a:rPr>
              <a:t>並進行</a:t>
            </a:r>
            <a:r>
              <a:rPr lang="zh-TW" altLang="en-US" dirty="0">
                <a:solidFill>
                  <a:srgbClr val="C00000"/>
                </a:solidFill>
              </a:rPr>
              <a:t>解壓縮</a:t>
            </a:r>
          </a:p>
          <a:p>
            <a:r>
              <a:rPr lang="en-US" altLang="zh-TW" dirty="0"/>
              <a:t>COPY</a:t>
            </a:r>
          </a:p>
          <a:p>
            <a:pPr lvl="1"/>
            <a:r>
              <a:rPr lang="zh-TW" altLang="en-US" dirty="0"/>
              <a:t>檔案從</a:t>
            </a:r>
            <a:r>
              <a:rPr lang="en-US" altLang="zh-TW" dirty="0"/>
              <a:t>local</a:t>
            </a:r>
            <a:r>
              <a:rPr lang="zh-TW" altLang="en-US" dirty="0"/>
              <a:t>搬到</a:t>
            </a:r>
            <a:r>
              <a:rPr lang="en-US" altLang="zh-TW" dirty="0"/>
              <a:t>Container</a:t>
            </a:r>
            <a:r>
              <a:rPr lang="zh-TW" altLang="en-US" dirty="0"/>
              <a:t>上</a:t>
            </a:r>
            <a:endParaRPr lang="en-US" altLang="zh-TW" dirty="0"/>
          </a:p>
          <a:p>
            <a:pPr lvl="1"/>
            <a:r>
              <a:rPr lang="en-US" altLang="zh-TW" dirty="0"/>
              <a:t>COPY {local </a:t>
            </a:r>
            <a:r>
              <a:rPr lang="zh-CN" altLang="en-US" dirty="0"/>
              <a:t>端檔案路徑</a:t>
            </a:r>
            <a:r>
              <a:rPr lang="en-US" altLang="zh-TW" dirty="0"/>
              <a:t>}</a:t>
            </a:r>
            <a:r>
              <a:rPr lang="zh-TW" altLang="en-US" dirty="0"/>
              <a:t> </a:t>
            </a:r>
            <a:r>
              <a:rPr lang="en-US" altLang="zh-TW" dirty="0"/>
              <a:t>{Container</a:t>
            </a:r>
            <a:r>
              <a:rPr lang="zh-CN" altLang="en-US" dirty="0"/>
              <a:t>內的檔案路徑</a:t>
            </a:r>
            <a:r>
              <a:rPr lang="en-US" altLang="zh-TW" dirty="0"/>
              <a:t>}</a:t>
            </a:r>
          </a:p>
          <a:p>
            <a:pPr lvl="1"/>
            <a:r>
              <a:rPr lang="en-US" altLang="zh-TW" dirty="0"/>
              <a:t>COPY cirros-0.3.4-x86_64-disk.img /</a:t>
            </a:r>
          </a:p>
          <a:p>
            <a:pPr lvl="1"/>
            <a:r>
              <a:rPr lang="zh-TW" altLang="en-US" dirty="0"/>
              <a:t>差別</a:t>
            </a:r>
            <a:r>
              <a:rPr lang="en-US" altLang="zh-TW" dirty="0"/>
              <a:t>: copy </a:t>
            </a:r>
            <a:r>
              <a:rPr lang="zh-TW" altLang="en-US" dirty="0"/>
              <a:t>只單純進行複製</a:t>
            </a:r>
            <a:endParaRPr lang="en-US" altLang="zh-TW" dirty="0"/>
          </a:p>
          <a:p>
            <a:pPr lvl="1"/>
            <a:r>
              <a:rPr lang="en-US" altLang="zh-TW" dirty="0"/>
              <a:t>Multi-stage</a:t>
            </a:r>
          </a:p>
          <a:p>
            <a:pPr lvl="2"/>
            <a:r>
              <a:rPr lang="en-US" altLang="zh-TW" dirty="0"/>
              <a:t>COPY --from=xxx</a:t>
            </a:r>
            <a:endParaRPr lang="en-US" altLang="zh-TW" sz="24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48EBA55-E62C-CF6A-FE92-508B9E373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8237306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1A3FC8-0C81-334E-AD99-6252D5F4D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-5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14D9F2F-3296-C941-A4A1-6842215FE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EXPOSE</a:t>
            </a:r>
            <a:r>
              <a:rPr lang="zh-TW" altLang="en-US" dirty="0"/>
              <a:t> </a:t>
            </a:r>
            <a:r>
              <a:rPr lang="en-US" altLang="zh-TW" dirty="0"/>
              <a:t>(Kubernetes </a:t>
            </a:r>
            <a:r>
              <a:rPr lang="zh-TW" altLang="en-US" dirty="0"/>
              <a:t>用不到</a:t>
            </a:r>
            <a:r>
              <a:rPr lang="en-US" altLang="zh-TW" dirty="0"/>
              <a:t>)</a:t>
            </a:r>
          </a:p>
          <a:p>
            <a:pPr lvl="1"/>
            <a:r>
              <a:rPr lang="zh-CN" altLang="en-US" dirty="0"/>
              <a:t>宣告</a:t>
            </a:r>
            <a:r>
              <a:rPr lang="en-US" altLang="zh-CN" dirty="0"/>
              <a:t>Docker </a:t>
            </a:r>
            <a:r>
              <a:rPr lang="zh-CN" altLang="en-US" dirty="0"/>
              <a:t>對外提供哪些</a:t>
            </a:r>
            <a:r>
              <a:rPr lang="en-US" altLang="zh-CN" dirty="0"/>
              <a:t>port</a:t>
            </a:r>
            <a:endParaRPr lang="en-US" altLang="zh-TW" dirty="0"/>
          </a:p>
          <a:p>
            <a:pPr lvl="1"/>
            <a:r>
              <a:rPr lang="en-US" altLang="zh-TW" dirty="0"/>
              <a:t>EXPOSE &lt;port&gt; [&lt;port&gt;/&lt;protocol&gt;...]</a:t>
            </a:r>
          </a:p>
          <a:p>
            <a:pPr lvl="1"/>
            <a:r>
              <a:rPr lang="zh-CN" altLang="en-US" dirty="0"/>
              <a:t>預設為</a:t>
            </a:r>
            <a:r>
              <a:rPr lang="en-US" altLang="zh-TW" dirty="0"/>
              <a:t> TCP port</a:t>
            </a:r>
          </a:p>
          <a:p>
            <a:pPr lvl="2"/>
            <a:r>
              <a:rPr lang="en-US" altLang="zh-TW" dirty="0"/>
              <a:t>Ex: EXPOSE 80/TCP</a:t>
            </a:r>
          </a:p>
          <a:p>
            <a:pPr lvl="2"/>
            <a:r>
              <a:rPr lang="en-US" altLang="zh-TW" dirty="0"/>
              <a:t>Ex: EXPOSE 8000/UDP</a:t>
            </a:r>
          </a:p>
          <a:p>
            <a:pPr lvl="1"/>
            <a:r>
              <a:rPr lang="zh-CN" altLang="en-US" dirty="0"/>
              <a:t>可多組</a:t>
            </a:r>
            <a:endParaRPr lang="en-US" altLang="zh-TW" dirty="0"/>
          </a:p>
          <a:p>
            <a:r>
              <a:rPr lang="zh-CN" altLang="en-US" dirty="0"/>
              <a:t>可</a:t>
            </a:r>
            <a:r>
              <a:rPr lang="zh-TW" altLang="en-US" dirty="0"/>
              <a:t>使用</a:t>
            </a:r>
            <a:r>
              <a:rPr lang="en-US" altLang="zh-TW" dirty="0"/>
              <a:t>docker command</a:t>
            </a:r>
            <a:r>
              <a:rPr lang="zh-CN" altLang="en-US" dirty="0"/>
              <a:t>取代</a:t>
            </a:r>
            <a:endParaRPr lang="en-US" altLang="zh-TW" dirty="0"/>
          </a:p>
          <a:p>
            <a:pPr lvl="1"/>
            <a:r>
              <a:rPr lang="en-US" altLang="zh-TW" dirty="0"/>
              <a:t>docker run -p {{local</a:t>
            </a:r>
            <a:r>
              <a:rPr lang="zh-TW" altLang="en-US" dirty="0"/>
              <a:t>端</a:t>
            </a:r>
            <a:r>
              <a:rPr lang="en-US" altLang="zh-TW" dirty="0"/>
              <a:t>port}}:{{container</a:t>
            </a:r>
            <a:r>
              <a:rPr lang="zh-CN" altLang="en-US" dirty="0"/>
              <a:t>啟用</a:t>
            </a:r>
            <a:r>
              <a:rPr lang="en-US" altLang="zh-CN" dirty="0"/>
              <a:t>port</a:t>
            </a:r>
            <a:r>
              <a:rPr lang="en-US" altLang="zh-TW" dirty="0"/>
              <a:t>}}</a:t>
            </a:r>
          </a:p>
          <a:p>
            <a:pPr lvl="2"/>
            <a:r>
              <a:rPr lang="en-US" altLang="zh-TW" dirty="0"/>
              <a:t>docker run -p 80:80</a:t>
            </a:r>
          </a:p>
          <a:p>
            <a:pPr lvl="2"/>
            <a:r>
              <a:rPr lang="en-US" altLang="zh-TW" dirty="0"/>
              <a:t>docker run -p 80:80 -p 443:443</a:t>
            </a:r>
          </a:p>
          <a:p>
            <a:pPr lvl="1"/>
            <a:r>
              <a:rPr lang="en-US" altLang="zh-TW" dirty="0"/>
              <a:t>docker run -P</a:t>
            </a:r>
          </a:p>
          <a:p>
            <a:pPr lvl="2"/>
            <a:r>
              <a:rPr lang="zh-CN" altLang="en-US" dirty="0"/>
              <a:t>隨機指定一個</a:t>
            </a:r>
            <a:r>
              <a:rPr lang="en-US" altLang="zh-CN" dirty="0"/>
              <a:t>3xxxx</a:t>
            </a:r>
            <a:r>
              <a:rPr lang="zh-TW" altLang="en-US" dirty="0"/>
              <a:t> </a:t>
            </a:r>
            <a:r>
              <a:rPr lang="en-US" altLang="zh-TW" dirty="0"/>
              <a:t>port </a:t>
            </a:r>
            <a:r>
              <a:rPr lang="zh-CN" altLang="en-US" dirty="0"/>
              <a:t>給</a:t>
            </a:r>
            <a:r>
              <a:rPr lang="en-US" altLang="zh-CN" dirty="0"/>
              <a:t>EXPOSE </a:t>
            </a:r>
            <a:r>
              <a:rPr lang="zh-TW" altLang="en-US" dirty="0"/>
              <a:t> </a:t>
            </a:r>
            <a:r>
              <a:rPr lang="en-US" altLang="zh-TW" dirty="0"/>
              <a:t>port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1721FC5-B632-2F9F-8C5B-DA71B6457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3021200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3FA7A5-40BE-EC43-9199-22BA5191A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-6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FC1BC88-3222-CF42-BDFF-1261F4E54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VOLUME (Kubernetes </a:t>
            </a:r>
            <a:r>
              <a:rPr lang="zh-TW" altLang="en-US" dirty="0"/>
              <a:t>用不到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在</a:t>
            </a:r>
            <a:r>
              <a:rPr lang="en-US" altLang="zh-TW" dirty="0"/>
              <a:t>local</a:t>
            </a:r>
            <a:r>
              <a:rPr lang="zh-TW" altLang="en-US" dirty="0"/>
              <a:t>端建立</a:t>
            </a:r>
            <a:r>
              <a:rPr lang="en-US" altLang="zh-TW" dirty="0"/>
              <a:t>volume</a:t>
            </a:r>
            <a:r>
              <a:rPr lang="zh-TW" altLang="en-US" dirty="0"/>
              <a:t>，並接到</a:t>
            </a:r>
            <a:r>
              <a:rPr lang="en-US" altLang="zh-TW" dirty="0"/>
              <a:t>container</a:t>
            </a:r>
            <a:r>
              <a:rPr lang="zh-TW" altLang="en-US" dirty="0"/>
              <a:t>內的 </a:t>
            </a:r>
            <a:r>
              <a:rPr lang="en-US" altLang="zh-TW" dirty="0"/>
              <a:t>/volume1 </a:t>
            </a:r>
          </a:p>
          <a:p>
            <a:pPr lvl="1"/>
            <a:r>
              <a:rPr lang="en-US" altLang="zh-TW" dirty="0"/>
              <a:t>VOLUME [“/volume1”] </a:t>
            </a:r>
          </a:p>
          <a:p>
            <a:pPr lvl="1"/>
            <a:r>
              <a:rPr lang="en-US" altLang="zh-TW" dirty="0"/>
              <a:t>VOLUME [“/volume1”, “/volume2” …..]</a:t>
            </a:r>
          </a:p>
          <a:p>
            <a:pPr lvl="1"/>
            <a:r>
              <a:rPr lang="zh-CN" altLang="en-US" dirty="0"/>
              <a:t>可多組</a:t>
            </a:r>
            <a:endParaRPr lang="en-US" altLang="zh-TW" dirty="0"/>
          </a:p>
          <a:p>
            <a:r>
              <a:rPr lang="zh-CN" altLang="en-US" dirty="0"/>
              <a:t>可</a:t>
            </a:r>
            <a:r>
              <a:rPr lang="zh-TW" altLang="en-US" dirty="0"/>
              <a:t>使用</a:t>
            </a:r>
            <a:r>
              <a:rPr lang="en-US" altLang="zh-TW" dirty="0"/>
              <a:t>docker command</a:t>
            </a:r>
            <a:r>
              <a:rPr lang="zh-CN" altLang="en-US" dirty="0"/>
              <a:t>取代</a:t>
            </a:r>
            <a:endParaRPr lang="en-US" altLang="zh-TW" dirty="0"/>
          </a:p>
          <a:p>
            <a:pPr lvl="1"/>
            <a:r>
              <a:rPr lang="en-US" altLang="zh-TW" dirty="0"/>
              <a:t>docker run -v {{local</a:t>
            </a:r>
            <a:r>
              <a:rPr lang="zh-TW" altLang="en-US" dirty="0"/>
              <a:t>路徑</a:t>
            </a:r>
            <a:r>
              <a:rPr lang="en-US" altLang="zh-TW" dirty="0"/>
              <a:t>}}:{{container </a:t>
            </a:r>
            <a:r>
              <a:rPr lang="zh-TW" altLang="en-US" dirty="0"/>
              <a:t>路徑</a:t>
            </a:r>
            <a:r>
              <a:rPr lang="en-US" altLang="zh-TW" dirty="0"/>
              <a:t>}}</a:t>
            </a:r>
          </a:p>
          <a:p>
            <a:pPr lvl="2"/>
            <a:r>
              <a:rPr lang="en-US" altLang="zh-TW" dirty="0"/>
              <a:t>docker run -v $HOME/container1-data:/data</a:t>
            </a:r>
          </a:p>
          <a:p>
            <a:pPr lvl="2"/>
            <a:r>
              <a:rPr lang="en-US" altLang="zh-TW" dirty="0"/>
              <a:t>docker run -v $HOME/container1-data:/data -v $HOME/container1-logs:/var/lib/log</a:t>
            </a:r>
          </a:p>
          <a:p>
            <a:pPr lvl="1"/>
            <a:endParaRPr lang="en-US" altLang="zh-TW" dirty="0"/>
          </a:p>
          <a:p>
            <a:pPr lvl="1"/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8060B6-D592-A6DC-CD30-3D7AF4535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9506521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FA7271-32C0-194F-879A-82F994401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-7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979B7D8-5B07-6F40-8E03-FC39A35038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ENTRYPOINT</a:t>
            </a:r>
          </a:p>
          <a:p>
            <a:pPr lvl="1"/>
            <a:r>
              <a:rPr lang="zh-TW" altLang="en-US" dirty="0"/>
              <a:t>一個</a:t>
            </a:r>
            <a:r>
              <a:rPr lang="en-US" altLang="zh-TW" dirty="0"/>
              <a:t>Docker file </a:t>
            </a:r>
            <a:r>
              <a:rPr lang="zh-TW" altLang="en-US" dirty="0"/>
              <a:t>只能有一個</a:t>
            </a:r>
            <a:endParaRPr lang="en-US" altLang="zh-CN" dirty="0"/>
          </a:p>
          <a:p>
            <a:pPr lvl="1"/>
            <a:r>
              <a:rPr lang="zh-CN" altLang="en-US" dirty="0"/>
              <a:t>用來進行參數設定，</a:t>
            </a:r>
            <a:r>
              <a:rPr lang="en-US" altLang="zh-CN" dirty="0"/>
              <a:t>container</a:t>
            </a:r>
            <a:r>
              <a:rPr lang="zh-CN" altLang="en-US" dirty="0"/>
              <a:t>運行前的前置作業。</a:t>
            </a:r>
            <a:endParaRPr lang="en-US" altLang="zh-CN" dirty="0"/>
          </a:p>
          <a:p>
            <a:pPr lvl="1"/>
            <a:r>
              <a:rPr lang="zh-CN" altLang="en-US" dirty="0"/>
              <a:t>會在</a:t>
            </a:r>
            <a:r>
              <a:rPr lang="en-US" altLang="zh-CN" dirty="0"/>
              <a:t>CMD </a:t>
            </a:r>
            <a:r>
              <a:rPr lang="zh-CN" altLang="en-US" dirty="0"/>
              <a:t>執行前執行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不可取代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en-US" altLang="zh-TW" dirty="0"/>
              <a:t>CMD (</a:t>
            </a:r>
            <a:r>
              <a:rPr lang="zh-CN" altLang="en-US" dirty="0"/>
              <a:t>預設執行</a:t>
            </a:r>
            <a:r>
              <a:rPr lang="en-US" altLang="zh-CN" dirty="0"/>
              <a:t>command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一個</a:t>
            </a:r>
            <a:r>
              <a:rPr lang="en-US" altLang="zh-TW" dirty="0"/>
              <a:t>Docker file </a:t>
            </a:r>
            <a:r>
              <a:rPr lang="zh-TW" altLang="en-US" dirty="0"/>
              <a:t>只能有一個</a:t>
            </a:r>
          </a:p>
          <a:p>
            <a:pPr lvl="1"/>
            <a:r>
              <a:rPr lang="en-US" altLang="zh-TW" dirty="0"/>
              <a:t>docker </a:t>
            </a:r>
            <a:r>
              <a:rPr lang="zh-TW" altLang="en-US" dirty="0"/>
              <a:t>啟動</a:t>
            </a:r>
            <a:r>
              <a:rPr lang="zh-CN" altLang="en-US" dirty="0"/>
              <a:t>時</a:t>
            </a:r>
            <a:r>
              <a:rPr lang="zh-TW" altLang="en-US" dirty="0"/>
              <a:t>執行，並且可</a:t>
            </a:r>
            <a:r>
              <a:rPr lang="zh-CN" altLang="en-US" dirty="0"/>
              <a:t>經</a:t>
            </a:r>
            <a:r>
              <a:rPr lang="zh-TW" altLang="en-US" dirty="0"/>
              <a:t>由</a:t>
            </a:r>
            <a:r>
              <a:rPr lang="en-US" altLang="zh-TW" dirty="0"/>
              <a:t>docker run -</a:t>
            </a:r>
            <a:r>
              <a:rPr lang="en-US" altLang="zh-TW" dirty="0" err="1"/>
              <a:t>itd</a:t>
            </a:r>
            <a:r>
              <a:rPr lang="en-US" altLang="zh-TW" dirty="0"/>
              <a:t> {</a:t>
            </a:r>
            <a:r>
              <a:rPr lang="en-US" altLang="zh-TW" dirty="0" err="1"/>
              <a:t>image_name</a:t>
            </a:r>
            <a:r>
              <a:rPr lang="en-US" altLang="zh-TW" dirty="0"/>
              <a:t>} {command}</a:t>
            </a:r>
            <a:r>
              <a:rPr lang="zh-CN" altLang="en-US" dirty="0"/>
              <a:t>置</a:t>
            </a:r>
            <a:r>
              <a:rPr lang="zh-TW" altLang="en-US" dirty="0"/>
              <a:t>換參數</a:t>
            </a:r>
            <a:endParaRPr lang="en-US" altLang="zh-TW" dirty="0"/>
          </a:p>
          <a:p>
            <a:pPr lvl="1"/>
            <a:r>
              <a:rPr lang="zh-TW" altLang="en-US" dirty="0">
                <a:solidFill>
                  <a:srgbClr val="FF0000"/>
                </a:solidFill>
              </a:rPr>
              <a:t>可取代</a:t>
            </a:r>
            <a:endParaRPr lang="en-US" altLang="zh-TW" dirty="0">
              <a:solidFill>
                <a:srgbClr val="FF0000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32ABD93-BBAD-A7BA-9D4A-2E4A6C04B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1166794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641126-0CAE-2A4A-B52C-CE0904338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-8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39C0C8E-8193-6E4B-9A31-E0593D51A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ENTRYPOINT</a:t>
            </a:r>
            <a:r>
              <a:rPr lang="zh-CN" altLang="en-US" dirty="0"/>
              <a:t>與</a:t>
            </a:r>
            <a:r>
              <a:rPr lang="en-US" altLang="zh-CN" dirty="0"/>
              <a:t>CMD</a:t>
            </a:r>
            <a:r>
              <a:rPr lang="zh-CN" altLang="en-US" dirty="0"/>
              <a:t>組合成</a:t>
            </a:r>
            <a:r>
              <a:rPr lang="en-US" altLang="zh-CN" dirty="0"/>
              <a:t>Docker </a:t>
            </a:r>
            <a:r>
              <a:rPr lang="zh-CN" altLang="en-US" dirty="0"/>
              <a:t>執行時</a:t>
            </a:r>
            <a:r>
              <a:rPr lang="en-US" altLang="zh-CN" dirty="0"/>
              <a:t>Command</a:t>
            </a:r>
          </a:p>
          <a:p>
            <a:pPr lvl="1"/>
            <a:r>
              <a:rPr lang="en-US" altLang="zh-TW" dirty="0"/>
              <a:t>ENTRYPOINT [”/bin/bash”]</a:t>
            </a:r>
          </a:p>
          <a:p>
            <a:pPr lvl="1"/>
            <a:r>
              <a:rPr lang="en-US" altLang="zh-CN" dirty="0"/>
              <a:t>CMD [</a:t>
            </a:r>
            <a:r>
              <a:rPr lang="en-US" altLang="zh-CN" dirty="0" err="1"/>
              <a:t>sh</a:t>
            </a:r>
            <a:r>
              <a:rPr lang="en-US" altLang="zh-CN" dirty="0"/>
              <a:t> </a:t>
            </a:r>
            <a:r>
              <a:rPr lang="en-US" altLang="zh-CN" dirty="0" err="1"/>
              <a:t>execute.sh</a:t>
            </a:r>
            <a:r>
              <a:rPr lang="en-US" altLang="zh-CN" dirty="0"/>
              <a:t> </a:t>
            </a:r>
            <a:r>
              <a:rPr lang="zh-CN" altLang="en-US" dirty="0"/>
              <a:t>參數</a:t>
            </a:r>
            <a:r>
              <a:rPr lang="en-US" altLang="zh-CN" dirty="0"/>
              <a:t>1 ]</a:t>
            </a:r>
          </a:p>
          <a:p>
            <a:pPr lvl="1"/>
            <a:r>
              <a:rPr lang="zh-CN" altLang="en-US" dirty="0"/>
              <a:t>組合後</a:t>
            </a:r>
            <a:endParaRPr lang="en-US" altLang="zh-CN" dirty="0"/>
          </a:p>
          <a:p>
            <a:pPr lvl="2"/>
            <a:r>
              <a:rPr lang="en-US" altLang="zh-TW" dirty="0"/>
              <a:t>ENTRYPOINT</a:t>
            </a:r>
            <a:r>
              <a:rPr lang="zh-TW" altLang="en-US" dirty="0"/>
              <a:t> </a:t>
            </a:r>
            <a:r>
              <a:rPr lang="en-US" altLang="zh-TW" dirty="0"/>
              <a:t>+ </a:t>
            </a:r>
            <a:r>
              <a:rPr lang="en-US" altLang="zh-CN" dirty="0"/>
              <a:t>CMD</a:t>
            </a:r>
          </a:p>
          <a:p>
            <a:pPr lvl="2"/>
            <a:r>
              <a:rPr lang="en-US" altLang="zh-CN" dirty="0"/>
              <a:t>/bin/bash </a:t>
            </a:r>
            <a:r>
              <a:rPr lang="en-US" altLang="zh-CN" dirty="0" err="1"/>
              <a:t>sh</a:t>
            </a:r>
            <a:r>
              <a:rPr lang="en-US" altLang="zh-CN" dirty="0"/>
              <a:t> </a:t>
            </a:r>
            <a:r>
              <a:rPr lang="en-US" altLang="zh-CN" dirty="0" err="1"/>
              <a:t>execute.sh</a:t>
            </a:r>
            <a:r>
              <a:rPr lang="zh-TW" altLang="en-US" dirty="0"/>
              <a:t> </a:t>
            </a:r>
            <a:r>
              <a:rPr lang="zh-CN" altLang="en-US" dirty="0"/>
              <a:t>參數</a:t>
            </a:r>
            <a:r>
              <a:rPr lang="en-US" altLang="zh-CN" dirty="0"/>
              <a:t> 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9E6171-0BD2-D26C-2BA5-39A227BEB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9902251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B46C854A-B421-BA86-5A8D-9726FC313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附錄</a:t>
            </a:r>
            <a:r>
              <a:rPr lang="en-US" altLang="zh-TW" dirty="0"/>
              <a:t>C: </a:t>
            </a:r>
            <a:r>
              <a:rPr lang="zh-TW" altLang="en-US" dirty="0"/>
              <a:t>各種程式語言的</a:t>
            </a:r>
            <a:r>
              <a:rPr lang="en-US" altLang="zh-TW" dirty="0" err="1"/>
              <a:t>dockerfile</a:t>
            </a:r>
            <a:endParaRPr lang="zh-TW" altLang="en-US" dirty="0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7FCDBDA3-D8BC-D6D5-2BAB-A864C97DFD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F8960C2-075D-9BF6-E286-7089A9D9D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9467429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157972-A588-F049-932D-04D49713F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Python Flask API </a:t>
            </a:r>
            <a:r>
              <a:rPr kumimoji="1" lang="en-US" altLang="zh-TW" dirty="0" err="1"/>
              <a:t>Dockerfile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CF2BD90-AEED-B746-998C-1D2E024991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06052"/>
            <a:ext cx="817632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zh-TW" dirty="0"/>
              <a:t>FROM python:3</a:t>
            </a:r>
          </a:p>
          <a:p>
            <a:pPr marL="0" indent="0">
              <a:buNone/>
            </a:pPr>
            <a:r>
              <a:rPr kumimoji="1" lang="en-US" altLang="zh-TW" dirty="0"/>
              <a:t>WORKDIR /</a:t>
            </a:r>
            <a:r>
              <a:rPr kumimoji="1" lang="en-US" altLang="zh-TW" dirty="0" err="1"/>
              <a:t>usr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src</a:t>
            </a:r>
            <a:r>
              <a:rPr kumimoji="1" lang="en-US" altLang="zh-TW" dirty="0"/>
              <a:t>/app</a:t>
            </a:r>
          </a:p>
          <a:p>
            <a:pPr marL="0" indent="0">
              <a:buNone/>
            </a:pPr>
            <a:r>
              <a:rPr kumimoji="1" lang="en-US" altLang="zh-TW" dirty="0"/>
              <a:t>COPY </a:t>
            </a:r>
            <a:r>
              <a:rPr kumimoji="1" lang="en-US" altLang="zh-TW" dirty="0" err="1"/>
              <a:t>requirements.txt</a:t>
            </a:r>
            <a:r>
              <a:rPr kumimoji="1" lang="en-US" altLang="zh-TW" dirty="0"/>
              <a:t> .</a:t>
            </a:r>
          </a:p>
          <a:p>
            <a:pPr marL="0" indent="0">
              <a:buNone/>
            </a:pPr>
            <a:r>
              <a:rPr kumimoji="1" lang="en-US" altLang="zh-TW" dirty="0"/>
              <a:t>RUN pip install --no-cache-</a:t>
            </a:r>
            <a:r>
              <a:rPr kumimoji="1" lang="en-US" altLang="zh-TW" dirty="0" err="1"/>
              <a:t>dir</a:t>
            </a:r>
            <a:r>
              <a:rPr kumimoji="1" lang="en-US" altLang="zh-TW" dirty="0"/>
              <a:t> -r ./</a:t>
            </a:r>
            <a:r>
              <a:rPr kumimoji="1" lang="en-US" altLang="zh-TW" dirty="0" err="1"/>
              <a:t>requirements.txt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COPY . .</a:t>
            </a:r>
          </a:p>
          <a:p>
            <a:pPr marL="0" indent="0">
              <a:buNone/>
            </a:pPr>
            <a:r>
              <a:rPr kumimoji="1" lang="en-US" altLang="zh-TW" dirty="0"/>
              <a:t>CMD [ "python", "</a:t>
            </a:r>
            <a:r>
              <a:rPr kumimoji="1" lang="en-US" altLang="zh-TW" dirty="0" err="1"/>
              <a:t>api.py</a:t>
            </a:r>
            <a:r>
              <a:rPr kumimoji="1" lang="en-US" altLang="zh-TW" dirty="0"/>
              <a:t>"]</a:t>
            </a:r>
            <a:endParaRPr kumimoji="1"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61B9D08-9CB9-AC36-8FF6-AC0523FC8552}"/>
              </a:ext>
            </a:extLst>
          </p:cNvPr>
          <p:cNvSpPr txBox="1"/>
          <p:nvPr/>
        </p:nvSpPr>
        <p:spPr>
          <a:xfrm>
            <a:off x="1178351" y="5788058"/>
            <a:ext cx="9021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~/docker-</a:t>
            </a:r>
            <a:r>
              <a:rPr kumimoji="1" lang="en-US" altLang="zh-TW" dirty="0" err="1"/>
              <a:t>devops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dockerfile</a:t>
            </a:r>
            <a:r>
              <a:rPr kumimoji="1" lang="en-US" altLang="zh-TW" dirty="0"/>
              <a:t>/flask-</a:t>
            </a:r>
            <a:r>
              <a:rPr kumimoji="1" lang="en-US" altLang="zh-TW" dirty="0" err="1"/>
              <a:t>api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CD2AF7D-5707-9A15-09AB-918BAB51F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8704285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E77E98-B4F9-D344-B08E-1D9E69DD4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自己</a:t>
            </a:r>
            <a:r>
              <a:rPr kumimoji="1" lang="en-US" altLang="zh-CN" dirty="0"/>
              <a:t>build </a:t>
            </a:r>
            <a:r>
              <a:rPr kumimoji="1" lang="en-US" altLang="zh-TW" dirty="0" err="1"/>
              <a:t>Dockerfile</a:t>
            </a:r>
            <a:r>
              <a:rPr kumimoji="1" lang="en-US" altLang="zh-TW" dirty="0"/>
              <a:t>: Java Spring with </a:t>
            </a:r>
            <a:r>
              <a:rPr kumimoji="1" lang="en-US" altLang="zh-TW" dirty="0" err="1"/>
              <a:t>gradle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8D93EC9-3290-954B-9863-154943D98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kumimoji="1" lang="en-US" altLang="zh-TW" dirty="0"/>
              <a:t>FROM gradle:7.6.0-jdk8 as build-stage</a:t>
            </a:r>
          </a:p>
          <a:p>
            <a:pPr marL="0" indent="0">
              <a:buNone/>
            </a:pPr>
            <a:r>
              <a:rPr kumimoji="1" lang="en-US" altLang="zh-TW" dirty="0"/>
              <a:t>WORKDIR /home/</a:t>
            </a:r>
            <a:r>
              <a:rPr kumimoji="1" lang="en-US" altLang="zh-TW" dirty="0" err="1"/>
              <a:t>gradle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src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COPY --</a:t>
            </a:r>
            <a:r>
              <a:rPr kumimoji="1" lang="en-US" altLang="zh-TW" dirty="0" err="1"/>
              <a:t>chown</a:t>
            </a:r>
            <a:r>
              <a:rPr kumimoji="1" lang="en-US" altLang="zh-TW" dirty="0"/>
              <a:t>=</a:t>
            </a:r>
            <a:r>
              <a:rPr kumimoji="1" lang="en-US" altLang="zh-TW" dirty="0" err="1"/>
              <a:t>gradle:gradle</a:t>
            </a:r>
            <a:r>
              <a:rPr kumimoji="1" lang="en-US" altLang="zh-TW" dirty="0"/>
              <a:t> . .</a:t>
            </a:r>
          </a:p>
          <a:p>
            <a:pPr marL="0" indent="0">
              <a:buNone/>
            </a:pPr>
            <a:r>
              <a:rPr kumimoji="1" lang="en-US" altLang="zh-TW" dirty="0"/>
              <a:t>RUN </a:t>
            </a:r>
            <a:r>
              <a:rPr kumimoji="1" lang="en-US" altLang="zh-TW" dirty="0" err="1"/>
              <a:t>gradle</a:t>
            </a:r>
            <a:r>
              <a:rPr kumimoji="1" lang="en-US" altLang="zh-TW" dirty="0"/>
              <a:t> build</a:t>
            </a:r>
          </a:p>
          <a:p>
            <a:pPr marL="0" indent="0">
              <a:buNone/>
            </a:pP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FROM openjdk:8-jdk-alpine</a:t>
            </a:r>
          </a:p>
          <a:p>
            <a:pPr marL="0" indent="0">
              <a:buNone/>
            </a:pPr>
            <a:r>
              <a:rPr kumimoji="1" lang="en-US" altLang="zh-TW" dirty="0"/>
              <a:t>COPY --from=build-stage /home/</a:t>
            </a:r>
            <a:r>
              <a:rPr kumimoji="1" lang="en-US" altLang="zh-TW" dirty="0" err="1"/>
              <a:t>gradle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src</a:t>
            </a:r>
            <a:r>
              <a:rPr kumimoji="1" lang="en-US" altLang="zh-TW" dirty="0"/>
              <a:t>/build/libs/spring-boot-docker-0.0.1-SNAPSHOT.jar </a:t>
            </a:r>
            <a:r>
              <a:rPr kumimoji="1" lang="en-US" altLang="zh-TW" dirty="0" err="1"/>
              <a:t>app.jar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ENTRYPOINT ["java","-jar","/</a:t>
            </a:r>
            <a:r>
              <a:rPr kumimoji="1" lang="en-US" altLang="zh-TW" dirty="0" err="1"/>
              <a:t>app.jar</a:t>
            </a:r>
            <a:r>
              <a:rPr kumimoji="1" lang="en-US" altLang="zh-TW" dirty="0"/>
              <a:t>"]</a:t>
            </a:r>
            <a:endParaRPr kumimoji="1"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63166BF-C149-4D24-83FF-8B43287890DA}"/>
              </a:ext>
            </a:extLst>
          </p:cNvPr>
          <p:cNvSpPr txBox="1"/>
          <p:nvPr/>
        </p:nvSpPr>
        <p:spPr>
          <a:xfrm>
            <a:off x="1233150" y="6176963"/>
            <a:ext cx="9021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~/docker-</a:t>
            </a:r>
            <a:r>
              <a:rPr kumimoji="1" lang="en-US" altLang="zh-TW" dirty="0" err="1"/>
              <a:t>devops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dockerfile</a:t>
            </a:r>
            <a:r>
              <a:rPr kumimoji="1" lang="en-US" altLang="zh-TW" dirty="0"/>
              <a:t>/java-spring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40C71FB-ED9F-A757-76E6-68C692B37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7806910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B65C2A-9906-DF25-8A01-FD6138CD6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Build Java Spring 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5074A16-01D7-043D-5D1F-401A80E34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TW" dirty="0"/>
              <a:t>docker build . --tag </a:t>
            </a:r>
            <a:r>
              <a:rPr kumimoji="1" lang="en-US" altLang="zh-TW" dirty="0" err="1"/>
              <a:t>demoyuw</a:t>
            </a:r>
            <a:r>
              <a:rPr kumimoji="1" lang="en-US" altLang="zh-TW" dirty="0"/>
              <a:t>/java-spring:v1</a:t>
            </a:r>
          </a:p>
          <a:p>
            <a:pPr lvl="1"/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50CCDE4-7629-5A18-C419-2109F46AF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468" y="2310108"/>
            <a:ext cx="6608542" cy="4200257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DE29495-7553-CF27-45E3-1BCB2D241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9203721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5E6F6F-594E-5EED-CDD8-ADEBB0897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Run Java spring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E82DE6-FC8D-F671-83E6-868E6F5CD8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docker run -</a:t>
            </a:r>
            <a:r>
              <a:rPr kumimoji="1" lang="en-US" altLang="zh-TW" dirty="0" err="1"/>
              <a:t>itd</a:t>
            </a:r>
            <a:r>
              <a:rPr kumimoji="1" lang="en-US" altLang="zh-TW" dirty="0"/>
              <a:t> -p 8080:8080 --name java-spring </a:t>
            </a:r>
            <a:r>
              <a:rPr kumimoji="1" lang="en-US" altLang="zh-TW" dirty="0" err="1"/>
              <a:t>demoyuw</a:t>
            </a:r>
            <a:r>
              <a:rPr kumimoji="1" lang="en-US" altLang="zh-TW" dirty="0"/>
              <a:t>/java-spring:v1</a:t>
            </a:r>
          </a:p>
          <a:p>
            <a:endParaRPr kumimoji="1" lang="en-US" altLang="zh-TW" dirty="0"/>
          </a:p>
          <a:p>
            <a:endParaRPr kumimoji="1" lang="en-US" altLang="zh-TW" dirty="0"/>
          </a:p>
          <a:p>
            <a:r>
              <a:rPr kumimoji="1" lang="en-US" altLang="zh-TW" dirty="0"/>
              <a:t>docker </a:t>
            </a:r>
            <a:r>
              <a:rPr kumimoji="1" lang="en-US" altLang="zh-TW" dirty="0" err="1"/>
              <a:t>ps</a:t>
            </a:r>
            <a:r>
              <a:rPr kumimoji="1" lang="en-US" altLang="zh-TW" dirty="0"/>
              <a:t> -a</a:t>
            </a:r>
          </a:p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428D572-B53D-1524-0873-3EF7E39A1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51994"/>
            <a:ext cx="12192000" cy="377006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205576F4-7F2F-A65B-6761-0AB804784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32" y="4747918"/>
            <a:ext cx="12192000" cy="518128"/>
          </a:xfrm>
          <a:prstGeom prst="rect">
            <a:avLst/>
          </a:prstGeom>
        </p:spPr>
      </p:pic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992E3BD-D4A9-7CAC-931D-0875587FA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912445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3EF0DF-0908-4D87-6FB7-6CAB4B33E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驗證 </a:t>
            </a:r>
            <a:r>
              <a:rPr kumimoji="1" lang="en-US" altLang="zh-TW" dirty="0"/>
              <a:t>Java Spring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09B4874-5EC9-0014-8ADE-24A6F49A12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http://{VM1 </a:t>
            </a:r>
            <a:r>
              <a:rPr kumimoji="1" lang="zh-TW" altLang="en-US" dirty="0"/>
              <a:t>外部</a:t>
            </a:r>
            <a:r>
              <a:rPr kumimoji="1" lang="en-US" altLang="zh-TW" dirty="0"/>
              <a:t>IP}:8080/</a:t>
            </a:r>
          </a:p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F421C11-6F7B-0BE6-E676-C57142B03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566" y="3028713"/>
            <a:ext cx="9893300" cy="2578100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B369FD0-BEBB-6364-F665-10F295F89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3134495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587915D9-63BD-0E4E-97C9-53B5DA262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附錄</a:t>
            </a:r>
            <a:r>
              <a:rPr kumimoji="1" lang="en-US" altLang="zh-TW" dirty="0"/>
              <a:t>D: Helm</a:t>
            </a:r>
            <a:endParaRPr kumimoji="1" lang="zh-TW" altLang="en-US" dirty="0"/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795D65CD-9B14-8646-AFFD-80F6FE7DF0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FDEDCBD-71AC-01BC-496D-E50AB36A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2561166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E03BC9-8DA6-7E45-8F56-E26BFAA9E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Helm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726066-FEFB-184E-8141-AC8F30255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Kubernetes</a:t>
            </a:r>
            <a:r>
              <a:rPr kumimoji="1" lang="zh-TW" altLang="en-US" dirty="0"/>
              <a:t>套件管理工具</a:t>
            </a:r>
            <a:r>
              <a:rPr kumimoji="1" lang="en-US" altLang="zh-TW" dirty="0"/>
              <a:t> (</a:t>
            </a:r>
            <a:r>
              <a:rPr kumimoji="1" lang="zh-TW" altLang="en-US" dirty="0"/>
              <a:t>類似</a:t>
            </a:r>
            <a:r>
              <a:rPr kumimoji="1" lang="en-US" altLang="zh-TW" dirty="0"/>
              <a:t>: Yum RPM, Apt </a:t>
            </a:r>
            <a:r>
              <a:rPr kumimoji="1" lang="en-US" altLang="zh-TW" dirty="0" err="1"/>
              <a:t>dpkg</a:t>
            </a:r>
            <a:r>
              <a:rPr kumimoji="1" lang="en-US" altLang="zh-TW" dirty="0"/>
              <a:t>)</a:t>
            </a:r>
          </a:p>
          <a:p>
            <a:r>
              <a:rPr kumimoji="1" lang="zh-TW" altLang="en-US" dirty="0"/>
              <a:t>角色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Chart</a:t>
            </a:r>
          </a:p>
          <a:p>
            <a:pPr lvl="2"/>
            <a:r>
              <a:rPr kumimoji="1" lang="zh-CN" altLang="en-US" dirty="0"/>
              <a:t>安裝、部署包</a:t>
            </a:r>
            <a:r>
              <a:rPr kumimoji="1" lang="en-US" altLang="zh-CN" dirty="0"/>
              <a:t> (package)</a:t>
            </a:r>
            <a:r>
              <a:rPr kumimoji="1" lang="zh-CN" altLang="en-US" dirty="0"/>
              <a:t>，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Repository</a:t>
            </a:r>
          </a:p>
          <a:p>
            <a:pPr lvl="2"/>
            <a:r>
              <a:rPr kumimoji="1" lang="zh-CN" altLang="en-US" dirty="0"/>
              <a:t>套件倉庫</a:t>
            </a:r>
            <a:r>
              <a:rPr kumimoji="1" lang="en-US" altLang="zh-CN" dirty="0"/>
              <a:t> (package server)</a:t>
            </a:r>
            <a:r>
              <a:rPr kumimoji="1" lang="zh-CN" altLang="en-US" dirty="0"/>
              <a:t>，供</a:t>
            </a:r>
            <a:r>
              <a:rPr kumimoji="1" lang="en-US" altLang="zh-CN" dirty="0"/>
              <a:t>H</a:t>
            </a:r>
            <a:r>
              <a:rPr kumimoji="1" lang="en-US" altLang="zh-TW" dirty="0"/>
              <a:t>elm</a:t>
            </a:r>
            <a:r>
              <a:rPr kumimoji="1" lang="zh-CN" altLang="en-US" dirty="0"/>
              <a:t>取用套件進行安裝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Command: helm repo</a:t>
            </a:r>
          </a:p>
          <a:p>
            <a:pPr lvl="1"/>
            <a:r>
              <a:rPr kumimoji="1" lang="en-US" altLang="zh-CN" dirty="0"/>
              <a:t>Release</a:t>
            </a:r>
          </a:p>
          <a:p>
            <a:pPr lvl="2"/>
            <a:r>
              <a:rPr kumimoji="1" lang="zh-CN" altLang="en-US" dirty="0"/>
              <a:t>經由</a:t>
            </a:r>
            <a:r>
              <a:rPr kumimoji="1" lang="en-US" altLang="zh-CN" dirty="0"/>
              <a:t>Helm</a:t>
            </a:r>
            <a:r>
              <a:rPr kumimoji="1" lang="zh-CN" altLang="en-US" dirty="0"/>
              <a:t>所部署至</a:t>
            </a:r>
            <a:r>
              <a:rPr kumimoji="1" lang="en-US" altLang="zh-TW" dirty="0"/>
              <a:t>k8s</a:t>
            </a:r>
            <a:r>
              <a:rPr kumimoji="1" lang="zh-TW" altLang="en-US" dirty="0"/>
              <a:t>上的</a:t>
            </a:r>
            <a:r>
              <a:rPr kumimoji="1" lang="en-US" altLang="zh-CN" dirty="0"/>
              <a:t>APP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27912D3-37C0-87F9-0B42-881DA8282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5185504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05B85C-4FDB-1043-B83C-B175BF7C8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Install helm client on Ubuntu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0EDAAD7-3E8B-E542-BFAF-A39EE33F1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sudo</a:t>
            </a:r>
            <a:r>
              <a:rPr lang="en-US" altLang="zh-TW" dirty="0"/>
              <a:t> snap install helm --classic</a:t>
            </a:r>
          </a:p>
          <a:p>
            <a:endParaRPr lang="en-US" altLang="zh-TW" dirty="0"/>
          </a:p>
          <a:p>
            <a:endParaRPr kumimoji="1" lang="en-US" altLang="zh-TW" dirty="0"/>
          </a:p>
          <a:p>
            <a:endParaRPr kumimoji="1" lang="en-US" altLang="zh-TW" dirty="0"/>
          </a:p>
          <a:p>
            <a:r>
              <a:rPr kumimoji="1" lang="en-US" altLang="zh-TW" dirty="0"/>
              <a:t>Ref: https://</a:t>
            </a:r>
            <a:r>
              <a:rPr kumimoji="1" lang="en-US" altLang="zh-TW" dirty="0" err="1"/>
              <a:t>helm.sh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zh</a:t>
            </a:r>
            <a:r>
              <a:rPr kumimoji="1" lang="en-US" altLang="zh-TW" dirty="0"/>
              <a:t>/docs/intro/install/</a:t>
            </a:r>
            <a:endParaRPr kumimoji="1"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CF53765-D88F-2882-B4AB-18CE021D8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392" y="2586087"/>
            <a:ext cx="9105900" cy="76200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19BB8C5-96FA-ECBE-992B-3C3C26221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5293748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AB76E3-D339-CE1C-9ECE-54C2C1AA0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Helm 3 Deploy </a:t>
            </a:r>
            <a:r>
              <a:rPr kumimoji="1" lang="zh-TW" altLang="en-US" dirty="0"/>
              <a:t>流程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51534838-B726-DBCF-AAE0-FEA7940CAA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0100" y="2001044"/>
            <a:ext cx="5511800" cy="4000500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9F902F9-1328-0EB9-26AF-A81F5E5FD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2558450"/>
      </p:ext>
    </p:extLst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BF769521-EDFA-1D05-A2A2-09F419F69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Part A: </a:t>
            </a:r>
            <a:r>
              <a:rPr lang="zh-TW" altLang="en-US" dirty="0"/>
              <a:t>使用</a:t>
            </a:r>
            <a:r>
              <a:rPr lang="en-US" altLang="zh-TW" dirty="0"/>
              <a:t>Helm </a:t>
            </a:r>
            <a:r>
              <a:rPr lang="zh-TW" altLang="en-US" dirty="0"/>
              <a:t>部署第三方軟體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B60FD7F-6D32-E399-90F4-8F7D8E3D05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EFDA0E6-08AC-9405-BD6E-51BB6A4ED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7953714"/>
      </p:ext>
    </p:extLst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134529-866F-3A0A-599D-2D5DBEF11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Artifacthub</a:t>
            </a:r>
            <a:r>
              <a:rPr kumimoji="1" lang="en-US" altLang="zh-TW" dirty="0"/>
              <a:t> 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73B8A0A-37E8-0847-AE93-B333638D2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>
                <a:hlinkClick r:id="rId2"/>
              </a:rPr>
              <a:t>https://artifacthub.io/</a:t>
            </a:r>
            <a:endParaRPr kumimoji="1" lang="en-US" altLang="zh-TW" dirty="0"/>
          </a:p>
          <a:p>
            <a:r>
              <a:rPr kumimoji="1" lang="en-US" altLang="zh-TW" dirty="0"/>
              <a:t>Kubernetes Packages website</a:t>
            </a:r>
          </a:p>
          <a:p>
            <a:endParaRPr kumimoji="1" lang="en-US" altLang="zh-TW" dirty="0"/>
          </a:p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7172F60-6F61-557B-43BA-A3831AEDB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591" y="2812329"/>
            <a:ext cx="7657707" cy="3828854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CF056C3-865C-3AA3-C48D-3B808816B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5528075"/>
      </p:ext>
    </p:extLst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99733E-D9D3-B43C-EAA0-3E955C0B7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Artifacthub</a:t>
            </a:r>
            <a:r>
              <a:rPr kumimoji="1" lang="en-US" altLang="zh-TW" dirty="0"/>
              <a:t> Search by Command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00D83A6-E144-4988-D4DE-07D236A1B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Helm search hub nginx</a:t>
            </a:r>
          </a:p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7FC52A7-02E6-354D-31AB-2F2A60475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85168"/>
            <a:ext cx="12192000" cy="1887663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C4F7B1D-B7F4-5F52-E957-BB51CB45A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4158942"/>
      </p:ext>
    </p:extLst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D695B9-8014-999C-4F31-FF9ABBA86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Helm </a:t>
            </a:r>
            <a:r>
              <a:rPr kumimoji="1" lang="en-US" altLang="zh-TW" dirty="0" err="1"/>
              <a:t>repoitroy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88FF1CA-AD21-643B-4CBB-68CB0375A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新增一個</a:t>
            </a:r>
            <a:r>
              <a:rPr kumimoji="1" lang="en-US" altLang="zh-TW" dirty="0"/>
              <a:t>repo</a:t>
            </a:r>
            <a:r>
              <a:rPr kumimoji="1" lang="zh-TW" altLang="en-US" dirty="0"/>
              <a:t>，把</a:t>
            </a:r>
            <a:r>
              <a:rPr kumimoji="1" lang="en-US" altLang="zh-TW" dirty="0"/>
              <a:t>repo</a:t>
            </a:r>
            <a:r>
              <a:rPr kumimoji="1" lang="zh-TW" altLang="en-US" dirty="0"/>
              <a:t>下載到</a:t>
            </a:r>
            <a:r>
              <a:rPr kumimoji="1" lang="en-US" altLang="zh-TW" dirty="0"/>
              <a:t>Helm client</a:t>
            </a:r>
            <a:r>
              <a:rPr kumimoji="1" lang="zh-TW" altLang="en-US" dirty="0"/>
              <a:t>端</a:t>
            </a:r>
            <a:endParaRPr kumimoji="1" lang="en-US" altLang="zh-TW" dirty="0"/>
          </a:p>
          <a:p>
            <a:pPr lvl="1"/>
            <a:r>
              <a:rPr lang="en-US" altLang="zh-TW" dirty="0"/>
              <a:t>helm repo add </a:t>
            </a:r>
            <a:r>
              <a:rPr lang="en-US" altLang="zh-TW" dirty="0" err="1"/>
              <a:t>bitnami</a:t>
            </a:r>
            <a:r>
              <a:rPr lang="en-US" altLang="zh-TW" dirty="0"/>
              <a:t> </a:t>
            </a:r>
            <a:r>
              <a:rPr lang="en-US" altLang="zh-TW" dirty="0">
                <a:hlinkClick r:id="rId2"/>
              </a:rPr>
              <a:t>https://charts.bitnami.com/bitnami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repo </a:t>
            </a:r>
            <a:r>
              <a:rPr lang="zh-TW" altLang="en-US" dirty="0"/>
              <a:t>列表</a:t>
            </a:r>
            <a:endParaRPr lang="en-US" altLang="zh-TW" dirty="0"/>
          </a:p>
          <a:p>
            <a:pPr lvl="1"/>
            <a:r>
              <a:rPr lang="en-US" altLang="zh-TW" dirty="0"/>
              <a:t>helm repo list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91CC582-463A-B906-1684-FD93A8BCB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45928"/>
            <a:ext cx="12192000" cy="1232682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D13CFA5C-55A8-6A32-5242-3B0A89A730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917012"/>
            <a:ext cx="12192000" cy="1023975"/>
          </a:xfrm>
          <a:prstGeom prst="rect">
            <a:avLst/>
          </a:prstGeom>
        </p:spPr>
      </p:pic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4DACD05-CBC0-73EF-E85E-487DBC84F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9608922"/>
      </p:ext>
    </p:extLst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D2813E-99EF-4F9A-B00B-AF5FD057D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Helm repo </a:t>
            </a:r>
            <a:endParaRPr kumimoji="1" lang="zh-TW" altLang="en-US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A51B4AB-A808-E78B-53F1-C68E60ADA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052"/>
            <a:ext cx="10515600" cy="4351338"/>
          </a:xfrm>
        </p:spPr>
        <p:txBody>
          <a:bodyPr/>
          <a:lstStyle/>
          <a:p>
            <a:r>
              <a:rPr lang="zh-TW" altLang="en-US" dirty="0"/>
              <a:t>向遠端</a:t>
            </a:r>
            <a:r>
              <a:rPr lang="en-US" altLang="zh-TW" dirty="0"/>
              <a:t>Server</a:t>
            </a:r>
            <a:r>
              <a:rPr lang="zh-TW" altLang="en-US" dirty="0"/>
              <a:t>更新最新</a:t>
            </a:r>
            <a:r>
              <a:rPr lang="en-US" altLang="zh-TW" dirty="0"/>
              <a:t>Chart</a:t>
            </a:r>
            <a:r>
              <a:rPr lang="zh-TW" altLang="en-US" dirty="0"/>
              <a:t>表</a:t>
            </a:r>
            <a:endParaRPr lang="en-US" altLang="zh-TW" dirty="0"/>
          </a:p>
          <a:p>
            <a:pPr lvl="1"/>
            <a:r>
              <a:rPr lang="en-US" altLang="zh-TW" dirty="0"/>
              <a:t>helm repo update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marL="457200" lvl="1" indent="0">
              <a:buNone/>
            </a:pPr>
            <a:endParaRPr lang="en-US" altLang="zh-TW" dirty="0"/>
          </a:p>
          <a:p>
            <a:r>
              <a:rPr lang="zh-TW" altLang="en-US" dirty="0"/>
              <a:t>取得</a:t>
            </a:r>
            <a:r>
              <a:rPr lang="en-US" altLang="zh-TW" dirty="0" err="1"/>
              <a:t>Bitnami</a:t>
            </a:r>
            <a:r>
              <a:rPr lang="en-US" altLang="zh-TW" dirty="0"/>
              <a:t> chart </a:t>
            </a:r>
            <a:r>
              <a:rPr lang="zh-TW" altLang="en-US" dirty="0"/>
              <a:t>列表</a:t>
            </a:r>
            <a:endParaRPr lang="en-US" altLang="zh-TW" dirty="0"/>
          </a:p>
          <a:p>
            <a:pPr lvl="1"/>
            <a:r>
              <a:rPr lang="en-US" altLang="zh-TW" dirty="0"/>
              <a:t>helm search repo </a:t>
            </a:r>
            <a:r>
              <a:rPr lang="en-US" altLang="zh-TW" dirty="0" err="1"/>
              <a:t>bitnami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endParaRPr lang="en-US" altLang="zh-TW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03C2A82-9990-4D76-474D-C16DFD404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70" y="4738255"/>
            <a:ext cx="10702565" cy="1993043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82E2FEC0-6A40-6157-0C19-B083923181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826" y="2726772"/>
            <a:ext cx="9467654" cy="1189211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B24EC06-E861-22E3-98FB-254AFCA67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1427504"/>
      </p:ext>
    </p:extLst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75D2C0-4F38-9281-862E-218C736B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設定</a:t>
            </a:r>
            <a:r>
              <a:rPr kumimoji="1" lang="en-US" altLang="zh-TW" dirty="0"/>
              <a:t>chart</a:t>
            </a:r>
            <a:r>
              <a:rPr kumimoji="1" lang="zh-TW" altLang="en-US" dirty="0"/>
              <a:t>預設參數 </a:t>
            </a:r>
            <a:r>
              <a:rPr kumimoji="1" lang="en-US" altLang="zh-TW" dirty="0"/>
              <a:t>- </a:t>
            </a:r>
            <a:r>
              <a:rPr kumimoji="1" lang="zh-TW" altLang="en-US" dirty="0"/>
              <a:t>以</a:t>
            </a:r>
            <a:r>
              <a:rPr kumimoji="1" lang="en-US" altLang="zh-TW" dirty="0"/>
              <a:t>PostgreSQL </a:t>
            </a:r>
            <a:r>
              <a:rPr kumimoji="1" lang="zh-TW" altLang="en-US" dirty="0"/>
              <a:t>為例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92897FA-1498-BEA6-4049-00A8A0977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搜尋</a:t>
            </a:r>
            <a:r>
              <a:rPr kumimoji="1" lang="en-US" altLang="zh-TW" dirty="0" err="1"/>
              <a:t>postgresql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helm search repo | grep </a:t>
            </a:r>
            <a:r>
              <a:rPr kumimoji="1" lang="en-US" altLang="zh-TW" dirty="0" err="1"/>
              <a:t>postgresql</a:t>
            </a:r>
            <a:endParaRPr kumimoji="1" lang="en-US" altLang="zh-TW" dirty="0"/>
          </a:p>
          <a:p>
            <a:pPr lvl="1"/>
            <a:endParaRPr kumimoji="1" lang="en-US" altLang="zh-TW" dirty="0"/>
          </a:p>
          <a:p>
            <a:pPr lvl="1"/>
            <a:endParaRPr kumimoji="1" lang="en-US" altLang="zh-TW" dirty="0"/>
          </a:p>
          <a:p>
            <a:pPr lvl="1"/>
            <a:endParaRPr kumimoji="1" lang="en-US" altLang="zh-TW" dirty="0"/>
          </a:p>
          <a:p>
            <a:r>
              <a:rPr kumimoji="1" lang="zh-TW" altLang="en-US" dirty="0"/>
              <a:t>取得參數檔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helm show values </a:t>
            </a:r>
            <a:r>
              <a:rPr kumimoji="1" lang="en-US" altLang="zh-TW" dirty="0" err="1"/>
              <a:t>bitnami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postgresql</a:t>
            </a:r>
            <a:r>
              <a:rPr kumimoji="1" lang="en-US" altLang="zh-TW" dirty="0"/>
              <a:t> &gt; </a:t>
            </a:r>
            <a:r>
              <a:rPr kumimoji="1" lang="en-US" altLang="zh-TW" dirty="0" err="1"/>
              <a:t>values.yaml</a:t>
            </a:r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8A25F19-C7BB-3726-9649-F2BBC1C2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81501"/>
            <a:ext cx="12192000" cy="1068753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6AD6282-DD26-7CF8-8C09-BCFFEE688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6407520"/>
      </p:ext>
    </p:extLst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B92C49-2628-5F37-1670-8F7CA038F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編輯參數檔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340821C-CB9E-7BEB-65C3-4C062B992D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設定</a:t>
            </a:r>
            <a:r>
              <a:rPr lang="en-US" altLang="zh-TW" dirty="0"/>
              <a:t>DB name</a:t>
            </a:r>
          </a:p>
          <a:p>
            <a:pPr lvl="1"/>
            <a:r>
              <a:rPr lang="en-US" altLang="zh-TW" dirty="0"/>
              <a:t>database: </a:t>
            </a:r>
            <a:r>
              <a:rPr lang="en-US" altLang="zh-TW" dirty="0" err="1"/>
              <a:t>db</a:t>
            </a:r>
            <a:endParaRPr lang="en-US" altLang="zh-TW" dirty="0"/>
          </a:p>
          <a:p>
            <a:r>
              <a:rPr lang="en-US" altLang="zh-TW" dirty="0"/>
              <a:t>Service type </a:t>
            </a:r>
            <a:r>
              <a:rPr lang="zh-TW" altLang="en-US" dirty="0"/>
              <a:t>從</a:t>
            </a:r>
            <a:r>
              <a:rPr lang="en-US" altLang="zh-TW" dirty="0"/>
              <a:t>Cluster </a:t>
            </a:r>
            <a:r>
              <a:rPr lang="zh-TW" altLang="en-US" dirty="0"/>
              <a:t>換成</a:t>
            </a:r>
            <a:r>
              <a:rPr lang="en-US" altLang="zh-TW" dirty="0" err="1"/>
              <a:t>NodePort</a:t>
            </a:r>
            <a:endParaRPr lang="en-US" altLang="zh-TW" dirty="0"/>
          </a:p>
          <a:p>
            <a:r>
              <a:rPr lang="en-US" altLang="zh-TW" dirty="0" err="1"/>
              <a:t>nodePorts</a:t>
            </a:r>
            <a:r>
              <a:rPr lang="en-US" altLang="zh-TW" dirty="0"/>
              <a:t> port</a:t>
            </a:r>
            <a:r>
              <a:rPr lang="zh-TW" altLang="en-US" dirty="0"/>
              <a:t>換成</a:t>
            </a:r>
            <a:r>
              <a:rPr lang="en-US" altLang="zh-TW" dirty="0"/>
              <a:t>30063</a:t>
            </a:r>
          </a:p>
          <a:p>
            <a:pPr lvl="1"/>
            <a:endParaRPr lang="en-US" altLang="zh-TW" dirty="0"/>
          </a:p>
          <a:p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D062D45-9528-6E4F-FA38-F207A3E7D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2961241"/>
      </p:ext>
    </p:extLst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9299D1-A255-DAA5-3034-9BD897AD8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準備</a:t>
            </a:r>
            <a:r>
              <a:rPr kumimoji="1" lang="en-US" altLang="zh-TW" dirty="0" err="1"/>
              <a:t>nfs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CC2B2B5-F763-8C87-60DF-480861724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至</a:t>
            </a:r>
            <a:r>
              <a:rPr kumimoji="1" lang="en-US" altLang="zh-TW" dirty="0"/>
              <a:t>VM2</a:t>
            </a:r>
          </a:p>
          <a:p>
            <a:pPr lvl="1"/>
            <a:r>
              <a:rPr kumimoji="1" lang="zh-TW" altLang="en-US" dirty="0"/>
              <a:t>建立資料夾</a:t>
            </a:r>
            <a:endParaRPr kumimoji="1" lang="en-US" altLang="zh-TW" dirty="0"/>
          </a:p>
          <a:p>
            <a:pPr lvl="2"/>
            <a:r>
              <a:rPr kumimoji="1" lang="en-US" altLang="zh-TW" dirty="0" err="1"/>
              <a:t>sudo</a:t>
            </a:r>
            <a:r>
              <a:rPr kumimoji="1" lang="en-US" altLang="zh-TW" dirty="0"/>
              <a:t> </a:t>
            </a:r>
            <a:r>
              <a:rPr kumimoji="1" lang="en-US" altLang="zh-TW" dirty="0" err="1"/>
              <a:t>mkdir</a:t>
            </a:r>
            <a:r>
              <a:rPr kumimoji="1" lang="en-US" altLang="zh-TW" dirty="0"/>
              <a:t> ~/helm-</a:t>
            </a:r>
            <a:r>
              <a:rPr kumimoji="1" lang="en-US" altLang="zh-TW" dirty="0" err="1"/>
              <a:t>postgres</a:t>
            </a:r>
            <a:endParaRPr kumimoji="1" lang="en-US" altLang="zh-TW" dirty="0"/>
          </a:p>
          <a:p>
            <a:pPr lvl="2"/>
            <a:r>
              <a:rPr kumimoji="1" lang="en-US" altLang="zh-TW" dirty="0" err="1"/>
              <a:t>sudo</a:t>
            </a:r>
            <a:r>
              <a:rPr kumimoji="1" lang="en-US" altLang="zh-TW" dirty="0"/>
              <a:t> </a:t>
            </a:r>
            <a:r>
              <a:rPr kumimoji="1" lang="en-US" altLang="zh-TW" dirty="0" err="1"/>
              <a:t>chmod</a:t>
            </a:r>
            <a:r>
              <a:rPr kumimoji="1" lang="en-US" altLang="zh-TW" dirty="0"/>
              <a:t> -R 755 ~/helm-</a:t>
            </a:r>
            <a:r>
              <a:rPr kumimoji="1" lang="en-US" altLang="zh-TW" dirty="0" err="1"/>
              <a:t>postgres</a:t>
            </a:r>
            <a:endParaRPr kumimoji="1" lang="en-US" altLang="zh-TW" dirty="0"/>
          </a:p>
          <a:p>
            <a:r>
              <a:rPr kumimoji="1" lang="zh-TW" altLang="en-US" dirty="0"/>
              <a:t>部署</a:t>
            </a:r>
            <a:r>
              <a:rPr kumimoji="1" lang="en-US" altLang="zh-TW" dirty="0" err="1"/>
              <a:t>nfs</a:t>
            </a:r>
            <a:r>
              <a:rPr kumimoji="1" lang="en-US" altLang="zh-TW" dirty="0"/>
              <a:t> </a:t>
            </a:r>
            <a:r>
              <a:rPr kumimoji="1" lang="en-US" altLang="zh-TW" dirty="0" err="1"/>
              <a:t>StorageClass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apply -f ~/</a:t>
            </a:r>
            <a:r>
              <a:rPr kumimoji="1" lang="en-US" altLang="zh-TW" dirty="0" err="1"/>
              <a:t>bitnami-postgresql</a:t>
            </a:r>
            <a:r>
              <a:rPr kumimoji="1" lang="en-US" altLang="zh-TW" dirty="0"/>
              <a:t>/helm-</a:t>
            </a:r>
            <a:r>
              <a:rPr kumimoji="1" lang="en-US" altLang="zh-TW" dirty="0" err="1"/>
              <a:t>postgres</a:t>
            </a:r>
            <a:r>
              <a:rPr kumimoji="1" lang="en-US" altLang="zh-TW" dirty="0"/>
              <a:t>-</a:t>
            </a:r>
            <a:r>
              <a:rPr kumimoji="1" lang="en-US" altLang="zh-TW" dirty="0" err="1"/>
              <a:t>sc.yaml</a:t>
            </a:r>
            <a:endParaRPr kumimoji="1" lang="en-US" altLang="zh-TW" dirty="0"/>
          </a:p>
          <a:p>
            <a:r>
              <a:rPr kumimoji="1" lang="zh-TW" altLang="en-US" dirty="0"/>
              <a:t>部署</a:t>
            </a:r>
            <a:r>
              <a:rPr kumimoji="1" lang="en-US" altLang="zh-TW" dirty="0" err="1"/>
              <a:t>nfs</a:t>
            </a:r>
            <a:r>
              <a:rPr kumimoji="1" lang="en-US" altLang="zh-TW" dirty="0"/>
              <a:t> PV</a:t>
            </a:r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apply -f ~/</a:t>
            </a:r>
            <a:r>
              <a:rPr kumimoji="1" lang="en-US" altLang="zh-TW" dirty="0" err="1"/>
              <a:t>bitnami-postgresql</a:t>
            </a:r>
            <a:r>
              <a:rPr kumimoji="1" lang="en-US" altLang="zh-TW" dirty="0"/>
              <a:t>/helm-</a:t>
            </a:r>
            <a:r>
              <a:rPr kumimoji="1" lang="en-US" altLang="zh-TW" dirty="0" err="1"/>
              <a:t>postgres</a:t>
            </a:r>
            <a:r>
              <a:rPr kumimoji="1" lang="en-US" altLang="zh-TW" dirty="0"/>
              <a:t>-</a:t>
            </a:r>
            <a:r>
              <a:rPr kumimoji="1" lang="en-US" altLang="zh-TW" dirty="0" err="1"/>
              <a:t>pv.yaml</a:t>
            </a:r>
            <a:endParaRPr kumimoji="1" lang="en-US" altLang="zh-TW" dirty="0"/>
          </a:p>
          <a:p>
            <a:pPr marL="457200" lvl="1" indent="0">
              <a:buNone/>
            </a:pPr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3548DC3-0FAA-9EA0-4B77-FA49CBED9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5353004"/>
      </p:ext>
    </p:extLst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5D29C4-0B24-C783-613E-DAF6378A6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部署</a:t>
            </a:r>
            <a:r>
              <a:rPr kumimoji="1" lang="en-US" altLang="zh-TW" dirty="0" err="1"/>
              <a:t>postgresql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7A2352E-F68A-AD77-8DC1-297D0788F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部署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helm install -f ~/</a:t>
            </a:r>
            <a:r>
              <a:rPr kumimoji="1" lang="en-US" altLang="zh-TW" dirty="0" err="1"/>
              <a:t>bitnami-postgresql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values.yaml</a:t>
            </a:r>
            <a:r>
              <a:rPr kumimoji="1" lang="en-US" altLang="zh-TW" dirty="0"/>
              <a:t> </a:t>
            </a:r>
            <a:r>
              <a:rPr kumimoji="1" lang="en-US" altLang="zh-TW" dirty="0" err="1"/>
              <a:t>bitnami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postgresql</a:t>
            </a:r>
            <a:r>
              <a:rPr kumimoji="1" lang="en-US" altLang="zh-TW" dirty="0"/>
              <a:t> --generate-name</a:t>
            </a:r>
          </a:p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BAF12CD-6F0B-6F32-F51D-7EB321885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92350"/>
            <a:ext cx="12192000" cy="3084613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7FE0EC1-5553-C837-F913-993273788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0925331"/>
      </p:ext>
    </p:extLst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4C8CCA-C229-7842-71CA-62FA9590D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部署後狀態檢查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C2376C3-65BA-9F89-952C-4C1324693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helm list</a:t>
            </a:r>
          </a:p>
          <a:p>
            <a:endParaRPr kumimoji="1" lang="en-US" altLang="zh-TW" dirty="0"/>
          </a:p>
          <a:p>
            <a:pPr marL="0" indent="0">
              <a:buNone/>
            </a:pPr>
            <a:endParaRPr kumimoji="1" lang="en-US" altLang="zh-TW" dirty="0"/>
          </a:p>
          <a:p>
            <a:endParaRPr kumimoji="1" lang="en-US" altLang="zh-TW" dirty="0"/>
          </a:p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all</a:t>
            </a:r>
          </a:p>
          <a:p>
            <a:r>
              <a:rPr kumimoji="1" lang="zh-TW" altLang="en-US" dirty="0"/>
              <a:t>升級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helm upgrade -f </a:t>
            </a:r>
            <a:r>
              <a:rPr kumimoji="1" lang="en-US" altLang="zh-TW" dirty="0" err="1"/>
              <a:t>values.yaml</a:t>
            </a:r>
            <a:r>
              <a:rPr kumimoji="1" lang="en-US" altLang="zh-TW" dirty="0"/>
              <a:t> postgresql-1654358117 </a:t>
            </a:r>
            <a:r>
              <a:rPr kumimoji="1" lang="en-US" altLang="zh-TW" dirty="0" err="1"/>
              <a:t>bitnami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postgresql</a:t>
            </a:r>
            <a:endParaRPr kumimoji="1" lang="zh-TW" altLang="en-US" dirty="0"/>
          </a:p>
          <a:p>
            <a:pPr lvl="1"/>
            <a:endParaRPr kumimoji="1" lang="en-US" altLang="zh-TW" dirty="0"/>
          </a:p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65D7AA9-F543-2E55-1CB9-15799C6AA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8" y="2432217"/>
            <a:ext cx="12192000" cy="996783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A2E5AE0-0A51-2218-4E69-A9471253B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4089456"/>
      </p:ext>
    </p:extLst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6E872A-C644-77E4-1D4A-0D552D550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移除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CA4DDC0-00B9-2DA0-C969-9C22D777D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移除部署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helm delete postgresql-1654398180</a:t>
            </a:r>
          </a:p>
          <a:p>
            <a:pPr lvl="1"/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95A166D-5645-30B9-2A2C-881683051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95114"/>
            <a:ext cx="12192000" cy="1067771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879C5A1-A775-1AA8-9AFD-62F212DBC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241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8740171"/>
      </p:ext>
    </p:extLst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F6F96C-F987-86BA-82AB-3A8EBEC9B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調整</a:t>
            </a:r>
            <a:r>
              <a:rPr kumimoji="1" lang="en-US" altLang="zh-TW" dirty="0"/>
              <a:t> (</a:t>
            </a:r>
            <a:r>
              <a:rPr kumimoji="1" lang="zh-TW" altLang="en-US" dirty="0"/>
              <a:t>升版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D3B13C0-6ED9-70E6-4243-BAB6EBEC0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helm upgrade {release name} -f ~/</a:t>
            </a:r>
            <a:r>
              <a:rPr kumimoji="1" lang="en-US" altLang="zh-TW" dirty="0" err="1"/>
              <a:t>bitnami-postgresql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values.yaml</a:t>
            </a:r>
            <a:r>
              <a:rPr kumimoji="1" lang="en-US" altLang="zh-TW" dirty="0"/>
              <a:t> </a:t>
            </a:r>
            <a:r>
              <a:rPr kumimoji="1" lang="en-US" altLang="zh-TW" dirty="0" err="1"/>
              <a:t>bitnami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postgresql</a:t>
            </a:r>
            <a:endParaRPr kumimoji="1"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091EAA3-B061-7E3A-153F-5F9FFADA4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242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4479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8094</TotalTime>
  <Words>5524</Words>
  <Application>Microsoft Macintosh PowerPoint</Application>
  <PresentationFormat>寬螢幕</PresentationFormat>
  <Paragraphs>1177</Paragraphs>
  <Slides>242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242</vt:i4>
      </vt:variant>
    </vt:vector>
  </HeadingPairs>
  <TitlesOfParts>
    <vt:vector size="250" baseType="lpstr">
      <vt:lpstr>Microsoft JhengHei</vt:lpstr>
      <vt:lpstr>Mona Sans VF</vt:lpstr>
      <vt:lpstr>Noto Sans JP</vt:lpstr>
      <vt:lpstr>Arial</vt:lpstr>
      <vt:lpstr>Calibri</vt:lpstr>
      <vt:lpstr>Calibri Light</vt:lpstr>
      <vt:lpstr>Times New Roman</vt:lpstr>
      <vt:lpstr>Office 佈景主題</vt:lpstr>
      <vt:lpstr>凱基證劵 現代化 DevOps 實戰課程</vt:lpstr>
      <vt:lpstr>課程大綱</vt:lpstr>
      <vt:lpstr>課程資源</vt:lpstr>
      <vt:lpstr>ssh 登入</vt:lpstr>
      <vt:lpstr>Container 與Docker</vt:lpstr>
      <vt:lpstr>Container </vt:lpstr>
      <vt:lpstr>Container vs. Virtual Machine -1</vt:lpstr>
      <vt:lpstr>Container 製作流程</vt:lpstr>
      <vt:lpstr>Docker image堆疊</vt:lpstr>
      <vt:lpstr>Install docker in the VM1 - graph</vt:lpstr>
      <vt:lpstr>Install docker in the VM1 - command</vt:lpstr>
      <vt:lpstr>Dockerfile with multi-stage </vt:lpstr>
      <vt:lpstr>Dockerfile Multi-stage</vt:lpstr>
      <vt:lpstr>.net dockerfile</vt:lpstr>
      <vt:lpstr>自己build: 產生image</vt:lpstr>
      <vt:lpstr>Docker image -1</vt:lpstr>
      <vt:lpstr>Docker container -1</vt:lpstr>
      <vt:lpstr>Docker run 參數介紹</vt:lpstr>
      <vt:lpstr>Docker process -2</vt:lpstr>
      <vt:lpstr>Docker process - 3</vt:lpstr>
      <vt:lpstr>Docker process - 除錯</vt:lpstr>
      <vt:lpstr>Kubernetes</vt:lpstr>
      <vt:lpstr>Kubernetes</vt:lpstr>
      <vt:lpstr>Kubernetes 元件 -1</vt:lpstr>
      <vt:lpstr>Deployment 資源從屬關係</vt:lpstr>
      <vt:lpstr>K8s - pods</vt:lpstr>
      <vt:lpstr>Kubernetes 元件 -2</vt:lpstr>
      <vt:lpstr>K8s -Service</vt:lpstr>
      <vt:lpstr>K8s Label and Label Selector</vt:lpstr>
      <vt:lpstr>Selector</vt:lpstr>
      <vt:lpstr>K8s - Scaling</vt:lpstr>
      <vt:lpstr>K8s - Rolling update -1</vt:lpstr>
      <vt:lpstr>K8s - Rolling update -2</vt:lpstr>
      <vt:lpstr>用rancher 安裝Kubernetes</vt:lpstr>
      <vt:lpstr>Deploy Kubernetes: Rancher</vt:lpstr>
      <vt:lpstr>Deploy Rancher container</vt:lpstr>
      <vt:lpstr>Deploy Rancher container</vt:lpstr>
      <vt:lpstr>Rancher 網頁</vt:lpstr>
      <vt:lpstr>Rancher UI</vt:lpstr>
      <vt:lpstr>至rancher container 取得admin預設密碼</vt:lpstr>
      <vt:lpstr>設定 admin password, Server URL </vt:lpstr>
      <vt:lpstr>Create Cluster(k8s) on Rancher UI</vt:lpstr>
      <vt:lpstr>預計裝在裸機，點選Custom</vt:lpstr>
      <vt:lpstr>Cluster命名、選擇k8s版本，選擇網路模組Calico</vt:lpstr>
      <vt:lpstr>勾選etcd, control plane, worker三項，複製下面docker command</vt:lpstr>
      <vt:lpstr>VM2上執行</vt:lpstr>
      <vt:lpstr>檢查deploy進度</vt:lpstr>
      <vt:lpstr>Rancher agent 運行流程 </vt:lpstr>
      <vt:lpstr>Kubernetes 部署中</vt:lpstr>
      <vt:lpstr>部署完成，點選Download KubeConfig </vt:lpstr>
      <vt:lpstr>另存Kubeconfig file.</vt:lpstr>
      <vt:lpstr>部署完成</vt:lpstr>
      <vt:lpstr>Install kubectl</vt:lpstr>
      <vt:lpstr>Kubernetes 操作</vt:lpstr>
      <vt:lpstr>放置kube conf</vt:lpstr>
      <vt:lpstr>切換k8s 環境 (讀取~/.kube/config)</vt:lpstr>
      <vt:lpstr>K8S 顯示資訊</vt:lpstr>
      <vt:lpstr>Kubernets 最小單位: pod</vt:lpstr>
      <vt:lpstr>部署Kubernetes yaml 檔，apply</vt:lpstr>
      <vt:lpstr>K8s deployment YAML -1</vt:lpstr>
      <vt:lpstr>K8s deployment YAML -2</vt:lpstr>
      <vt:lpstr>K8s deployment YAML -3</vt:lpstr>
      <vt:lpstr>kubectl get pods -1</vt:lpstr>
      <vt:lpstr>kubectl get pods -2</vt:lpstr>
      <vt:lpstr>kubectl get deployment -1</vt:lpstr>
      <vt:lpstr>kubectl get deployment -2</vt:lpstr>
      <vt:lpstr>Pod information</vt:lpstr>
      <vt:lpstr>在pod執行命令 -1</vt:lpstr>
      <vt:lpstr>在pod執行命令 -2</vt:lpstr>
      <vt:lpstr>K8s service yaml -1</vt:lpstr>
      <vt:lpstr>K8s service yaml -2</vt:lpstr>
      <vt:lpstr>實作2 K8s Service Expose -4</vt:lpstr>
      <vt:lpstr>Service ports 介紹</vt:lpstr>
      <vt:lpstr>App間互相呼叫，已Web 呼叫API為例</vt:lpstr>
      <vt:lpstr>查看 k8s Service 詳細資訊 </vt:lpstr>
      <vt:lpstr>Kubernetes Namespace (縮寫：ns)</vt:lpstr>
      <vt:lpstr>Kubernetes Namespace</vt:lpstr>
      <vt:lpstr>K8s 系統資訊</vt:lpstr>
      <vt:lpstr>Volume: hostpath -1</vt:lpstr>
      <vt:lpstr>Volume: hostpath -2</vt:lpstr>
      <vt:lpstr>Install nfs server on rancher server</vt:lpstr>
      <vt:lpstr>K8s server install mount package</vt:lpstr>
      <vt:lpstr>Volume: NFS -1</vt:lpstr>
      <vt:lpstr>Volume: NFS -2</vt:lpstr>
      <vt:lpstr>Volume plugin 支援程度  </vt:lpstr>
      <vt:lpstr>K8s 資源使用率 </vt:lpstr>
      <vt:lpstr>DevOps</vt:lpstr>
      <vt:lpstr>模式 Dev + Ops</vt:lpstr>
      <vt:lpstr>Agile vs Waterfall</vt:lpstr>
      <vt:lpstr>CI/CD</vt:lpstr>
      <vt:lpstr>CI/CD 步驟</vt:lpstr>
      <vt:lpstr>Gitflow 開發流程圖</vt:lpstr>
      <vt:lpstr>Gitflow 分支定義</vt:lpstr>
      <vt:lpstr>Gitflow</vt:lpstr>
      <vt:lpstr>部署Gitlab</vt:lpstr>
      <vt:lpstr>Deploy GitLab server on VM1 docker</vt:lpstr>
      <vt:lpstr>Gitlab 參數講解 -1</vt:lpstr>
      <vt:lpstr>Gitlab 參數講解 -2</vt:lpstr>
      <vt:lpstr>Gitlab 參數講解 -3</vt:lpstr>
      <vt:lpstr>等待gitlab ready </vt:lpstr>
      <vt:lpstr>gitlab init password</vt:lpstr>
      <vt:lpstr>Gitlab login, username: root</vt:lpstr>
      <vt:lpstr>啟用 import project 功能</vt:lpstr>
      <vt:lpstr>勾選Repository by URL，並Save changes </vt:lpstr>
      <vt:lpstr>Gitlab UI </vt:lpstr>
      <vt:lpstr>Gitlab – Import Porject，選擇Repo by URL</vt:lpstr>
      <vt:lpstr>這邊用課程docker-devops 作為 import repo</vt:lpstr>
      <vt:lpstr>選擇建立專案</vt:lpstr>
      <vt:lpstr>專案建立後，準備設定Runner  到Settings -&gt; CI/CD</vt:lpstr>
      <vt:lpstr>點擊Runners，把token 保存下來</vt:lpstr>
      <vt:lpstr>Install Gitlab CI/CD Docker and Kubernetes Runner</vt:lpstr>
      <vt:lpstr>K8s gitlab runner</vt:lpstr>
      <vt:lpstr>安裝k8s gitlab Runner 前準備</vt:lpstr>
      <vt:lpstr>搜尋runner 版本</vt:lpstr>
      <vt:lpstr>Gitlab runner 設定檔 -1</vt:lpstr>
      <vt:lpstr>Gitlab runner 設定檔 -2</vt:lpstr>
      <vt:lpstr>Install gitlab runner on k8s by helm</vt:lpstr>
      <vt:lpstr>確認kubernetes runner 狀態</vt:lpstr>
      <vt:lpstr>K8s Runner 準備完成</vt:lpstr>
      <vt:lpstr>Docker gitlab runner</vt:lpstr>
      <vt:lpstr>建立docker runner 要用的project token</vt:lpstr>
      <vt:lpstr>設定Tags名稱為docker</vt:lpstr>
      <vt:lpstr>紀錄下這個runner token</vt:lpstr>
      <vt:lpstr>Gitlab dokcer runner，更改url跟token</vt:lpstr>
      <vt:lpstr>在vm1運行gitlab docker runner </vt:lpstr>
      <vt:lpstr>確保兩個Runner都是綠燈</vt:lpstr>
      <vt:lpstr>步驟2. 匯入Kubeconfig 到 GitLab repo variables</vt:lpstr>
      <vt:lpstr>Kubeconfig file 轉成base64</vt:lpstr>
      <vt:lpstr>設定變數</vt:lpstr>
      <vt:lpstr>設定kubeconfig變數</vt:lpstr>
      <vt:lpstr>變數設定完成</vt:lpstr>
      <vt:lpstr>CI 取用 kubeconfig</vt:lpstr>
      <vt:lpstr>查看CI執行結果結果</vt:lpstr>
      <vt:lpstr>設定dockerhub username and password</vt:lpstr>
      <vt:lpstr>Gitlab CI YAML 說明</vt:lpstr>
      <vt:lpstr>.gitlab-ci.yml sample</vt:lpstr>
      <vt:lpstr>.gitlab-ci.yml Global (全域) keyword - stages</vt:lpstr>
      <vt:lpstr>.gitlab-ci.yml global keyword -2</vt:lpstr>
      <vt:lpstr>Gitlab Ci 預先定義變數變數</vt:lpstr>
      <vt:lpstr>.gitlab-ci.yml Jobs keyword -1</vt:lpstr>
      <vt:lpstr>.gitlab-ci.yml Jobs keyword -2</vt:lpstr>
      <vt:lpstr>.gitlab-ci.yml Jobs keyword -3</vt:lpstr>
      <vt:lpstr>.gitlab-ci.yml Jobs keyword -4</vt:lpstr>
      <vt:lpstr>Gitlab project pipeline status</vt:lpstr>
      <vt:lpstr>撰寫 .gitlab-ci.yml</vt:lpstr>
      <vt:lpstr>撰寫gitlab-ci.yml</vt:lpstr>
      <vt:lpstr>執行單元測試</vt:lpstr>
      <vt:lpstr>Job 查看單元測試執行結果</vt:lpstr>
      <vt:lpstr>Docker pipeline 狀態</vt:lpstr>
      <vt:lpstr>至Docker hub 檢查image 上傳</vt:lpstr>
      <vt:lpstr>設定全域變數</vt:lpstr>
      <vt:lpstr>部署 k8s namespace</vt:lpstr>
      <vt:lpstr>部署namespace 說明</vt:lpstr>
      <vt:lpstr>檢查namespace 建立</vt:lpstr>
      <vt:lpstr>平行並行: 部署k8s deployment 與 service</vt:lpstr>
      <vt:lpstr>你有遇到過多環境部署的問題嗎？</vt:lpstr>
      <vt:lpstr>傳統解決辦法與痛點</vt:lpstr>
      <vt:lpstr>Kustomize 簡介</vt:lpstr>
      <vt:lpstr>kustomization.yaml 核心功能</vt:lpstr>
      <vt:lpstr>K8s deployment</vt:lpstr>
      <vt:lpstr>Pipeline deployment</vt:lpstr>
      <vt:lpstr>K8s service</vt:lpstr>
      <vt:lpstr>Job 檢查service狀態</vt:lpstr>
      <vt:lpstr>檢查deployment 與 service </vt:lpstr>
      <vt:lpstr>至VM2 進行連線測試</vt:lpstr>
      <vt:lpstr>SonarQube</vt:lpstr>
      <vt:lpstr>SonarQube scan flow</vt:lpstr>
      <vt:lpstr>部署SonarQube server</vt:lpstr>
      <vt:lpstr>VM1 上部署SonarQube Server</vt:lpstr>
      <vt:lpstr>(SonarQube) SonaQube server頁面</vt:lpstr>
      <vt:lpstr>(SonarQube) SonaQube server login</vt:lpstr>
      <vt:lpstr>(SonarQube) SonaQube server 頁面</vt:lpstr>
      <vt:lpstr>(SonarQube)選擇gitlab project</vt:lpstr>
      <vt:lpstr>填入 api url及 personal access token</vt:lpstr>
      <vt:lpstr>取得GitLab personal access token</vt:lpstr>
      <vt:lpstr>(GitLab) Gitlab and Jenkins hook together – gitlab user 產生Access token - 1</vt:lpstr>
      <vt:lpstr>(GitLab) Gitlab and Jenkins hook together – 設定此token權限</vt:lpstr>
      <vt:lpstr>(GitLab) Gitlab and Jenkins hook together – 把token 另存</vt:lpstr>
      <vt:lpstr>(GitLab)Gitlab and Jenkins hook together – 得到token </vt:lpstr>
      <vt:lpstr>把Personal Access Token也填上</vt:lpstr>
      <vt:lpstr>SonarQube 能夠取得Gitlab repo資訊，點擊Set up作repo串接設定</vt:lpstr>
      <vt:lpstr>(SonarQube)選擇使用GitLab CI</vt:lpstr>
      <vt:lpstr>(SonarQube)選擇Python</vt:lpstr>
      <vt:lpstr>(SonarQube)保存projectKey</vt:lpstr>
      <vt:lpstr>回到Docker Devops repo</vt:lpstr>
      <vt:lpstr>(GitLab)編輯git repo裡的sonar-project.properties檔案，替換projectKey</vt:lpstr>
      <vt:lpstr>替換projectKey</vt:lpstr>
      <vt:lpstr>(GitLab)至gitlab project CI/CD 新增變數</vt:lpstr>
      <vt:lpstr>回到Sonarqube繼續</vt:lpstr>
      <vt:lpstr>(SonarQube)點擊Generate a token 產生一筆SonarQube token</vt:lpstr>
      <vt:lpstr>產生一把無期限的sonar project token</vt:lpstr>
      <vt:lpstr>保存sonar project token</vt:lpstr>
      <vt:lpstr>回到gitlab ci/cd variable，設定SONAR_TOKEN 與 SONAR_HOST_URL 兩個變數</vt:lpstr>
      <vt:lpstr>Gitlab/Settings/CICD/Variables</vt:lpstr>
      <vt:lpstr>(GitLab) 設定變數SONAR_HOST_URL: http://{VM1 外部 IP}:9000</vt:lpstr>
      <vt:lpstr>設定變數 SONAR_TOKEN</vt:lpstr>
      <vt:lpstr>變數檢查</vt:lpstr>
      <vt:lpstr>CICD與sonar串接完成．後續只要開始commit，pipeline就會開始執行</vt:lpstr>
      <vt:lpstr>New pipeline</vt:lpstr>
      <vt:lpstr>檢查Pipeline 執行SonarQube 狀態</vt:lpstr>
      <vt:lpstr>Pipeline執行SonarQube job，</vt:lpstr>
      <vt:lpstr>Sonar job</vt:lpstr>
      <vt:lpstr>檢查Sonarqube 掃描運行情況</vt:lpstr>
      <vt:lpstr>SonarQube 報告檢視</vt:lpstr>
      <vt:lpstr>docker build and push</vt:lpstr>
      <vt:lpstr>附錄Ａ：如何在putty 使用ssh key 登入</vt:lpstr>
      <vt:lpstr>附錄A: window login to cloud VM by putty – 下載Putty ，填入id@ip</vt:lpstr>
      <vt:lpstr>附錄A: window login to cloud VM by putty – 左邊Connectopn/SSH/Auth</vt:lpstr>
      <vt:lpstr>附錄A: window login to cloud VM by putty – 選擇Private key file auth</vt:lpstr>
      <vt:lpstr>附錄A: window login to cloud VM by putty – 選擇k8s.ppk</vt:lpstr>
      <vt:lpstr>附錄A: window login to cloud VM by putty – 即可登入</vt:lpstr>
      <vt:lpstr>附錄B dockerfile keyword</vt:lpstr>
      <vt:lpstr>Dockerfile Keyword -1</vt:lpstr>
      <vt:lpstr>Dockerfile Keyword -2</vt:lpstr>
      <vt:lpstr>Dockerfile Keyword -3</vt:lpstr>
      <vt:lpstr>Dockerfile Keyword -4</vt:lpstr>
      <vt:lpstr>Dockerfile Keyword -5</vt:lpstr>
      <vt:lpstr>Dockerfile Keyword -6</vt:lpstr>
      <vt:lpstr>Dockerfile Keyword -7</vt:lpstr>
      <vt:lpstr>Dockerfile Keyword -8</vt:lpstr>
      <vt:lpstr>附錄C: 各種程式語言的dockerfile</vt:lpstr>
      <vt:lpstr>Python Flask API Dockerfile</vt:lpstr>
      <vt:lpstr>自己build Dockerfile: Java Spring with gradle</vt:lpstr>
      <vt:lpstr>Build Java Spring </vt:lpstr>
      <vt:lpstr>Run Java spring</vt:lpstr>
      <vt:lpstr>驗證 Java Spring</vt:lpstr>
      <vt:lpstr>附錄D: Helm</vt:lpstr>
      <vt:lpstr>Helm</vt:lpstr>
      <vt:lpstr>Install helm client on Ubuntu</vt:lpstr>
      <vt:lpstr>Helm 3 Deploy 流程</vt:lpstr>
      <vt:lpstr>Part A: 使用Helm 部署第三方軟體</vt:lpstr>
      <vt:lpstr>Artifacthub </vt:lpstr>
      <vt:lpstr>Artifacthub Search by Command</vt:lpstr>
      <vt:lpstr>Helm repoitroy</vt:lpstr>
      <vt:lpstr>Helm repo </vt:lpstr>
      <vt:lpstr>設定chart預設參數 - 以PostgreSQL 為例</vt:lpstr>
      <vt:lpstr>編輯參數檔</vt:lpstr>
      <vt:lpstr>準備nfs</vt:lpstr>
      <vt:lpstr>部署postgresql</vt:lpstr>
      <vt:lpstr>部署後狀態檢查</vt:lpstr>
      <vt:lpstr>移除</vt:lpstr>
      <vt:lpstr>調整 (升版)</vt:lpstr>
    </vt:vector>
  </TitlesOfParts>
  <Company>Dynabook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周育緯 Yu Wei Chou</dc:creator>
  <cp:lastModifiedBy>Q hair</cp:lastModifiedBy>
  <cp:revision>407</cp:revision>
  <cp:lastPrinted>2026-08-13T00:21:36Z</cp:lastPrinted>
  <dcterms:created xsi:type="dcterms:W3CDTF">2022-06-22T04:12:12Z</dcterms:created>
  <dcterms:modified xsi:type="dcterms:W3CDTF">2026-09-07T03:07:03Z</dcterms:modified>
</cp:coreProperties>
</file>